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Index</c:v>
                </c:pt>
              </c:strCache>
            </c:strRef>
          </c:tx>
          <c:dPt>
            <c:idx val="0"/>
            <c:spPr>
              <a:solidFill>
                <a:srgbClr val="C9CCD8"/>
              </a:solidFill>
            </c:spPr>
          </c:dPt>
          <c:dPt>
            <c:idx val="1"/>
            <c:spPr>
              <a:solidFill>
                <a:srgbClr val="C9CCD8"/>
              </a:solidFill>
            </c:spPr>
          </c:dPt>
          <c:dPt>
            <c:idx val="2"/>
            <c:spPr>
              <a:solidFill>
                <a:srgbClr val="C9CCD8"/>
              </a:solidFill>
            </c:spPr>
          </c:dPt>
          <c:dPt>
            <c:idx val="3"/>
            <c:spPr>
              <a:solidFill>
                <a:srgbClr val="C9CCD8"/>
              </a:solidFill>
            </c:spPr>
          </c:dPt>
          <c:dPt>
            <c:idx val="4"/>
            <c:spPr>
              <a:solidFill>
                <a:srgbClr val="C9CCD8"/>
              </a:solidFill>
            </c:spPr>
          </c:dPt>
          <c:dPt>
            <c:idx val="5"/>
            <c:spPr>
              <a:solidFill>
                <a:srgbClr val="C9CCD8"/>
              </a:solidFill>
            </c:spPr>
          </c:dPt>
          <c:dPt>
            <c:idx val="6"/>
            <c:spPr>
              <a:solidFill>
                <a:srgbClr val="C9CCD8"/>
              </a:solidFill>
            </c:spPr>
          </c:dPt>
          <c:dPt>
            <c:idx val="7"/>
            <c:spPr>
              <a:solidFill>
                <a:srgbClr val="C9CCD8"/>
              </a:solidFill>
            </c:spPr>
          </c:dPt>
          <c:dPt>
            <c:idx val="8"/>
            <c:spPr>
              <a:solidFill>
                <a:srgbClr val="C9CCD8"/>
              </a:solidFill>
            </c:spPr>
          </c:dPt>
          <c:dPt>
            <c:idx val="9"/>
            <c:spPr>
              <a:solidFill>
                <a:srgbClr val="C9CCD8"/>
              </a:solidFill>
            </c:spPr>
          </c:dPt>
          <c:dPt>
            <c:idx val="10"/>
            <c:spPr>
              <a:solidFill>
                <a:srgbClr val="26337A"/>
              </a:solidFill>
            </c:spPr>
          </c:dPt>
          <c:dPt>
            <c:idx val="11"/>
            <c:spPr>
              <a:solidFill>
                <a:srgbClr val="26337A"/>
              </a:solidFill>
            </c:spPr>
          </c:dPt>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91.5</c:v>
                </c:pt>
                <c:pt idx="1">
                  <c:v>84.7</c:v>
                </c:pt>
                <c:pt idx="2">
                  <c:v>106.6</c:v>
                </c:pt>
                <c:pt idx="3">
                  <c:v>103.4</c:v>
                </c:pt>
                <c:pt idx="4">
                  <c:v>107.9</c:v>
                </c:pt>
                <c:pt idx="5">
                  <c:v>90</c:v>
                </c:pt>
                <c:pt idx="6">
                  <c:v>92.7</c:v>
                </c:pt>
                <c:pt idx="7">
                  <c:v>93.3</c:v>
                </c:pt>
                <c:pt idx="8">
                  <c:v>91.2</c:v>
                </c:pt>
                <c:pt idx="9">
                  <c:v>93.4</c:v>
                </c:pt>
                <c:pt idx="10">
                  <c:v>121.1</c:v>
                </c:pt>
                <c:pt idx="11">
                  <c:v>124.3</c:v>
                </c:pt>
              </c:numCache>
            </c:numRef>
          </c:val>
        </c:ser>
        <c:dLbls>
          <c:numFmt formatCode="0" sourceLinked="0"/>
          <c:txPr>
            <a:bodyPr/>
            <a:lstStyle/>
            <a:p>
              <a:pPr>
                <a:defRPr sz="1000">
                  <a:solidFill>
                    <a:srgbClr val="4A4F66"/>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C9CCD8"/>
            </a:solidFill>
          </a:ln>
        </c:spPr>
        <c:txPr>
          <a:bodyPr/>
          <a:lstStyle/>
          <a:p>
            <a:pPr>
              <a:defRPr sz="1100">
                <a:solidFill>
                  <a:srgbClr val="4A4F66"/>
                </a:solidFill>
              </a:defRPr>
            </a:pPr>
          </a:p>
        </c:txPr>
        <c:crossAx val="-2113994440"/>
        <c:crosses val="autoZero"/>
        <c:auto val="1"/>
        <c:lblAlgn val="ctr"/>
        <c:lblOffset val="100"/>
        <c:noMultiLvlLbl val="0"/>
      </c:catAx>
      <c:valAx>
        <c:axId val="-2113994440"/>
        <c:scaling>
          <c:max val="140.0"/>
          <c:min val="0.0"/>
        </c:scaling>
        <c:delete val="0"/>
        <c:axPos val="l"/>
        <c:majorGridlines>
          <c:spPr>
            <a:ln w="9525">
              <a:solidFill>
                <a:srgbClr val="E1E3EA"/>
              </a:solidFill>
            </a:ln>
          </c:spPr>
        </c:majorGridlines>
        <c:majorTickMark val="out"/>
        <c:minorTickMark val="none"/>
        <c:tickLblPos val="nextTo"/>
        <c:spPr>
          <a:ln>
            <a:noFill/>
          </a:ln>
        </c:spPr>
        <c:txPr>
          <a:bodyPr/>
          <a:lstStyle/>
          <a:p>
            <a:pPr>
              <a:defRPr sz="1100">
                <a:solidFill>
                  <a:srgbClr val="7D8297"/>
                </a:solidFill>
              </a:defRPr>
            </a:pPr>
          </a:p>
        </c:txPr>
        <c:crossAx val="-2068027336"/>
        <c:crosses val="autoZero"/>
      </c:valAx>
    </c:plotArea>
    <c:dispBlanksAs val="gap"/>
  </c:chart>
  <c:txPr>
    <a:bodyPr/>
    <a:lstStyle/>
    <a:p>
      <a:pPr>
        <a:defRPr sz="1200">
          <a:solidFill>
            <a:srgbClr val="4A4F66"/>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Revenue</c:v>
                </c:pt>
              </c:strCache>
            </c:strRef>
          </c:tx>
          <c:spPr>
            <a:ln w="34925">
              <a:solidFill>
                <a:srgbClr val="26337A"/>
              </a:solidFill>
            </a:ln>
          </c:spPr>
          <c:marker>
            <c:symbol val="circle"/>
            <c:size val="6"/>
            <c:spPr>
              <a:solidFill>
                <a:srgbClr val="26337A"/>
              </a:solidFill>
              <a:ln>
                <a:solidFill>
                  <a:srgbClr val="26337A"/>
                </a:solidFill>
              </a:ln>
            </c:spPr>
          </c:marker>
          <c:dLbls>
            <c:dLbl>
              <c:idx val="6"/>
              <c:tx>
                <c:rich>
                  <a:bodyPr/>
                  <a:lstStyle/>
                  <a:p>
                    <a:r>
                      <a:rPr sz="1100" b="1">
                        <a:solidFill>
                          <a:srgbClr val="26337A"/>
                        </a:solidFill>
                        <a:latin typeface="Segoe UI"/>
                      </a:rPr>
                      <a:t>1,083</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100.0</c:v>
                </c:pt>
                <c:pt idx="1">
                  <c:v>118.91349781373488</c:v>
                </c:pt>
                <c:pt idx="2">
                  <c:v>151.32540140114304</c:v>
                </c:pt>
                <c:pt idx="3">
                  <c:v>238.56607280088232</c:v>
                </c:pt>
                <c:pt idx="4">
                  <c:v>389.20969990802587</c:v>
                </c:pt>
                <c:pt idx="5">
                  <c:v>688.1634563594564</c:v>
                </c:pt>
                <c:pt idx="6">
                  <c:v>1082.961738799424</c:v>
                </c:pt>
              </c:numCache>
            </c:numRef>
          </c:val>
          <c:smooth val="0"/>
        </c:ser>
        <c:ser>
          <c:idx val="1"/>
          <c:order val="1"/>
          <c:tx>
            <c:strRef>
              <c:f>Sheet1!$C$1</c:f>
              <c:strCache>
                <c:ptCount val="1"/>
                <c:pt idx="0">
                  <c:v>Price per piece</c:v>
                </c:pt>
              </c:strCache>
            </c:strRef>
          </c:tx>
          <c:spPr>
            <a:ln w="34925">
              <a:solidFill>
                <a:srgbClr val="2A78D6"/>
              </a:solidFill>
            </a:ln>
          </c:spPr>
          <c:marker>
            <c:symbol val="circle"/>
            <c:size val="6"/>
            <c:spPr>
              <a:solidFill>
                <a:srgbClr val="2A78D6"/>
              </a:solidFill>
              <a:ln>
                <a:solidFill>
                  <a:srgbClr val="2A78D6"/>
                </a:solidFill>
              </a:ln>
            </c:spPr>
          </c:marker>
          <c:dLbls>
            <c:dLbl>
              <c:idx val="6"/>
              <c:tx>
                <c:rich>
                  <a:bodyPr/>
                  <a:lstStyle/>
                  <a:p>
                    <a:r>
                      <a:rPr sz="1100" b="1">
                        <a:solidFill>
                          <a:srgbClr val="2A78D6"/>
                        </a:solidFill>
                        <a:latin typeface="Segoe UI"/>
                      </a:rPr>
                      <a:t>513</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100.0</c:v>
                </c:pt>
                <c:pt idx="1">
                  <c:v>112.45341215782032</c:v>
                </c:pt>
                <c:pt idx="2">
                  <c:v>124.97108340830228</c:v>
                </c:pt>
                <c:pt idx="3">
                  <c:v>169.16848734095873</c:v>
                </c:pt>
                <c:pt idx="4">
                  <c:v>236.28068371674593</c:v>
                </c:pt>
                <c:pt idx="5">
                  <c:v>372.9469219894615</c:v>
                </c:pt>
                <c:pt idx="6">
                  <c:v>513.2502249068243</c:v>
                </c:pt>
              </c:numCache>
            </c:numRef>
          </c:val>
          <c:smooth val="0"/>
        </c:ser>
        <c:ser>
          <c:idx val="2"/>
          <c:order val="2"/>
          <c:tx>
            <c:strRef>
              <c:f>Sheet1!$D$1</c:f>
              <c:strCache>
                <c:ptCount val="1"/>
                <c:pt idx="0">
                  <c:v>Pieces sold</c:v>
                </c:pt>
              </c:strCache>
            </c:strRef>
          </c:tx>
          <c:spPr>
            <a:ln w="34925">
              <a:solidFill>
                <a:srgbClr val="EB6834"/>
              </a:solidFill>
            </a:ln>
          </c:spPr>
          <c:marker>
            <c:symbol val="circle"/>
            <c:size val="6"/>
            <c:spPr>
              <a:solidFill>
                <a:srgbClr val="EB6834"/>
              </a:solidFill>
              <a:ln>
                <a:solidFill>
                  <a:srgbClr val="EB6834"/>
                </a:solidFill>
              </a:ln>
            </c:spPr>
          </c:marker>
          <c:dLbls>
            <c:dLbl>
              <c:idx val="6"/>
              <c:tx>
                <c:rich>
                  <a:bodyPr/>
                  <a:lstStyle/>
                  <a:p>
                    <a:r>
                      <a:rPr sz="1100" b="1">
                        <a:solidFill>
                          <a:srgbClr val="EB6834"/>
                        </a:solidFill>
                        <a:latin typeface="Segoe UI"/>
                      </a:rPr>
                      <a:t>211</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100.0</c:v>
                </c:pt>
                <c:pt idx="1">
                  <c:v>105.74142187736182</c:v>
                </c:pt>
                <c:pt idx="2">
                  <c:v>121.08307120903483</c:v>
                </c:pt>
                <c:pt idx="3">
                  <c:v>141.02275262904072</c:v>
                </c:pt>
                <c:pt idx="4">
                  <c:v>164.72370779318933</c:v>
                </c:pt>
                <c:pt idx="5">
                  <c:v>184.52410943719454</c:v>
                </c:pt>
                <c:pt idx="6">
                  <c:v>211.00346220011662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9CCD8"/>
            </a:solidFill>
          </a:ln>
        </c:spPr>
        <c:txPr>
          <a:bodyPr/>
          <a:lstStyle/>
          <a:p>
            <a:pPr>
              <a:defRPr sz="1100">
                <a:solidFill>
                  <a:srgbClr val="4A4F66"/>
                </a:solidFill>
              </a:defRPr>
            </a:pPr>
          </a:p>
        </c:txPr>
        <c:crossAx val="2140495176"/>
        <c:crosses val="autoZero"/>
        <c:auto val="1"/>
        <c:lblAlgn val="ctr"/>
        <c:lblOffset val="100"/>
        <c:noMultiLvlLbl val="0"/>
      </c:catAx>
      <c:valAx>
        <c:axId val="2140495176"/>
        <c:scaling/>
        <c:delete val="0"/>
        <c:axPos val="l"/>
        <c:majorGridlines>
          <c:spPr>
            <a:ln w="9525">
              <a:solidFill>
                <a:srgbClr val="E1E3EA"/>
              </a:solidFill>
            </a:ln>
          </c:spPr>
        </c:majorGridlines>
        <c:majorTickMark val="out"/>
        <c:minorTickMark val="none"/>
        <c:tickLblPos val="nextTo"/>
        <c:spPr>
          <a:ln>
            <a:noFill/>
          </a:ln>
        </c:spPr>
        <c:txPr>
          <a:bodyPr/>
          <a:lstStyle/>
          <a:p>
            <a:pPr>
              <a:defRPr sz="1100">
                <a:solidFill>
                  <a:srgbClr val="7D8297"/>
                </a:solidFill>
              </a:defRPr>
            </a:pPr>
          </a:p>
        </c:txPr>
        <c:crossAx val="2118791784"/>
        <c:crosses val="autoZero"/>
      </c:valAx>
    </c:plotArea>
    <c:legend>
      <c:legendPos val="t"/>
      <c:layout/>
      <c:overlay val="0"/>
      <c:txPr>
        <a:bodyPr/>
        <a:lstStyle/>
        <a:p>
          <a:pPr>
            <a:defRPr sz="1200"/>
          </a:pPr>
        </a:p>
      </c:txPr>
    </c:legend>
    <c:plotVisOnly val="1"/>
    <c:dispBlanksAs val="gap"/>
    <c:showDLblsOverMax val="0"/>
  </c:chart>
  <c:txPr>
    <a:bodyPr/>
    <a:lstStyle/>
    <a:p>
      <a:pPr>
        <a:defRPr sz="1200">
          <a:solidFill>
            <a:srgbClr val="4A4F66"/>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Share</c:v>
                </c:pt>
              </c:strCache>
            </c:strRef>
          </c:tx>
          <c:dPt>
            <c:idx val="0"/>
            <c:spPr>
              <a:solidFill>
                <a:srgbClr val="C9CCD8"/>
              </a:solidFill>
            </c:spPr>
          </c:dPt>
          <c:dPt>
            <c:idx val="1"/>
            <c:spPr>
              <a:solidFill>
                <a:srgbClr val="C9CCD8"/>
              </a:solidFill>
            </c:spPr>
          </c:dPt>
          <c:dPt>
            <c:idx val="2"/>
            <c:spPr>
              <a:solidFill>
                <a:srgbClr val="C9CCD8"/>
              </a:solidFill>
            </c:spPr>
          </c:dPt>
          <c:dPt>
            <c:idx val="3"/>
            <c:spPr>
              <a:solidFill>
                <a:srgbClr val="C9CCD8"/>
              </a:solidFill>
            </c:spPr>
          </c:dPt>
          <c:dPt>
            <c:idx val="4"/>
            <c:spPr>
              <a:solidFill>
                <a:srgbClr val="26337A"/>
              </a:solidFill>
            </c:spPr>
          </c:dPt>
          <c:dPt>
            <c:idx val="5"/>
            <c:spPr>
              <a:solidFill>
                <a:srgbClr val="26337A"/>
              </a:solidFill>
            </c:spPr>
          </c:dPt>
          <c:cat>
            <c:strRef>
              <c:f>Sheet1!$A$2:$A$7</c:f>
              <c:strCache>
                <c:ptCount val="6"/>
                <c:pt idx="0">
                  <c:v>Women tops</c:v>
                </c:pt>
                <c:pt idx="1">
                  <c:v>Women pajamas</c:v>
                </c:pt>
                <c:pt idx="2">
                  <c:v>Men underwear</c:v>
                </c:pt>
                <c:pt idx="3">
                  <c:v>Socks</c:v>
                </c:pt>
                <c:pt idx="4">
                  <c:v>Men tops</c:v>
                </c:pt>
                <c:pt idx="5">
                  <c:v>Men boxers</c:v>
                </c:pt>
              </c:strCache>
            </c:strRef>
          </c:cat>
          <c:val>
            <c:numRef>
              <c:f>Sheet1!$B$2:$B$7</c:f>
              <c:numCache>
                <c:formatCode>General</c:formatCode>
                <c:ptCount val="6"/>
                <c:pt idx="0">
                  <c:v>5.769404962419059</c:v>
                </c:pt>
                <c:pt idx="1">
                  <c:v>5.969026090691539</c:v>
                </c:pt>
                <c:pt idx="2">
                  <c:v>6.307458445399207</c:v>
                </c:pt>
                <c:pt idx="3">
                  <c:v>13.809892001023329</c:v>
                </c:pt>
                <c:pt idx="4">
                  <c:v>19.55654397687888</c:v>
                </c:pt>
                <c:pt idx="5">
                  <c:v>23.083930634147897</c:v>
                </c:pt>
              </c:numCache>
            </c:numRef>
          </c:val>
        </c:ser>
        <c:dLbls>
          <c:numFmt formatCode="0.0&quot;%&quot;" sourceLinked="0"/>
          <c:txPr>
            <a:bodyPr/>
            <a:lstStyle/>
            <a:p>
              <a:pPr>
                <a:defRPr sz="1100">
                  <a:solidFill>
                    <a:srgbClr val="4A4F66"/>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solidFill>
              <a:srgbClr val="C9CCD8"/>
            </a:solidFill>
          </a:ln>
        </c:spPr>
        <c:txPr>
          <a:bodyPr/>
          <a:lstStyle/>
          <a:p>
            <a:pPr>
              <a:defRPr sz="1100">
                <a:solidFill>
                  <a:srgbClr val="4A4F66"/>
                </a:solidFill>
              </a:defRPr>
            </a:pPr>
          </a:p>
        </c:txPr>
        <c:crossAx val="-2113994440"/>
        <c:crosses val="autoZero"/>
        <c:auto val="1"/>
        <c:lblAlgn val="ctr"/>
        <c:lblOffset val="100"/>
        <c:noMultiLvlLbl val="0"/>
      </c:catAx>
      <c:valAx>
        <c:axId val="-2113994440"/>
        <c:scaling>
          <c:max val="30.0"/>
        </c:scaling>
        <c:delete/>
        <c:axPos val="b"/>
        <c:numFmt formatCode="0&quot;%&quot;" sourceLinked="0"/>
        <c:majorTickMark val="out"/>
        <c:minorTickMark val="none"/>
        <c:tickLblPos val="nextTo"/>
        <c:spPr>
          <a:ln>
            <a:noFill/>
          </a:ln>
        </c:spPr>
        <c:txPr>
          <a:bodyPr/>
          <a:lstStyle/>
          <a:p>
            <a:pPr>
              <a:defRPr sz="1100">
                <a:solidFill>
                  <a:srgbClr val="7D8297"/>
                </a:solidFill>
              </a:defRPr>
            </a:pPr>
          </a:p>
        </c:txPr>
        <c:crossAx val="-2068027336"/>
        <c:crosses val="autoZero"/>
      </c:valAx>
    </c:plotArea>
    <c:dispBlanksAs val="gap"/>
  </c:chart>
  <c:txPr>
    <a:bodyPr/>
    <a:lstStyle/>
    <a:p>
      <a:pPr>
        <a:defRPr sz="1200">
          <a:solidFill>
            <a:srgbClr val="4A4F66"/>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Orders per customer</c:v>
                </c:pt>
              </c:strCache>
            </c:strRef>
          </c:tx>
          <c:spPr>
            <a:ln w="34925">
              <a:solidFill>
                <a:srgbClr val="26337A"/>
              </a:solidFill>
            </a:ln>
          </c:spPr>
          <c:marker>
            <c:symbol val="circle"/>
            <c:size val="7"/>
            <c:spPr>
              <a:solidFill>
                <a:srgbClr val="26337A"/>
              </a:solidFill>
              <a:ln>
                <a:solidFill>
                  <a:srgbClr val="26337A"/>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2.79</c:v>
                </c:pt>
                <c:pt idx="1">
                  <c:v>1.606</c:v>
                </c:pt>
                <c:pt idx="2">
                  <c:v>1.265</c:v>
                </c:pt>
                <c:pt idx="3">
                  <c:v>1.124</c:v>
                </c:pt>
                <c:pt idx="4">
                  <c:v>1.058</c:v>
                </c:pt>
                <c:pt idx="5">
                  <c:v>1.005</c:v>
                </c:pt>
                <c:pt idx="6">
                  <c:v>0.989</c:v>
                </c:pt>
              </c:numCache>
            </c:numRef>
          </c:val>
          <c:smooth val="0"/>
        </c:ser>
        <c:dLbls>
          <c:numFmt formatCode="0.00" sourceLinked="0"/>
          <c:txPr>
            <a:bodyPr/>
            <a:lstStyle/>
            <a:p>
              <a:pPr>
                <a:defRPr sz="1100">
                  <a:solidFill>
                    <a:srgbClr val="4A4F66"/>
                  </a:solidFill>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C9CCD8"/>
            </a:solidFill>
          </a:ln>
        </c:spPr>
        <c:txPr>
          <a:bodyPr/>
          <a:lstStyle/>
          <a:p>
            <a:pPr>
              <a:defRPr sz="1100">
                <a:solidFill>
                  <a:srgbClr val="4A4F66"/>
                </a:solidFill>
              </a:defRPr>
            </a:pPr>
          </a:p>
        </c:txPr>
        <c:crossAx val="2140495176"/>
        <c:crosses val="autoZero"/>
        <c:auto val="1"/>
        <c:lblAlgn val="ctr"/>
        <c:lblOffset val="100"/>
        <c:noMultiLvlLbl val="0"/>
      </c:catAx>
      <c:valAx>
        <c:axId val="2140495176"/>
        <c:scaling>
          <c:max val="3.2"/>
          <c:min val="0.0"/>
        </c:scaling>
        <c:delete val="0"/>
        <c:axPos val="l"/>
        <c:majorGridlines>
          <c:spPr>
            <a:ln w="9525">
              <a:solidFill>
                <a:srgbClr val="E1E3EA"/>
              </a:solidFill>
            </a:ln>
          </c:spPr>
        </c:majorGridlines>
        <c:numFmt formatCode="0.0" sourceLinked="0"/>
        <c:majorTickMark val="out"/>
        <c:minorTickMark val="none"/>
        <c:tickLblPos val="nextTo"/>
        <c:spPr>
          <a:ln>
            <a:noFill/>
          </a:ln>
        </c:spPr>
        <c:txPr>
          <a:bodyPr/>
          <a:lstStyle/>
          <a:p>
            <a:pPr>
              <a:defRPr sz="1100">
                <a:solidFill>
                  <a:srgbClr val="7D8297"/>
                </a:solidFill>
              </a:defRPr>
            </a:pPr>
          </a:p>
        </c:txPr>
        <c:crossAx val="2118791784"/>
        <c:crosses val="autoZero"/>
      </c:valAx>
    </c:plotArea>
    <c:plotVisOnly val="1"/>
    <c:dispBlanksAs val="gap"/>
    <c:showDLblsOverMax val="0"/>
  </c:chart>
  <c:txPr>
    <a:bodyPr/>
    <a:lstStyle/>
    <a:p>
      <a:pPr>
        <a:defRPr sz="1200">
          <a:solidFill>
            <a:srgbClr val="4A4F66"/>
          </a:solidFill>
          <a:latin typeface="Segoe U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Gross margin</c:v>
                </c:pt>
              </c:strCache>
            </c:strRef>
          </c:tx>
          <c:dPt>
            <c:idx val="0"/>
            <c:spPr>
              <a:solidFill>
                <a:srgbClr val="26337A"/>
              </a:solidFill>
            </c:spPr>
          </c:dPt>
          <c:dPt>
            <c:idx val="1"/>
            <c:spPr>
              <a:solidFill>
                <a:srgbClr val="C9CCD8"/>
              </a:solidFill>
            </c:spPr>
          </c:dPt>
          <c:dPt>
            <c:idx val="2"/>
            <c:spPr>
              <a:solidFill>
                <a:srgbClr val="C9CCD8"/>
              </a:solidFill>
            </c:spPr>
          </c:dPt>
          <c:dPt>
            <c:idx val="3"/>
            <c:spPr>
              <a:solidFill>
                <a:srgbClr val="C9CCD8"/>
              </a:solidFill>
            </c:spPr>
          </c:dPt>
          <c:dPt>
            <c:idx val="4"/>
            <c:spPr>
              <a:solidFill>
                <a:srgbClr val="EB6834"/>
              </a:solidFill>
            </c:spPr>
          </c:dPt>
          <c:cat>
            <c:strRef>
              <c:f>Sheet1!$A$2:$A$6</c:f>
              <c:strCache>
                <c:ptCount val="5"/>
                <c:pt idx="0">
                  <c:v>0%</c:v>
                </c:pt>
                <c:pt idx="1">
                  <c:v>0–5%</c:v>
                </c:pt>
                <c:pt idx="2">
                  <c:v>5–10%</c:v>
                </c:pt>
                <c:pt idx="3">
                  <c:v>10–15%</c:v>
                </c:pt>
                <c:pt idx="4">
                  <c:v>15–25%</c:v>
                </c:pt>
              </c:strCache>
            </c:strRef>
          </c:cat>
          <c:val>
            <c:numRef>
              <c:f>Sheet1!$B$2:$B$6</c:f>
              <c:numCache>
                <c:formatCode>General</c:formatCode>
                <c:ptCount val="5"/>
                <c:pt idx="0">
                  <c:v>41.02</c:v>
                </c:pt>
                <c:pt idx="1">
                  <c:v>38.56</c:v>
                </c:pt>
                <c:pt idx="2">
                  <c:v>36</c:v>
                </c:pt>
                <c:pt idx="3">
                  <c:v>32.73</c:v>
                </c:pt>
                <c:pt idx="4">
                  <c:v>29.16</c:v>
                </c:pt>
              </c:numCache>
            </c:numRef>
          </c:val>
        </c:ser>
        <c:dLbls>
          <c:numFmt formatCode="0.0&quot;%&quot;" sourceLinked="0"/>
          <c:txPr>
            <a:bodyPr/>
            <a:lstStyle/>
            <a:p>
              <a:pPr>
                <a:defRPr sz="1100">
                  <a:solidFill>
                    <a:srgbClr val="4A4F66"/>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9CCD8"/>
            </a:solidFill>
          </a:ln>
        </c:spPr>
        <c:txPr>
          <a:bodyPr/>
          <a:lstStyle/>
          <a:p>
            <a:pPr>
              <a:defRPr sz="1100">
                <a:solidFill>
                  <a:srgbClr val="4A4F66"/>
                </a:solidFill>
              </a:defRPr>
            </a:pPr>
          </a:p>
        </c:txPr>
        <c:crossAx val="-2113994440"/>
        <c:crosses val="autoZero"/>
        <c:auto val="1"/>
        <c:lblAlgn val="ctr"/>
        <c:lblOffset val="100"/>
        <c:noMultiLvlLbl val="0"/>
      </c:catAx>
      <c:valAx>
        <c:axId val="-2113994440"/>
        <c:scaling>
          <c:max val="50.0"/>
          <c:min val="0.0"/>
        </c:scaling>
        <c:delete val="0"/>
        <c:axPos val="l"/>
        <c:majorGridlines>
          <c:spPr>
            <a:ln w="9525">
              <a:solidFill>
                <a:srgbClr val="E1E3EA"/>
              </a:solidFill>
            </a:ln>
          </c:spPr>
        </c:majorGridlines>
        <c:numFmt formatCode="0&quot;%&quot;" sourceLinked="0"/>
        <c:majorTickMark val="out"/>
        <c:minorTickMark val="none"/>
        <c:tickLblPos val="nextTo"/>
        <c:spPr>
          <a:ln>
            <a:noFill/>
          </a:ln>
        </c:spPr>
        <c:txPr>
          <a:bodyPr/>
          <a:lstStyle/>
          <a:p>
            <a:pPr>
              <a:defRPr sz="1100">
                <a:solidFill>
                  <a:srgbClr val="7D8297"/>
                </a:solidFill>
              </a:defRPr>
            </a:pPr>
          </a:p>
        </c:txPr>
        <c:crossAx val="-2068027336"/>
        <c:crosses val="autoZero"/>
      </c:valAx>
    </c:plotArea>
    <c:dispBlanksAs val="gap"/>
  </c:chart>
  <c:txPr>
    <a:bodyPr/>
    <a:lstStyle/>
    <a:p>
      <a:pPr>
        <a:defRPr sz="1200">
          <a:solidFill>
            <a:srgbClr val="4A4F66"/>
          </a:solidFill>
          <a:latin typeface="Segoe U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Operating costs</c:v>
                </c:pt>
              </c:strCache>
            </c:strRef>
          </c:tx>
          <c:spPr>
            <a:ln w="34925">
              <a:solidFill>
                <a:srgbClr val="26337A"/>
              </a:solidFill>
            </a:ln>
          </c:spPr>
          <c:marker>
            <c:symbol val="circle"/>
            <c:size val="6"/>
            <c:spPr>
              <a:solidFill>
                <a:srgbClr val="26337A"/>
              </a:solidFill>
              <a:ln>
                <a:solidFill>
                  <a:srgbClr val="26337A"/>
                </a:solidFill>
              </a:ln>
            </c:spPr>
          </c:marker>
          <c:dLbls>
            <c:dLbl>
              <c:idx val="0"/>
              <c:tx>
                <c:rich>
                  <a:bodyPr/>
                  <a:lstStyle/>
                  <a:p>
                    <a:r>
                      <a:rPr sz="1100" b="1">
                        <a:solidFill>
                          <a:srgbClr val="26337A"/>
                        </a:solidFill>
                        <a:latin typeface="Segoe UI"/>
                      </a:rPr>
                      <a:t>29.1%</a:t>
                    </a:r>
                  </a:p>
                </c:rich>
              </c:tx>
              <c:dLblPos val="t"/>
              <c:showLegendKey val="0"/>
              <c:showVal val="1"/>
              <c:showCatName val="0"/>
              <c:showSerName val="0"/>
              <c:showPercent val="0"/>
              <c:showBubbleSize val="0"/>
            </c:dLbl>
            <c:dLbl>
              <c:idx val="6"/>
              <c:tx>
                <c:rich>
                  <a:bodyPr/>
                  <a:lstStyle/>
                  <a:p>
                    <a:r>
                      <a:rPr sz="1100" b="1">
                        <a:solidFill>
                          <a:srgbClr val="26337A"/>
                        </a:solidFill>
                        <a:latin typeface="Segoe UI"/>
                      </a:rPr>
                      <a:t>13.6%</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29.08</c:v>
                </c:pt>
                <c:pt idx="1">
                  <c:v>28.08</c:v>
                </c:pt>
                <c:pt idx="2">
                  <c:v>24.04</c:v>
                </c:pt>
                <c:pt idx="3">
                  <c:v>21.01</c:v>
                </c:pt>
                <c:pt idx="4">
                  <c:v>18.16</c:v>
                </c:pt>
                <c:pt idx="5">
                  <c:v>15.69</c:v>
                </c:pt>
                <c:pt idx="6">
                  <c:v>13.63</c:v>
                </c:pt>
              </c:numCache>
            </c:numRef>
          </c:val>
          <c:smooth val="0"/>
        </c:ser>
        <c:ser>
          <c:idx val="1"/>
          <c:order val="1"/>
          <c:tx>
            <c:strRef>
              <c:f>Sheet1!$C$1</c:f>
              <c:strCache>
                <c:ptCount val="1"/>
                <c:pt idx="0">
                  <c:v>EBITDA proxy</c:v>
                </c:pt>
              </c:strCache>
            </c:strRef>
          </c:tx>
          <c:spPr>
            <a:ln w="34925">
              <a:solidFill>
                <a:srgbClr val="EB6834"/>
              </a:solidFill>
            </a:ln>
          </c:spPr>
          <c:marker>
            <c:symbol val="circle"/>
            <c:size val="6"/>
            <c:spPr>
              <a:solidFill>
                <a:srgbClr val="EB6834"/>
              </a:solidFill>
              <a:ln>
                <a:solidFill>
                  <a:srgbClr val="EB6834"/>
                </a:solidFill>
              </a:ln>
            </c:spPr>
          </c:marker>
          <c:dLbls>
            <c:dLbl>
              <c:idx val="0"/>
              <c:tx>
                <c:rich>
                  <a:bodyPr/>
                  <a:lstStyle/>
                  <a:p>
                    <a:r>
                      <a:rPr sz="1100" b="1">
                        <a:solidFill>
                          <a:srgbClr val="EB6834"/>
                        </a:solidFill>
                        <a:latin typeface="Segoe UI"/>
                      </a:rPr>
                      <a:t>6.3%</a:t>
                    </a:r>
                  </a:p>
                </c:rich>
              </c:tx>
              <c:dLblPos val="t"/>
              <c:showLegendKey val="0"/>
              <c:showVal val="1"/>
              <c:showCatName val="0"/>
              <c:showSerName val="0"/>
              <c:showPercent val="0"/>
              <c:showBubbleSize val="0"/>
            </c:dLbl>
            <c:dLbl>
              <c:idx val="6"/>
              <c:tx>
                <c:rich>
                  <a:bodyPr/>
                  <a:lstStyle/>
                  <a:p>
                    <a:r>
                      <a:rPr sz="1100" b="1">
                        <a:solidFill>
                          <a:srgbClr val="EB6834"/>
                        </a:solidFill>
                        <a:latin typeface="Segoe UI"/>
                      </a:rPr>
                      <a:t>18.8%</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6.31</c:v>
                </c:pt>
                <c:pt idx="1">
                  <c:v>0.43</c:v>
                </c:pt>
                <c:pt idx="2">
                  <c:v>-0.28</c:v>
                </c:pt>
                <c:pt idx="3">
                  <c:v>2.4</c:v>
                </c:pt>
                <c:pt idx="4">
                  <c:v>7.14</c:v>
                </c:pt>
                <c:pt idx="5">
                  <c:v>12.11</c:v>
                </c:pt>
                <c:pt idx="6">
                  <c:v>18.83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9CCD8"/>
            </a:solidFill>
          </a:ln>
        </c:spPr>
        <c:txPr>
          <a:bodyPr/>
          <a:lstStyle/>
          <a:p>
            <a:pPr>
              <a:defRPr sz="1100">
                <a:solidFill>
                  <a:srgbClr val="4A4F66"/>
                </a:solidFill>
              </a:defRPr>
            </a:pPr>
          </a:p>
        </c:txPr>
        <c:crossAx val="2140495176"/>
        <c:crosses val="autoZero"/>
        <c:auto val="1"/>
        <c:lblAlgn val="ctr"/>
        <c:lblOffset val="100"/>
        <c:noMultiLvlLbl val="0"/>
      </c:catAx>
      <c:valAx>
        <c:axId val="2140495176"/>
        <c:scaling/>
        <c:delete val="0"/>
        <c:axPos val="l"/>
        <c:majorGridlines>
          <c:spPr>
            <a:ln w="9525">
              <a:solidFill>
                <a:srgbClr val="E1E3EA"/>
              </a:solidFill>
            </a:ln>
          </c:spPr>
        </c:majorGridlines>
        <c:numFmt formatCode="0&quot;%&quot;" sourceLinked="0"/>
        <c:majorTickMark val="out"/>
        <c:minorTickMark val="none"/>
        <c:tickLblPos val="nextTo"/>
        <c:spPr>
          <a:ln>
            <a:noFill/>
          </a:ln>
        </c:spPr>
        <c:txPr>
          <a:bodyPr/>
          <a:lstStyle/>
          <a:p>
            <a:pPr>
              <a:defRPr sz="1100">
                <a:solidFill>
                  <a:srgbClr val="7D8297"/>
                </a:solidFill>
              </a:defRPr>
            </a:pPr>
          </a:p>
        </c:txPr>
        <c:crossAx val="2118791784"/>
        <c:crosses val="autoZero"/>
      </c:valAx>
    </c:plotArea>
    <c:legend>
      <c:legendPos val="t"/>
      <c:layout/>
      <c:overlay val="0"/>
      <c:txPr>
        <a:bodyPr/>
        <a:lstStyle/>
        <a:p>
          <a:pPr>
            <a:defRPr sz="1200"/>
          </a:pPr>
        </a:p>
      </c:txPr>
    </c:legend>
    <c:plotVisOnly val="1"/>
    <c:dispBlanksAs val="gap"/>
    <c:showDLblsOverMax val="0"/>
  </c:chart>
  <c:txPr>
    <a:bodyPr/>
    <a:lstStyle/>
    <a:p>
      <a:pPr>
        <a:defRPr sz="1200">
          <a:solidFill>
            <a:srgbClr val="4A4F66"/>
          </a:solidFill>
          <a:latin typeface="Segoe U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Orders</c:v>
                </c:pt>
              </c:strCache>
            </c:strRef>
          </c:tx>
          <c:dPt>
            <c:idx val="0"/>
            <c:spPr>
              <a:solidFill>
                <a:srgbClr val="EB6834"/>
              </a:solidFill>
            </c:spPr>
          </c:dPt>
          <c:dPt>
            <c:idx val="1"/>
            <c:spPr>
              <a:solidFill>
                <a:srgbClr val="26337A"/>
              </a:solidFill>
            </c:spPr>
          </c:dPt>
          <c:cat>
            <c:strRef>
              <c:f>Sheet1!$A$2:$A$3</c:f>
              <c:strCache>
                <c:ptCount val="2"/>
                <c:pt idx="0">
                  <c:v>No customer</c:v>
                </c:pt>
                <c:pt idx="1">
                  <c:v>Known customer</c:v>
                </c:pt>
              </c:strCache>
            </c:strRef>
          </c:cat>
          <c:val>
            <c:numRef>
              <c:f>Sheet1!$B$2:$B$3</c:f>
              <c:numCache>
                <c:formatCode>General</c:formatCode>
                <c:ptCount val="2"/>
                <c:pt idx="0">
                  <c:v>19.07</c:v>
                </c:pt>
                <c:pt idx="1">
                  <c:v>80.93</c:v>
                </c:pt>
              </c:numCache>
            </c:numRef>
          </c:val>
        </c:ser>
        <c:dLbls>
          <c:numFmt formatCode="0.0&quot;%&quot;" sourceLinked="0"/>
          <c:txPr>
            <a:bodyPr/>
            <a:lstStyle/>
            <a:p>
              <a:pPr>
                <a:defRPr sz="1400" b="1">
                  <a:solidFill>
                    <a:srgbClr val="FFFFFF"/>
                  </a:solidFill>
                </a:defRPr>
              </a:pPr>
            </a:p>
          </c:txPr>
          <c:showLegendKey val="0"/>
          <c:showVal val="1"/>
          <c:showCatName val="0"/>
          <c:showSerName val="0"/>
          <c:showPercent val="0"/>
          <c:showBubbleSize val="0"/>
          <c:showLeaderLines val="1"/>
        </c:dLbls>
        <c:firstSliceAng val="0"/>
        <c:holeSize val="58"/>
      </c:doughnutChart>
    </c:plotArea>
    <c:legend>
      <c:legendPos val="b"/>
      <c:layout/>
      <c:overlay val="0"/>
      <c:txPr>
        <a:bodyPr/>
        <a:lstStyle/>
        <a:p>
          <a:pPr>
            <a:defRPr sz="1200"/>
          </a:pPr>
        </a:p>
      </c:txPr>
    </c:legend>
    <c:plotVisOnly val="1"/>
    <c:dispBlanksAs val="gap"/>
    <c:showDLblsOverMax val="0"/>
  </c:chart>
  <c:txPr>
    <a:bodyPr/>
    <a:lstStyle/>
    <a:p>
      <a:pPr>
        <a:defRPr sz="1200">
          <a:latin typeface="Segoe UI"/>
        </a:defRPr>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337A"/>
        </a:solidFill>
        <a:effectLst/>
      </p:bgPr>
    </p:bg>
    <p:spTree>
      <p:nvGrpSpPr>
        <p:cNvPr id="1" name=""/>
        <p:cNvGrpSpPr/>
        <p:nvPr/>
      </p:nvGrpSpPr>
      <p:grpSpPr/>
      <p:sp>
        <p:nvSpPr>
          <p:cNvPr id="2" name="TextBox 1"/>
          <p:cNvSpPr txBox="1"/>
          <p:nvPr/>
        </p:nvSpPr>
        <p:spPr>
          <a:xfrm>
            <a:off x="548640" y="502920"/>
            <a:ext cx="7315200" cy="274320"/>
          </a:xfrm>
          <a:prstGeom prst="rect">
            <a:avLst/>
          </a:prstGeom>
          <a:noFill/>
        </p:spPr>
        <p:txBody>
          <a:bodyPr wrap="square" lIns="0" rIns="0" tIns="0" bIns="0" anchor="t">
            <a:spAutoFit/>
          </a:bodyPr>
          <a:lstStyle/>
          <a:p>
            <a:pPr algn="l">
              <a:lnSpc>
                <a:spcPct val="110000"/>
              </a:lnSpc>
              <a:spcAft>
                <a:spcPts val="600"/>
              </a:spcAft>
            </a:pPr>
            <a:r>
              <a:rPr sz="1100" b="0">
                <a:solidFill>
                  <a:srgbClr val="C9D0F5"/>
                </a:solidFill>
                <a:latin typeface="Segoe UI Semibold"/>
                <a:cs typeface="Segoe UI Semibold"/>
              </a:rPr>
              <a:t>HVIA DATA &amp; AI SOLUTIONS · CASE STUDY 3 · COTTONIL</a:t>
            </a:r>
          </a:p>
        </p:txBody>
      </p:sp>
      <p:sp>
        <p:nvSpPr>
          <p:cNvPr id="3" name="TextBox 2"/>
          <p:cNvSpPr txBox="1"/>
          <p:nvPr/>
        </p:nvSpPr>
        <p:spPr>
          <a:xfrm>
            <a:off x="548640" y="1234440"/>
            <a:ext cx="6949440" cy="1920240"/>
          </a:xfrm>
          <a:prstGeom prst="rect">
            <a:avLst/>
          </a:prstGeom>
          <a:noFill/>
        </p:spPr>
        <p:txBody>
          <a:bodyPr wrap="square" lIns="0" rIns="0" tIns="0" bIns="0" anchor="t">
            <a:spAutoFit/>
          </a:bodyPr>
          <a:lstStyle/>
          <a:p>
            <a:pPr algn="l">
              <a:lnSpc>
                <a:spcPct val="98000"/>
              </a:lnSpc>
              <a:spcAft>
                <a:spcPts val="600"/>
              </a:spcAft>
            </a:pPr>
            <a:r>
              <a:rPr sz="4000" b="0">
                <a:solidFill>
                  <a:srgbClr val="FFFFFF"/>
                </a:solidFill>
                <a:latin typeface="Segoe UI Semibold"/>
                <a:cs typeface="Segoe UI Semibold"/>
              </a:rPr>
              <a:t>Cottonil grew 10.8× in six years. What holds the next step back?</a:t>
            </a:r>
          </a:p>
        </p:txBody>
      </p:sp>
      <p:sp>
        <p:nvSpPr>
          <p:cNvPr id="4" name="TextBox 3"/>
          <p:cNvSpPr txBox="1"/>
          <p:nvPr/>
        </p:nvSpPr>
        <p:spPr>
          <a:xfrm>
            <a:off x="548640" y="3291840"/>
            <a:ext cx="6583680" cy="822960"/>
          </a:xfrm>
          <a:prstGeom prst="rect">
            <a:avLst/>
          </a:prstGeom>
          <a:noFill/>
        </p:spPr>
        <p:txBody>
          <a:bodyPr wrap="square" lIns="0" rIns="0" tIns="0" bIns="0" anchor="t">
            <a:spAutoFit/>
          </a:bodyPr>
          <a:lstStyle/>
          <a:p>
            <a:pPr algn="l">
              <a:lnSpc>
                <a:spcPct val="115000"/>
              </a:lnSpc>
              <a:spcAft>
                <a:spcPts val="600"/>
              </a:spcAft>
            </a:pPr>
            <a:r>
              <a:rPr sz="1700" b="0">
                <a:solidFill>
                  <a:srgbClr val="C9D0F5"/>
                </a:solidFill>
                <a:latin typeface="Segoe UI"/>
                <a:cs typeface="Segoe UI"/>
              </a:rPr>
              <a:t>What eight years of sales say, the six problems behind the growth, and the automations we built to act on them.</a:t>
            </a:r>
          </a:p>
        </p:txBody>
      </p:sp>
      <p:sp>
        <p:nvSpPr>
          <p:cNvPr id="5" name="Cover bar"/>
          <p:cNvSpPr/>
          <p:nvPr/>
        </p:nvSpPr>
        <p:spPr>
          <a:xfrm>
            <a:off x="8229600" y="1280160"/>
            <a:ext cx="1234440" cy="26060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79" y="713231"/>
            <a:ext cx="1783080" cy="502920"/>
          </a:xfrm>
          <a:prstGeom prst="rect">
            <a:avLst/>
          </a:prstGeom>
          <a:noFill/>
        </p:spPr>
        <p:txBody>
          <a:bodyPr wrap="square" lIns="0" rIns="0" tIns="0" bIns="0" anchor="t">
            <a:spAutoFit/>
          </a:bodyPr>
          <a:lstStyle/>
          <a:p>
            <a:pPr algn="ctr">
              <a:lnSpc>
                <a:spcPct val="110000"/>
              </a:lnSpc>
              <a:spcAft>
                <a:spcPts val="600"/>
              </a:spcAft>
            </a:pPr>
            <a:r>
              <a:rPr sz="2800" b="0">
                <a:solidFill>
                  <a:srgbClr val="FFFFFF"/>
                </a:solidFill>
                <a:latin typeface="Segoe UI Semibold"/>
                <a:cs typeface="Segoe UI Semibold"/>
              </a:rPr>
              <a:t>×10.8</a:t>
            </a:r>
          </a:p>
        </p:txBody>
      </p:sp>
      <p:sp>
        <p:nvSpPr>
          <p:cNvPr id="7" name="TextBox 6"/>
          <p:cNvSpPr txBox="1"/>
          <p:nvPr/>
        </p:nvSpPr>
        <p:spPr>
          <a:xfrm>
            <a:off x="7955279" y="3959352"/>
            <a:ext cx="1783080" cy="274320"/>
          </a:xfrm>
          <a:prstGeom prst="rect">
            <a:avLst/>
          </a:prstGeom>
          <a:noFill/>
        </p:spPr>
        <p:txBody>
          <a:bodyPr wrap="square" lIns="0" rIns="0" tIns="0" bIns="0" anchor="t">
            <a:spAutoFit/>
          </a:bodyPr>
          <a:lstStyle/>
          <a:p>
            <a:pPr algn="ctr">
              <a:lnSpc>
                <a:spcPct val="110000"/>
              </a:lnSpc>
              <a:spcAft>
                <a:spcPts val="600"/>
              </a:spcAft>
            </a:pPr>
            <a:r>
              <a:rPr sz="1200" b="0">
                <a:solidFill>
                  <a:srgbClr val="C9D0F5"/>
                </a:solidFill>
                <a:latin typeface="Segoe UI"/>
                <a:cs typeface="Segoe UI"/>
              </a:rPr>
              <a:t>net revenue</a:t>
            </a:r>
          </a:p>
        </p:txBody>
      </p:sp>
      <p:sp>
        <p:nvSpPr>
          <p:cNvPr id="8" name="Cover bar"/>
          <p:cNvSpPr/>
          <p:nvPr/>
        </p:nvSpPr>
        <p:spPr>
          <a:xfrm>
            <a:off x="10012680" y="3378441"/>
            <a:ext cx="1234440" cy="507758"/>
          </a:xfrm>
          <a:prstGeom prst="roundRect">
            <a:avLst>
              <a:gd name="adj" fmla="val 6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38359" y="2811513"/>
            <a:ext cx="1783080" cy="502920"/>
          </a:xfrm>
          <a:prstGeom prst="rect">
            <a:avLst/>
          </a:prstGeom>
          <a:noFill/>
        </p:spPr>
        <p:txBody>
          <a:bodyPr wrap="square" lIns="0" rIns="0" tIns="0" bIns="0" anchor="t">
            <a:spAutoFit/>
          </a:bodyPr>
          <a:lstStyle/>
          <a:p>
            <a:pPr algn="ctr">
              <a:lnSpc>
                <a:spcPct val="110000"/>
              </a:lnSpc>
              <a:spcAft>
                <a:spcPts val="600"/>
              </a:spcAft>
            </a:pPr>
            <a:r>
              <a:rPr sz="2800" b="0">
                <a:solidFill>
                  <a:srgbClr val="FFFFFF"/>
                </a:solidFill>
                <a:latin typeface="Segoe UI Semibold"/>
                <a:cs typeface="Segoe UI Semibold"/>
              </a:rPr>
              <a:t>×2.1</a:t>
            </a:r>
          </a:p>
        </p:txBody>
      </p:sp>
      <p:sp>
        <p:nvSpPr>
          <p:cNvPr id="10" name="TextBox 9"/>
          <p:cNvSpPr txBox="1"/>
          <p:nvPr/>
        </p:nvSpPr>
        <p:spPr>
          <a:xfrm>
            <a:off x="9738359" y="3959352"/>
            <a:ext cx="1783080" cy="274320"/>
          </a:xfrm>
          <a:prstGeom prst="rect">
            <a:avLst/>
          </a:prstGeom>
          <a:noFill/>
        </p:spPr>
        <p:txBody>
          <a:bodyPr wrap="square" lIns="0" rIns="0" tIns="0" bIns="0" anchor="t">
            <a:spAutoFit/>
          </a:bodyPr>
          <a:lstStyle/>
          <a:p>
            <a:pPr algn="ctr">
              <a:lnSpc>
                <a:spcPct val="110000"/>
              </a:lnSpc>
              <a:spcAft>
                <a:spcPts val="600"/>
              </a:spcAft>
            </a:pPr>
            <a:r>
              <a:rPr sz="1200" b="0">
                <a:solidFill>
                  <a:srgbClr val="C9D0F5"/>
                </a:solidFill>
                <a:latin typeface="Segoe UI"/>
                <a:cs typeface="Segoe UI"/>
              </a:rPr>
              <a:t>pieces sold</a:t>
            </a:r>
          </a:p>
        </p:txBody>
      </p:sp>
      <p:cxnSp>
        <p:nvCxnSpPr>
          <p:cNvPr id="11" name="Connector"/>
          <p:cNvCxnSpPr/>
          <p:nvPr/>
        </p:nvCxnSpPr>
        <p:spPr>
          <a:xfrm>
            <a:off x="8001000" y="3886200"/>
            <a:ext cx="3474720" cy="0"/>
          </a:xfrm>
          <a:prstGeom prst="line">
            <a:avLst/>
          </a:prstGeom>
          <a:ln w="12700">
            <a:solidFill>
              <a:srgbClr val="C9D0F5"/>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001000" y="4215384"/>
            <a:ext cx="3474720" cy="274320"/>
          </a:xfrm>
          <a:prstGeom prst="rect">
            <a:avLst/>
          </a:prstGeom>
          <a:noFill/>
        </p:spPr>
        <p:txBody>
          <a:bodyPr wrap="square" lIns="0" rIns="0" tIns="0" bIns="0" anchor="t">
            <a:spAutoFit/>
          </a:bodyPr>
          <a:lstStyle/>
          <a:p>
            <a:pPr algn="ctr">
              <a:lnSpc>
                <a:spcPct val="110000"/>
              </a:lnSpc>
              <a:spcAft>
                <a:spcPts val="600"/>
              </a:spcAft>
            </a:pPr>
            <a:r>
              <a:rPr sz="1100" b="0">
                <a:solidFill>
                  <a:srgbClr val="C9D0F5"/>
                </a:solidFill>
                <a:latin typeface="Segoe UI"/>
                <a:cs typeface="Segoe UI"/>
              </a:rPr>
              <a:t>2019 → 2025</a:t>
            </a:r>
          </a:p>
        </p:txBody>
      </p:sp>
      <p:sp>
        <p:nvSpPr>
          <p:cNvPr id="13" name="Stat tile"/>
          <p:cNvSpPr/>
          <p:nvPr/>
        </p:nvSpPr>
        <p:spPr>
          <a:xfrm>
            <a:off x="548640" y="4617720"/>
            <a:ext cx="2606040" cy="1234440"/>
          </a:xfrm>
          <a:prstGeom prst="roundRect">
            <a:avLst>
              <a:gd name="adj" fmla="val 8000"/>
            </a:avLst>
          </a:prstGeom>
          <a:solidFill>
            <a:srgbClr val="303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773168"/>
            <a:ext cx="2194560" cy="548640"/>
          </a:xfrm>
          <a:prstGeom prst="rect">
            <a:avLst/>
          </a:prstGeom>
          <a:noFill/>
        </p:spPr>
        <p:txBody>
          <a:bodyPr wrap="square" lIns="0" rIns="0" tIns="0" bIns="0" anchor="t">
            <a:spAutoFit/>
          </a:bodyPr>
          <a:lstStyle/>
          <a:p>
            <a:pPr algn="l">
              <a:lnSpc>
                <a:spcPct val="110000"/>
              </a:lnSpc>
              <a:spcAft>
                <a:spcPts val="600"/>
              </a:spcAft>
            </a:pPr>
            <a:r>
              <a:rPr sz="2800" b="0">
                <a:solidFill>
                  <a:srgbClr val="FFFFFF"/>
                </a:solidFill>
                <a:latin typeface="Segoe UI Semibold"/>
                <a:cs typeface="Segoe UI Semibold"/>
              </a:rPr>
              <a:t>841M</a:t>
            </a:r>
          </a:p>
        </p:txBody>
      </p:sp>
      <p:sp>
        <p:nvSpPr>
          <p:cNvPr id="15" name="TextBox 14"/>
          <p:cNvSpPr txBox="1"/>
          <p:nvPr/>
        </p:nvSpPr>
        <p:spPr>
          <a:xfrm>
            <a:off x="777240" y="5349240"/>
            <a:ext cx="2194560" cy="320040"/>
          </a:xfrm>
          <a:prstGeom prst="rect">
            <a:avLst/>
          </a:prstGeom>
          <a:noFill/>
        </p:spPr>
        <p:txBody>
          <a:bodyPr wrap="square" lIns="0" rIns="0" tIns="0" bIns="0" anchor="t">
            <a:spAutoFit/>
          </a:bodyPr>
          <a:lstStyle/>
          <a:p>
            <a:pPr algn="l">
              <a:lnSpc>
                <a:spcPct val="110000"/>
              </a:lnSpc>
              <a:spcAft>
                <a:spcPts val="600"/>
              </a:spcAft>
            </a:pPr>
            <a:r>
              <a:rPr sz="1200" b="0">
                <a:solidFill>
                  <a:srgbClr val="C9D0F5"/>
                </a:solidFill>
                <a:latin typeface="Segoe UI"/>
                <a:cs typeface="Segoe UI"/>
              </a:rPr>
              <a:t>EGP net revenue</a:t>
            </a:r>
          </a:p>
        </p:txBody>
      </p:sp>
      <p:sp>
        <p:nvSpPr>
          <p:cNvPr id="16" name="Stat tile"/>
          <p:cNvSpPr/>
          <p:nvPr/>
        </p:nvSpPr>
        <p:spPr>
          <a:xfrm>
            <a:off x="3364992" y="4617720"/>
            <a:ext cx="2606040" cy="1234440"/>
          </a:xfrm>
          <a:prstGeom prst="roundRect">
            <a:avLst>
              <a:gd name="adj" fmla="val 8000"/>
            </a:avLst>
          </a:prstGeom>
          <a:solidFill>
            <a:srgbClr val="303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93592" y="4773168"/>
            <a:ext cx="2194560" cy="548640"/>
          </a:xfrm>
          <a:prstGeom prst="rect">
            <a:avLst/>
          </a:prstGeom>
          <a:noFill/>
        </p:spPr>
        <p:txBody>
          <a:bodyPr wrap="square" lIns="0" rIns="0" tIns="0" bIns="0" anchor="t">
            <a:spAutoFit/>
          </a:bodyPr>
          <a:lstStyle/>
          <a:p>
            <a:pPr algn="l">
              <a:lnSpc>
                <a:spcPct val="110000"/>
              </a:lnSpc>
              <a:spcAft>
                <a:spcPts val="600"/>
              </a:spcAft>
            </a:pPr>
            <a:r>
              <a:rPr sz="2800" b="0">
                <a:solidFill>
                  <a:srgbClr val="FFFFFF"/>
                </a:solidFill>
                <a:latin typeface="Segoe UI Semibold"/>
                <a:cs typeface="Segoe UI Semibold"/>
              </a:rPr>
              <a:t>540,000</a:t>
            </a:r>
          </a:p>
        </p:txBody>
      </p:sp>
      <p:sp>
        <p:nvSpPr>
          <p:cNvPr id="18" name="TextBox 17"/>
          <p:cNvSpPr txBox="1"/>
          <p:nvPr/>
        </p:nvSpPr>
        <p:spPr>
          <a:xfrm>
            <a:off x="3593592" y="5349240"/>
            <a:ext cx="2194560" cy="320040"/>
          </a:xfrm>
          <a:prstGeom prst="rect">
            <a:avLst/>
          </a:prstGeom>
          <a:noFill/>
        </p:spPr>
        <p:txBody>
          <a:bodyPr wrap="square" lIns="0" rIns="0" tIns="0" bIns="0" anchor="t">
            <a:spAutoFit/>
          </a:bodyPr>
          <a:lstStyle/>
          <a:p>
            <a:pPr algn="l">
              <a:lnSpc>
                <a:spcPct val="110000"/>
              </a:lnSpc>
              <a:spcAft>
                <a:spcPts val="600"/>
              </a:spcAft>
            </a:pPr>
            <a:r>
              <a:rPr sz="1200" b="0">
                <a:solidFill>
                  <a:srgbClr val="C9D0F5"/>
                </a:solidFill>
                <a:latin typeface="Segoe UI"/>
                <a:cs typeface="Segoe UI"/>
              </a:rPr>
              <a:t>orders</a:t>
            </a:r>
          </a:p>
        </p:txBody>
      </p:sp>
      <p:sp>
        <p:nvSpPr>
          <p:cNvPr id="19" name="Stat tile"/>
          <p:cNvSpPr/>
          <p:nvPr/>
        </p:nvSpPr>
        <p:spPr>
          <a:xfrm>
            <a:off x="6181344" y="4617720"/>
            <a:ext cx="2606040" cy="1234440"/>
          </a:xfrm>
          <a:prstGeom prst="roundRect">
            <a:avLst>
              <a:gd name="adj" fmla="val 8000"/>
            </a:avLst>
          </a:prstGeom>
          <a:solidFill>
            <a:srgbClr val="303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9944" y="4773168"/>
            <a:ext cx="2194560" cy="548640"/>
          </a:xfrm>
          <a:prstGeom prst="rect">
            <a:avLst/>
          </a:prstGeom>
          <a:noFill/>
        </p:spPr>
        <p:txBody>
          <a:bodyPr wrap="square" lIns="0" rIns="0" tIns="0" bIns="0" anchor="t">
            <a:spAutoFit/>
          </a:bodyPr>
          <a:lstStyle/>
          <a:p>
            <a:pPr algn="l">
              <a:lnSpc>
                <a:spcPct val="110000"/>
              </a:lnSpc>
              <a:spcAft>
                <a:spcPts val="600"/>
              </a:spcAft>
            </a:pPr>
            <a:r>
              <a:rPr sz="2800" b="0">
                <a:solidFill>
                  <a:srgbClr val="FFFFFF"/>
                </a:solidFill>
                <a:latin typeface="Segoe UI Semibold"/>
                <a:cs typeface="Segoe UI Semibold"/>
              </a:rPr>
              <a:t>74,660</a:t>
            </a:r>
          </a:p>
        </p:txBody>
      </p:sp>
      <p:sp>
        <p:nvSpPr>
          <p:cNvPr id="21" name="TextBox 20"/>
          <p:cNvSpPr txBox="1"/>
          <p:nvPr/>
        </p:nvSpPr>
        <p:spPr>
          <a:xfrm>
            <a:off x="6409944" y="5349240"/>
            <a:ext cx="2194560" cy="320040"/>
          </a:xfrm>
          <a:prstGeom prst="rect">
            <a:avLst/>
          </a:prstGeom>
          <a:noFill/>
        </p:spPr>
        <p:txBody>
          <a:bodyPr wrap="square" lIns="0" rIns="0" tIns="0" bIns="0" anchor="t">
            <a:spAutoFit/>
          </a:bodyPr>
          <a:lstStyle/>
          <a:p>
            <a:pPr algn="l">
              <a:lnSpc>
                <a:spcPct val="110000"/>
              </a:lnSpc>
              <a:spcAft>
                <a:spcPts val="600"/>
              </a:spcAft>
            </a:pPr>
            <a:r>
              <a:rPr sz="1200" b="0">
                <a:solidFill>
                  <a:srgbClr val="C9D0F5"/>
                </a:solidFill>
                <a:latin typeface="Segoe UI"/>
                <a:cs typeface="Segoe UI"/>
              </a:rPr>
              <a:t>buyers</a:t>
            </a:r>
          </a:p>
        </p:txBody>
      </p:sp>
      <p:sp>
        <p:nvSpPr>
          <p:cNvPr id="22" name="Stat tile"/>
          <p:cNvSpPr/>
          <p:nvPr/>
        </p:nvSpPr>
        <p:spPr>
          <a:xfrm>
            <a:off x="8997696" y="4617720"/>
            <a:ext cx="2606040" cy="1234440"/>
          </a:xfrm>
          <a:prstGeom prst="roundRect">
            <a:avLst>
              <a:gd name="adj" fmla="val 8000"/>
            </a:avLst>
          </a:prstGeom>
          <a:solidFill>
            <a:srgbClr val="303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26296" y="4773168"/>
            <a:ext cx="2194560" cy="548640"/>
          </a:xfrm>
          <a:prstGeom prst="rect">
            <a:avLst/>
          </a:prstGeom>
          <a:noFill/>
        </p:spPr>
        <p:txBody>
          <a:bodyPr wrap="square" lIns="0" rIns="0" tIns="0" bIns="0" anchor="t">
            <a:spAutoFit/>
          </a:bodyPr>
          <a:lstStyle/>
          <a:p>
            <a:pPr algn="l">
              <a:lnSpc>
                <a:spcPct val="110000"/>
              </a:lnSpc>
              <a:spcAft>
                <a:spcPts val="600"/>
              </a:spcAft>
            </a:pPr>
            <a:r>
              <a:rPr sz="2800" b="0">
                <a:solidFill>
                  <a:srgbClr val="FFFFFF"/>
                </a:solidFill>
                <a:latin typeface="Segoe UI Semibold"/>
                <a:cs typeface="Segoe UI Semibold"/>
              </a:rPr>
              <a:t>8 years</a:t>
            </a:r>
          </a:p>
        </p:txBody>
      </p:sp>
      <p:sp>
        <p:nvSpPr>
          <p:cNvPr id="24" name="TextBox 23"/>
          <p:cNvSpPr txBox="1"/>
          <p:nvPr/>
        </p:nvSpPr>
        <p:spPr>
          <a:xfrm>
            <a:off x="9226296" y="5349240"/>
            <a:ext cx="2194560" cy="320040"/>
          </a:xfrm>
          <a:prstGeom prst="rect">
            <a:avLst/>
          </a:prstGeom>
          <a:noFill/>
        </p:spPr>
        <p:txBody>
          <a:bodyPr wrap="square" lIns="0" rIns="0" tIns="0" bIns="0" anchor="t">
            <a:spAutoFit/>
          </a:bodyPr>
          <a:lstStyle/>
          <a:p>
            <a:pPr algn="l">
              <a:lnSpc>
                <a:spcPct val="110000"/>
              </a:lnSpc>
              <a:spcAft>
                <a:spcPts val="600"/>
              </a:spcAft>
            </a:pPr>
            <a:r>
              <a:rPr sz="1200" b="0">
                <a:solidFill>
                  <a:srgbClr val="C9D0F5"/>
                </a:solidFill>
                <a:latin typeface="Segoe UI"/>
                <a:cs typeface="Segoe UI"/>
              </a:rPr>
              <a:t>Oct 2018 – Oct 2026</a:t>
            </a:r>
          </a:p>
        </p:txBody>
      </p:sp>
      <p:sp>
        <p:nvSpPr>
          <p:cNvPr id="25" name="TextBox 24"/>
          <p:cNvSpPr txBox="1"/>
          <p:nvPr/>
        </p:nvSpPr>
        <p:spPr>
          <a:xfrm>
            <a:off x="548640" y="6263640"/>
            <a:ext cx="10972800" cy="274320"/>
          </a:xfrm>
          <a:prstGeom prst="rect">
            <a:avLst/>
          </a:prstGeom>
          <a:noFill/>
        </p:spPr>
        <p:txBody>
          <a:bodyPr wrap="square" lIns="0" rIns="0" tIns="0" bIns="0" anchor="t">
            <a:spAutoFit/>
          </a:bodyPr>
          <a:lstStyle/>
          <a:p>
            <a:pPr algn="l">
              <a:lnSpc>
                <a:spcPct val="110000"/>
              </a:lnSpc>
              <a:spcAft>
                <a:spcPts val="600"/>
              </a:spcAft>
            </a:pPr>
            <a:r>
              <a:rPr sz="1000" b="0">
                <a:solidFill>
                  <a:srgbClr val="C9D0F5"/>
                </a:solidFill>
                <a:latin typeface="Segoe UI"/>
                <a:cs typeface="Segoe UI"/>
              </a:rPr>
              <a:t>Prepared by Amir · October 2026 · All figures computed from the client extract and re-checked by an independent audit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THE BUSINESS IN NUMBERS</a:t>
            </a:r>
          </a:p>
        </p:txBody>
      </p:sp>
      <p:sp>
        <p:nvSpPr>
          <p:cNvPr id="3" name="Title"/>
          <p:cNvSpPr txBox="1"/>
          <p:nvPr/>
        </p:nvSpPr>
        <p:spPr>
          <a:xfrm>
            <a:off x="548640" y="658368"/>
            <a:ext cx="11064240" cy="914400"/>
          </a:xfrm>
          <a:prstGeom prst="rect">
            <a:avLst/>
          </a:prstGeom>
          <a:noFill/>
        </p:spPr>
        <p:txBody>
          <a:bodyPr wrap="square" lIns="0" rIns="0" tIns="0" bIns="0" anchor="t">
            <a:spAutoFit/>
          </a:bodyPr>
          <a:lstStyle/>
          <a:p>
            <a:pPr algn="l">
              <a:lnSpc>
                <a:spcPct val="100000"/>
              </a:lnSpc>
              <a:spcAft>
                <a:spcPts val="600"/>
              </a:spcAft>
            </a:pPr>
            <a:r>
              <a:rPr sz="3000" b="0">
                <a:solidFill>
                  <a:srgbClr val="161A33"/>
                </a:solidFill>
                <a:latin typeface="Segoe UI Semibold"/>
                <a:cs typeface="Segoe UI Semibold"/>
              </a:rPr>
              <a:t>An 841M EGP business that peaks every November and December</a:t>
            </a:r>
          </a:p>
        </p:txBody>
      </p:sp>
      <p:sp>
        <p:nvSpPr>
          <p:cNvPr id="4" name="KPI tile"/>
          <p:cNvSpPr/>
          <p:nvPr/>
        </p:nvSpPr>
        <p:spPr>
          <a:xfrm>
            <a:off x="548640" y="1783080"/>
            <a:ext cx="2423160" cy="132588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965960"/>
            <a:ext cx="2103120" cy="502920"/>
          </a:xfrm>
          <a:prstGeom prst="rect">
            <a:avLst/>
          </a:prstGeom>
          <a:noFill/>
        </p:spPr>
        <p:txBody>
          <a:bodyPr wrap="square" lIns="0" rIns="0" tIns="0" bIns="0" anchor="t">
            <a:spAutoFit/>
          </a:bodyPr>
          <a:lstStyle/>
          <a:p>
            <a:pPr algn="l">
              <a:lnSpc>
                <a:spcPct val="110000"/>
              </a:lnSpc>
              <a:spcAft>
                <a:spcPts val="600"/>
              </a:spcAft>
            </a:pPr>
            <a:r>
              <a:rPr sz="2400" b="0">
                <a:solidFill>
                  <a:srgbClr val="26337A"/>
                </a:solidFill>
                <a:latin typeface="Segoe UI Semibold"/>
                <a:cs typeface="Segoe UI Semibold"/>
              </a:rPr>
              <a:t>841.3M</a:t>
            </a:r>
          </a:p>
        </p:txBody>
      </p:sp>
      <p:sp>
        <p:nvSpPr>
          <p:cNvPr id="6" name="TextBox 5"/>
          <p:cNvSpPr txBox="1"/>
          <p:nvPr/>
        </p:nvSpPr>
        <p:spPr>
          <a:xfrm>
            <a:off x="749808" y="2496312"/>
            <a:ext cx="2103120" cy="548640"/>
          </a:xfrm>
          <a:prstGeom prst="rect">
            <a:avLst/>
          </a:prstGeom>
          <a:noFill/>
        </p:spPr>
        <p:txBody>
          <a:bodyPr wrap="square" lIns="0" rIns="0" tIns="0" bIns="0" anchor="t">
            <a:spAutoFit/>
          </a:bodyPr>
          <a:lstStyle/>
          <a:p>
            <a:pPr algn="l">
              <a:lnSpc>
                <a:spcPct val="105000"/>
              </a:lnSpc>
              <a:spcAft>
                <a:spcPts val="600"/>
              </a:spcAft>
            </a:pPr>
            <a:r>
              <a:rPr sz="1100" b="0">
                <a:solidFill>
                  <a:srgbClr val="4A4F66"/>
                </a:solidFill>
                <a:latin typeface="Segoe UI"/>
                <a:cs typeface="Segoe UI"/>
              </a:rPr>
              <a:t>EGP net revenue, Oct 2018 – Oct 2026</a:t>
            </a:r>
          </a:p>
        </p:txBody>
      </p:sp>
      <p:sp>
        <p:nvSpPr>
          <p:cNvPr id="7" name="KPI tile"/>
          <p:cNvSpPr/>
          <p:nvPr/>
        </p:nvSpPr>
        <p:spPr>
          <a:xfrm>
            <a:off x="3154680" y="1783080"/>
            <a:ext cx="2423160" cy="132588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55848" y="1965960"/>
            <a:ext cx="2103120" cy="502920"/>
          </a:xfrm>
          <a:prstGeom prst="rect">
            <a:avLst/>
          </a:prstGeom>
          <a:noFill/>
        </p:spPr>
        <p:txBody>
          <a:bodyPr wrap="square" lIns="0" rIns="0" tIns="0" bIns="0" anchor="t">
            <a:spAutoFit/>
          </a:bodyPr>
          <a:lstStyle/>
          <a:p>
            <a:pPr algn="l">
              <a:lnSpc>
                <a:spcPct val="110000"/>
              </a:lnSpc>
              <a:spcAft>
                <a:spcPts val="600"/>
              </a:spcAft>
            </a:pPr>
            <a:r>
              <a:rPr sz="2400" b="0">
                <a:solidFill>
                  <a:srgbClr val="26337A"/>
                </a:solidFill>
                <a:latin typeface="Segoe UI Semibold"/>
                <a:cs typeface="Segoe UI Semibold"/>
              </a:rPr>
              <a:t>289.2M</a:t>
            </a:r>
          </a:p>
        </p:txBody>
      </p:sp>
      <p:sp>
        <p:nvSpPr>
          <p:cNvPr id="9" name="TextBox 8"/>
          <p:cNvSpPr txBox="1"/>
          <p:nvPr/>
        </p:nvSpPr>
        <p:spPr>
          <a:xfrm>
            <a:off x="3355848" y="2496312"/>
            <a:ext cx="2103120" cy="548640"/>
          </a:xfrm>
          <a:prstGeom prst="rect">
            <a:avLst/>
          </a:prstGeom>
          <a:noFill/>
        </p:spPr>
        <p:txBody>
          <a:bodyPr wrap="square" lIns="0" rIns="0" tIns="0" bIns="0" anchor="t">
            <a:spAutoFit/>
          </a:bodyPr>
          <a:lstStyle/>
          <a:p>
            <a:pPr algn="l">
              <a:lnSpc>
                <a:spcPct val="105000"/>
              </a:lnSpc>
              <a:spcAft>
                <a:spcPts val="600"/>
              </a:spcAft>
            </a:pPr>
            <a:r>
              <a:rPr sz="1100" b="0">
                <a:solidFill>
                  <a:srgbClr val="4A4F66"/>
                </a:solidFill>
                <a:latin typeface="Segoe UI"/>
                <a:cs typeface="Segoe UI"/>
              </a:rPr>
              <a:t>EGP in the last 12 months (Oct 2025 – Sep 2026)</a:t>
            </a:r>
          </a:p>
        </p:txBody>
      </p:sp>
      <p:sp>
        <p:nvSpPr>
          <p:cNvPr id="10" name="KPI tile"/>
          <p:cNvSpPr/>
          <p:nvPr/>
        </p:nvSpPr>
        <p:spPr>
          <a:xfrm>
            <a:off x="548640" y="3264408"/>
            <a:ext cx="2423160" cy="132588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3447288"/>
            <a:ext cx="2103120" cy="502920"/>
          </a:xfrm>
          <a:prstGeom prst="rect">
            <a:avLst/>
          </a:prstGeom>
          <a:noFill/>
        </p:spPr>
        <p:txBody>
          <a:bodyPr wrap="square" lIns="0" rIns="0" tIns="0" bIns="0" anchor="t">
            <a:spAutoFit/>
          </a:bodyPr>
          <a:lstStyle/>
          <a:p>
            <a:pPr algn="l">
              <a:lnSpc>
                <a:spcPct val="110000"/>
              </a:lnSpc>
              <a:spcAft>
                <a:spcPts val="600"/>
              </a:spcAft>
            </a:pPr>
            <a:r>
              <a:rPr sz="2400" b="0">
                <a:solidFill>
                  <a:srgbClr val="26337A"/>
                </a:solidFill>
                <a:latin typeface="Segoe UI Semibold"/>
                <a:cs typeface="Segoe UI Semibold"/>
              </a:rPr>
              <a:t>540,000</a:t>
            </a:r>
          </a:p>
        </p:txBody>
      </p:sp>
      <p:sp>
        <p:nvSpPr>
          <p:cNvPr id="12" name="TextBox 11"/>
          <p:cNvSpPr txBox="1"/>
          <p:nvPr/>
        </p:nvSpPr>
        <p:spPr>
          <a:xfrm>
            <a:off x="749808" y="3977640"/>
            <a:ext cx="2103120" cy="548640"/>
          </a:xfrm>
          <a:prstGeom prst="rect">
            <a:avLst/>
          </a:prstGeom>
          <a:noFill/>
        </p:spPr>
        <p:txBody>
          <a:bodyPr wrap="square" lIns="0" rIns="0" tIns="0" bIns="0" anchor="t">
            <a:spAutoFit/>
          </a:bodyPr>
          <a:lstStyle/>
          <a:p>
            <a:pPr algn="l">
              <a:lnSpc>
                <a:spcPct val="105000"/>
              </a:lnSpc>
              <a:spcAft>
                <a:spcPts val="600"/>
              </a:spcAft>
            </a:pPr>
            <a:r>
              <a:rPr sz="1100" b="0">
                <a:solidFill>
                  <a:srgbClr val="4A4F66"/>
                </a:solidFill>
                <a:latin typeface="Segoe UI"/>
                <a:cs typeface="Segoe UI"/>
              </a:rPr>
              <a:t>orders · 3.40M pieces</a:t>
            </a:r>
          </a:p>
        </p:txBody>
      </p:sp>
      <p:sp>
        <p:nvSpPr>
          <p:cNvPr id="13" name="KPI tile"/>
          <p:cNvSpPr/>
          <p:nvPr/>
        </p:nvSpPr>
        <p:spPr>
          <a:xfrm>
            <a:off x="3154680" y="3264408"/>
            <a:ext cx="2423160" cy="132588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55848" y="3447288"/>
            <a:ext cx="2103120" cy="502920"/>
          </a:xfrm>
          <a:prstGeom prst="rect">
            <a:avLst/>
          </a:prstGeom>
          <a:noFill/>
        </p:spPr>
        <p:txBody>
          <a:bodyPr wrap="square" lIns="0" rIns="0" tIns="0" bIns="0" anchor="t">
            <a:spAutoFit/>
          </a:bodyPr>
          <a:lstStyle/>
          <a:p>
            <a:pPr algn="l">
              <a:lnSpc>
                <a:spcPct val="110000"/>
              </a:lnSpc>
              <a:spcAft>
                <a:spcPts val="600"/>
              </a:spcAft>
            </a:pPr>
            <a:r>
              <a:rPr sz="2400" b="0">
                <a:solidFill>
                  <a:srgbClr val="26337A"/>
                </a:solidFill>
                <a:latin typeface="Segoe UI Semibold"/>
                <a:cs typeface="Segoe UI Semibold"/>
              </a:rPr>
              <a:t>74,660</a:t>
            </a:r>
          </a:p>
        </p:txBody>
      </p:sp>
      <p:sp>
        <p:nvSpPr>
          <p:cNvPr id="15" name="TextBox 14"/>
          <p:cNvSpPr txBox="1"/>
          <p:nvPr/>
        </p:nvSpPr>
        <p:spPr>
          <a:xfrm>
            <a:off x="3355848" y="3977640"/>
            <a:ext cx="2103120" cy="548640"/>
          </a:xfrm>
          <a:prstGeom prst="rect">
            <a:avLst/>
          </a:prstGeom>
          <a:noFill/>
        </p:spPr>
        <p:txBody>
          <a:bodyPr wrap="square" lIns="0" rIns="0" tIns="0" bIns="0" anchor="t">
            <a:spAutoFit/>
          </a:bodyPr>
          <a:lstStyle/>
          <a:p>
            <a:pPr algn="l">
              <a:lnSpc>
                <a:spcPct val="105000"/>
              </a:lnSpc>
              <a:spcAft>
                <a:spcPts val="600"/>
              </a:spcAft>
            </a:pPr>
            <a:r>
              <a:rPr sz="1100" b="0">
                <a:solidFill>
                  <a:srgbClr val="4A4F66"/>
                </a:solidFill>
                <a:latin typeface="Segoe UI"/>
                <a:cs typeface="Segoe UI"/>
              </a:rPr>
              <a:t>buyers out of 85,000 registered customers</a:t>
            </a:r>
          </a:p>
        </p:txBody>
      </p:sp>
      <p:sp>
        <p:nvSpPr>
          <p:cNvPr id="16" name="KPI tile"/>
          <p:cNvSpPr/>
          <p:nvPr/>
        </p:nvSpPr>
        <p:spPr>
          <a:xfrm>
            <a:off x="548640" y="4745736"/>
            <a:ext cx="2423160" cy="132588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4928616"/>
            <a:ext cx="2103120" cy="502920"/>
          </a:xfrm>
          <a:prstGeom prst="rect">
            <a:avLst/>
          </a:prstGeom>
          <a:noFill/>
        </p:spPr>
        <p:txBody>
          <a:bodyPr wrap="square" lIns="0" rIns="0" tIns="0" bIns="0" anchor="t">
            <a:spAutoFit/>
          </a:bodyPr>
          <a:lstStyle/>
          <a:p>
            <a:pPr algn="l">
              <a:lnSpc>
                <a:spcPct val="110000"/>
              </a:lnSpc>
              <a:spcAft>
                <a:spcPts val="600"/>
              </a:spcAft>
            </a:pPr>
            <a:r>
              <a:rPr sz="2400" b="0">
                <a:solidFill>
                  <a:srgbClr val="26337A"/>
                </a:solidFill>
                <a:latin typeface="Segoe UI Semibold"/>
                <a:cs typeface="Segoe UI Semibold"/>
              </a:rPr>
              <a:t>38.3%</a:t>
            </a:r>
          </a:p>
        </p:txBody>
      </p:sp>
      <p:sp>
        <p:nvSpPr>
          <p:cNvPr id="18" name="TextBox 17"/>
          <p:cNvSpPr txBox="1"/>
          <p:nvPr/>
        </p:nvSpPr>
        <p:spPr>
          <a:xfrm>
            <a:off x="749808" y="5458968"/>
            <a:ext cx="2103120" cy="548640"/>
          </a:xfrm>
          <a:prstGeom prst="rect">
            <a:avLst/>
          </a:prstGeom>
          <a:noFill/>
        </p:spPr>
        <p:txBody>
          <a:bodyPr wrap="square" lIns="0" rIns="0" tIns="0" bIns="0" anchor="t">
            <a:spAutoFit/>
          </a:bodyPr>
          <a:lstStyle/>
          <a:p>
            <a:pPr algn="l">
              <a:lnSpc>
                <a:spcPct val="105000"/>
              </a:lnSpc>
              <a:spcAft>
                <a:spcPts val="600"/>
              </a:spcAft>
            </a:pPr>
            <a:r>
              <a:rPr sz="1100" b="0">
                <a:solidFill>
                  <a:srgbClr val="4A4F66"/>
                </a:solidFill>
                <a:latin typeface="Segoe UI"/>
                <a:cs typeface="Segoe UI"/>
              </a:rPr>
              <a:t>gross margin, the same every year since 2019</a:t>
            </a:r>
          </a:p>
        </p:txBody>
      </p:sp>
      <p:sp>
        <p:nvSpPr>
          <p:cNvPr id="19" name="KPI tile"/>
          <p:cNvSpPr/>
          <p:nvPr/>
        </p:nvSpPr>
        <p:spPr>
          <a:xfrm>
            <a:off x="3154680" y="4745736"/>
            <a:ext cx="2423160" cy="132588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55848" y="4928616"/>
            <a:ext cx="2103120" cy="502920"/>
          </a:xfrm>
          <a:prstGeom prst="rect">
            <a:avLst/>
          </a:prstGeom>
          <a:noFill/>
        </p:spPr>
        <p:txBody>
          <a:bodyPr wrap="square" lIns="0" rIns="0" tIns="0" bIns="0" anchor="t">
            <a:spAutoFit/>
          </a:bodyPr>
          <a:lstStyle/>
          <a:p>
            <a:pPr algn="l">
              <a:lnSpc>
                <a:spcPct val="110000"/>
              </a:lnSpc>
              <a:spcAft>
                <a:spcPts val="600"/>
              </a:spcAft>
            </a:pPr>
            <a:r>
              <a:rPr sz="2400" b="0">
                <a:solidFill>
                  <a:srgbClr val="26337A"/>
                </a:solidFill>
                <a:latin typeface="Segoe UI Semibold"/>
                <a:cs typeface="Segoe UI Semibold"/>
              </a:rPr>
              <a:t>3 channels</a:t>
            </a:r>
          </a:p>
        </p:txBody>
      </p:sp>
      <p:sp>
        <p:nvSpPr>
          <p:cNvPr id="21" name="TextBox 20"/>
          <p:cNvSpPr txBox="1"/>
          <p:nvPr/>
        </p:nvSpPr>
        <p:spPr>
          <a:xfrm>
            <a:off x="3355848" y="5458968"/>
            <a:ext cx="2103120" cy="548640"/>
          </a:xfrm>
          <a:prstGeom prst="rect">
            <a:avLst/>
          </a:prstGeom>
          <a:noFill/>
        </p:spPr>
        <p:txBody>
          <a:bodyPr wrap="square" lIns="0" rIns="0" tIns="0" bIns="0" anchor="t">
            <a:spAutoFit/>
          </a:bodyPr>
          <a:lstStyle/>
          <a:p>
            <a:pPr algn="l">
              <a:lnSpc>
                <a:spcPct val="105000"/>
              </a:lnSpc>
              <a:spcAft>
                <a:spcPts val="600"/>
              </a:spcAft>
            </a:pPr>
            <a:r>
              <a:rPr sz="1100" b="0">
                <a:solidFill>
                  <a:srgbClr val="4A4F66"/>
                </a:solidFill>
                <a:latin typeface="Segoe UI"/>
                <a:cs typeface="Segoe UI"/>
              </a:rPr>
              <a:t>stores 49% · wholesale 38% · online 13% of net</a:t>
            </a:r>
          </a:p>
        </p:txBody>
      </p:sp>
      <p:sp>
        <p:nvSpPr>
          <p:cNvPr id="22" name="Chart card"/>
          <p:cNvSpPr/>
          <p:nvPr/>
        </p:nvSpPr>
        <p:spPr>
          <a:xfrm>
            <a:off x="5760720" y="1783080"/>
            <a:ext cx="5879592" cy="4379976"/>
          </a:xfrm>
          <a:prstGeom prst="roundRect">
            <a:avLst>
              <a:gd name="adj" fmla="val 3000"/>
            </a:avLst>
          </a:prstGeom>
          <a:solidFill>
            <a:srgbClr val="FFFFFF"/>
          </a:solidFill>
          <a:ln w="12700">
            <a:solidFill>
              <a:srgbClr val="E1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hart title"/>
          <p:cNvSpPr txBox="1"/>
          <p:nvPr/>
        </p:nvSpPr>
        <p:spPr>
          <a:xfrm>
            <a:off x="6035040" y="1984248"/>
            <a:ext cx="5330952" cy="274320"/>
          </a:xfrm>
          <a:prstGeom prst="rect">
            <a:avLst/>
          </a:prstGeom>
          <a:noFill/>
        </p:spPr>
        <p:txBody>
          <a:bodyPr wrap="square" lIns="0" rIns="0" tIns="0" bIns="0" anchor="t">
            <a:spAutoFit/>
          </a:bodyPr>
          <a:lstStyle/>
          <a:p>
            <a:pPr algn="l">
              <a:lnSpc>
                <a:spcPct val="110000"/>
              </a:lnSpc>
              <a:spcAft>
                <a:spcPts val="600"/>
              </a:spcAft>
            </a:pPr>
            <a:r>
              <a:rPr sz="1400" b="0">
                <a:solidFill>
                  <a:srgbClr val="161A33"/>
                </a:solidFill>
                <a:latin typeface="Segoe UI Semibold"/>
                <a:cs typeface="Segoe UI Semibold"/>
              </a:rPr>
              <a:t>Revenue by month of year</a:t>
            </a:r>
          </a:p>
        </p:txBody>
      </p:sp>
      <p:sp>
        <p:nvSpPr>
          <p:cNvPr id="24" name="Chart caption"/>
          <p:cNvSpPr txBox="1"/>
          <p:nvPr/>
        </p:nvSpPr>
        <p:spPr>
          <a:xfrm>
            <a:off x="6035040" y="2258568"/>
            <a:ext cx="5330952"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a:cs typeface="Segoe UI"/>
              </a:rPr>
              <a:t>Index, average month = 100, calendar years 2019–2025</a:t>
            </a:r>
          </a:p>
        </p:txBody>
      </p:sp>
      <p:graphicFrame>
        <p:nvGraphicFramePr>
          <p:cNvPr id="25" name="Chart 24"/>
          <p:cNvGraphicFramePr>
            <a:graphicFrameLocks noGrp="1"/>
          </p:cNvGraphicFramePr>
          <p:nvPr/>
        </p:nvGraphicFramePr>
        <p:xfrm>
          <a:off x="5897880" y="2606040"/>
          <a:ext cx="5605272" cy="3419856"/>
        </p:xfrm>
        <a:graphic>
          <a:graphicData uri="http://schemas.openxmlformats.org/drawingml/2006/chart">
            <c:chart xmlns:c="http://schemas.openxmlformats.org/drawingml/2006/chart" r:id="rId2"/>
          </a:graphicData>
        </a:graphic>
      </p:graphicFrame>
      <p:sp>
        <p:nvSpPr>
          <p:cNvPr id="26" name="Source"/>
          <p:cNvSpPr txBox="1"/>
          <p:nvPr/>
        </p:nvSpPr>
        <p:spPr>
          <a:xfrm>
            <a:off x="548640" y="6419088"/>
            <a:ext cx="9601200" cy="228600"/>
          </a:xfrm>
          <a:prstGeom prst="rect">
            <a:avLst/>
          </a:prstGeom>
          <a:noFill/>
        </p:spPr>
        <p:txBody>
          <a:bodyPr wrap="square" lIns="0" rIns="0" tIns="0" bIns="0" anchor="t">
            <a:spAutoFit/>
          </a:bodyPr>
          <a:lstStyle/>
          <a:p>
            <a:pPr algn="l">
              <a:lnSpc>
                <a:spcPct val="110000"/>
              </a:lnSpc>
              <a:spcAft>
                <a:spcPts val="600"/>
              </a:spcAft>
            </a:pPr>
            <a:r>
              <a:rPr sz="1000" b="0">
                <a:solidFill>
                  <a:srgbClr val="7D8297"/>
                </a:solidFill>
                <a:latin typeface="Segoe UI"/>
                <a:cs typeface="Segoe UI"/>
              </a:rPr>
              <a:t>Source: Cottonil sales extract, 19 Oct 2018 – 18 Oct 2026 · net before tax · EGP</a:t>
            </a:r>
          </a:p>
        </p:txBody>
      </p:sp>
      <p:sp>
        <p:nvSpPr>
          <p:cNvPr id="27" name="Slide number"/>
          <p:cNvSpPr txBox="1"/>
          <p:nvPr/>
        </p:nvSpPr>
        <p:spPr>
          <a:xfrm>
            <a:off x="10881360" y="6419088"/>
            <a:ext cx="758952" cy="228600"/>
          </a:xfrm>
          <a:prstGeom prst="rect">
            <a:avLst/>
          </a:prstGeom>
          <a:noFill/>
        </p:spPr>
        <p:txBody>
          <a:bodyPr wrap="square" lIns="0" rIns="0" tIns="0" bIns="0" anchor="t">
            <a:spAutoFit/>
          </a:bodyPr>
          <a:lstStyle/>
          <a:p>
            <a:pPr algn="r">
              <a:lnSpc>
                <a:spcPct val="110000"/>
              </a:lnSpc>
              <a:spcAft>
                <a:spcPts val="600"/>
              </a:spcAft>
            </a:pPr>
            <a:r>
              <a:rPr sz="1000" b="0">
                <a:solidFill>
                  <a:srgbClr val="7D8297"/>
                </a:solidFill>
                <a:latin typeface="Segoe UI"/>
                <a:cs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HOW WE CHECKED OUR OWN WORK</a:t>
            </a:r>
          </a:p>
        </p:txBody>
      </p:sp>
      <p:sp>
        <p:nvSpPr>
          <p:cNvPr id="3" name="Title"/>
          <p:cNvSpPr txBox="1"/>
          <p:nvPr/>
        </p:nvSpPr>
        <p:spPr>
          <a:xfrm>
            <a:off x="548640" y="658368"/>
            <a:ext cx="11064240" cy="914400"/>
          </a:xfrm>
          <a:prstGeom prst="rect">
            <a:avLst/>
          </a:prstGeom>
          <a:noFill/>
        </p:spPr>
        <p:txBody>
          <a:bodyPr wrap="square" lIns="0" rIns="0" tIns="0" bIns="0" anchor="t">
            <a:spAutoFit/>
          </a:bodyPr>
          <a:lstStyle/>
          <a:p>
            <a:pPr algn="l">
              <a:lnSpc>
                <a:spcPct val="100000"/>
              </a:lnSpc>
              <a:spcAft>
                <a:spcPts val="600"/>
              </a:spcAft>
            </a:pPr>
            <a:r>
              <a:rPr sz="3000" b="0">
                <a:solidFill>
                  <a:srgbClr val="161A33"/>
                </a:solidFill>
                <a:latin typeface="Segoe UI Semibold"/>
                <a:cs typeface="Segoe UI Semibold"/>
              </a:rPr>
              <a:t>We tested our first readings. Five of them changed</a:t>
            </a:r>
          </a:p>
        </p:txBody>
      </p:sp>
      <p:sp>
        <p:nvSpPr>
          <p:cNvPr id="4" name="TextBox 3"/>
          <p:cNvSpPr txBox="1"/>
          <p:nvPr/>
        </p:nvSpPr>
        <p:spPr>
          <a:xfrm>
            <a:off x="685800" y="1737360"/>
            <a:ext cx="114300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
            </a:r>
          </a:p>
        </p:txBody>
      </p:sp>
      <p:sp>
        <p:nvSpPr>
          <p:cNvPr id="5" name="TextBox 4"/>
          <p:cNvSpPr txBox="1"/>
          <p:nvPr/>
        </p:nvSpPr>
        <p:spPr>
          <a:xfrm>
            <a:off x="2441448" y="1737360"/>
            <a:ext cx="256032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First reading</a:t>
            </a:r>
          </a:p>
        </p:txBody>
      </p:sp>
      <p:sp>
        <p:nvSpPr>
          <p:cNvPr id="6" name="TextBox 5"/>
          <p:cNvSpPr txBox="1"/>
          <p:nvPr/>
        </p:nvSpPr>
        <p:spPr>
          <a:xfrm>
            <a:off x="4937760" y="1737360"/>
            <a:ext cx="365760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What checking showed</a:t>
            </a:r>
          </a:p>
        </p:txBody>
      </p:sp>
      <p:sp>
        <p:nvSpPr>
          <p:cNvPr id="7" name="TextBox 6"/>
          <p:cNvSpPr txBox="1"/>
          <p:nvPr/>
        </p:nvSpPr>
        <p:spPr>
          <a:xfrm>
            <a:off x="9171432" y="1737360"/>
            <a:ext cx="2633472"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What we did</a:t>
            </a:r>
          </a:p>
        </p:txBody>
      </p:sp>
      <p:sp>
        <p:nvSpPr>
          <p:cNvPr id="8" name="Row"/>
          <p:cNvSpPr/>
          <p:nvPr/>
        </p:nvSpPr>
        <p:spPr>
          <a:xfrm>
            <a:off x="548640" y="2121408"/>
            <a:ext cx="11091672" cy="658368"/>
          </a:xfrm>
          <a:prstGeom prst="roundRect">
            <a:avLst>
              <a:gd name="adj" fmla="val 8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21408"/>
            <a:ext cx="1188720" cy="658368"/>
          </a:xfrm>
          <a:prstGeom prst="rect">
            <a:avLst/>
          </a:prstGeom>
          <a:noFill/>
        </p:spPr>
        <p:txBody>
          <a:bodyPr wrap="square" lIns="0" rIns="0" tIns="0" bIns="0" anchor="ctr">
            <a:spAutoFit/>
          </a:bodyPr>
          <a:lstStyle/>
          <a:p>
            <a:pPr algn="l">
              <a:lnSpc>
                <a:spcPct val="110000"/>
              </a:lnSpc>
              <a:spcAft>
                <a:spcPts val="600"/>
              </a:spcAft>
            </a:pPr>
            <a:r>
              <a:rPr sz="1400" b="0">
                <a:solidFill>
                  <a:srgbClr val="26337A"/>
                </a:solidFill>
                <a:latin typeface="Segoe UI Semibold"/>
                <a:cs typeface="Segoe UI Semibold"/>
              </a:rPr>
              <a:t>Stock</a:t>
            </a:r>
          </a:p>
        </p:txBody>
      </p:sp>
      <p:sp>
        <p:nvSpPr>
          <p:cNvPr id="10" name="Badge"/>
          <p:cNvSpPr/>
          <p:nvPr/>
        </p:nvSpPr>
        <p:spPr>
          <a:xfrm>
            <a:off x="2075688" y="2322575"/>
            <a:ext cx="256032" cy="256032"/>
          </a:xfrm>
          <a:prstGeom prst="ellipse">
            <a:avLst/>
          </a:prstGeom>
          <a:solidFill>
            <a:srgbClr val="FCE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B4471B"/>
                </a:solidFill>
                <a:latin typeface="Segoe UI Semibold"/>
                <a:cs typeface="Segoe UI Semibold"/>
              </a:rPr>
              <a:t>✕</a:t>
            </a:r>
          </a:p>
        </p:txBody>
      </p:sp>
      <p:sp>
        <p:nvSpPr>
          <p:cNvPr id="11" name="TextBox 10"/>
          <p:cNvSpPr txBox="1"/>
          <p:nvPr/>
        </p:nvSpPr>
        <p:spPr>
          <a:xfrm>
            <a:off x="2441448" y="2121408"/>
            <a:ext cx="2267712" cy="658368"/>
          </a:xfrm>
          <a:prstGeom prst="rect">
            <a:avLst/>
          </a:prstGeom>
          <a:noFill/>
        </p:spPr>
        <p:txBody>
          <a:bodyPr wrap="square" lIns="0" rIns="0" tIns="0" bIns="0" anchor="ctr">
            <a:spAutoFit/>
          </a:bodyPr>
          <a:lstStyle/>
          <a:p>
            <a:pPr algn="l">
              <a:lnSpc>
                <a:spcPct val="105000"/>
              </a:lnSpc>
              <a:spcAft>
                <a:spcPts val="600"/>
              </a:spcAft>
            </a:pPr>
            <a:r>
              <a:rPr sz="1300" b="0">
                <a:solidFill>
                  <a:srgbClr val="4A4F66"/>
                </a:solidFill>
                <a:latin typeface="Segoe UI"/>
                <a:cs typeface="Segoe UI"/>
              </a:rPr>
              <a:t>36.2 months of stock means overstock</a:t>
            </a:r>
          </a:p>
        </p:txBody>
      </p:sp>
      <p:sp>
        <p:nvSpPr>
          <p:cNvPr id="12" name="TextBox 11"/>
          <p:cNvSpPr txBox="1"/>
          <p:nvPr/>
        </p:nvSpPr>
        <p:spPr>
          <a:xfrm>
            <a:off x="4937760" y="2121408"/>
            <a:ext cx="3383279" cy="658368"/>
          </a:xfrm>
          <a:prstGeom prst="rect">
            <a:avLst/>
          </a:prstGeom>
          <a:noFill/>
        </p:spPr>
        <p:txBody>
          <a:bodyPr wrap="square" lIns="0" rIns="0" tIns="0" bIns="0" anchor="ctr">
            <a:spAutoFit/>
          </a:bodyPr>
          <a:lstStyle/>
          <a:p>
            <a:pPr algn="l">
              <a:lnSpc>
                <a:spcPct val="105000"/>
              </a:lnSpc>
              <a:spcAft>
                <a:spcPts val="600"/>
              </a:spcAft>
            </a:pPr>
            <a:r>
              <a:rPr sz="1300" b="0">
                <a:solidFill>
                  <a:srgbClr val="161A33"/>
                </a:solidFill>
                <a:latin typeface="Segoe UI"/>
                <a:cs typeface="Segoe UI"/>
              </a:rPr>
              <a:t>Stores hold 6.2 months, the warehouse 30.0, and stock does not move with sales</a:t>
            </a:r>
          </a:p>
        </p:txBody>
      </p:sp>
      <p:cxnSp>
        <p:nvCxnSpPr>
          <p:cNvPr id="13" name="Connector"/>
          <p:cNvCxnSpPr/>
          <p:nvPr/>
        </p:nvCxnSpPr>
        <p:spPr>
          <a:xfrm>
            <a:off x="8348472" y="2450591"/>
            <a:ext cx="310896" cy="0"/>
          </a:xfrm>
          <a:prstGeom prst="line">
            <a:avLst/>
          </a:prstGeom>
          <a:ln w="15875">
            <a:solidFill>
              <a:srgbClr val="C9CC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Badge"/>
          <p:cNvSpPr/>
          <p:nvPr/>
        </p:nvSpPr>
        <p:spPr>
          <a:xfrm>
            <a:off x="8805672" y="2322575"/>
            <a:ext cx="256032" cy="256032"/>
          </a:xfrm>
          <a:prstGeom prst="ellipse">
            <a:avLst/>
          </a:prstGeom>
          <a:solidFill>
            <a:srgbClr val="DDF3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0B6B45"/>
                </a:solidFill>
                <a:latin typeface="Segoe UI Semibold"/>
                <a:cs typeface="Segoe UI Semibold"/>
              </a:rPr>
              <a:t>✓</a:t>
            </a:r>
          </a:p>
        </p:txBody>
      </p:sp>
      <p:sp>
        <p:nvSpPr>
          <p:cNvPr id="15" name="TextBox 14"/>
          <p:cNvSpPr txBox="1"/>
          <p:nvPr/>
        </p:nvSpPr>
        <p:spPr>
          <a:xfrm>
            <a:off x="9171432" y="2121408"/>
            <a:ext cx="2432304" cy="658368"/>
          </a:xfrm>
          <a:prstGeom prst="rect">
            <a:avLst/>
          </a:prstGeom>
          <a:noFill/>
        </p:spPr>
        <p:txBody>
          <a:bodyPr wrap="square" lIns="0" rIns="0" tIns="0" bIns="0" anchor="ctr">
            <a:spAutoFit/>
          </a:bodyPr>
          <a:lstStyle/>
          <a:p>
            <a:pPr algn="l">
              <a:lnSpc>
                <a:spcPct val="105000"/>
              </a:lnSpc>
              <a:spcAft>
                <a:spcPts val="600"/>
              </a:spcAft>
            </a:pPr>
            <a:r>
              <a:rPr sz="1300" b="0">
                <a:solidFill>
                  <a:srgbClr val="161A33"/>
                </a:solidFill>
                <a:latin typeface="Segoe UI Semibold"/>
                <a:cs typeface="Segoe UI Semibold"/>
              </a:rPr>
              <a:t>No stock decision until a stock ledger exists</a:t>
            </a:r>
          </a:p>
        </p:txBody>
      </p:sp>
      <p:sp>
        <p:nvSpPr>
          <p:cNvPr id="16" name="Row"/>
          <p:cNvSpPr/>
          <p:nvPr/>
        </p:nvSpPr>
        <p:spPr>
          <a:xfrm>
            <a:off x="548640" y="2871215"/>
            <a:ext cx="11091672" cy="65836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871215"/>
            <a:ext cx="1188720" cy="658368"/>
          </a:xfrm>
          <a:prstGeom prst="rect">
            <a:avLst/>
          </a:prstGeom>
          <a:noFill/>
        </p:spPr>
        <p:txBody>
          <a:bodyPr wrap="square" lIns="0" rIns="0" tIns="0" bIns="0" anchor="ctr">
            <a:spAutoFit/>
          </a:bodyPr>
          <a:lstStyle/>
          <a:p>
            <a:pPr algn="l">
              <a:lnSpc>
                <a:spcPct val="110000"/>
              </a:lnSpc>
              <a:spcAft>
                <a:spcPts val="600"/>
              </a:spcAft>
            </a:pPr>
            <a:r>
              <a:rPr sz="1400" b="0">
                <a:solidFill>
                  <a:srgbClr val="26337A"/>
                </a:solidFill>
                <a:latin typeface="Segoe UI Semibold"/>
                <a:cs typeface="Segoe UI Semibold"/>
              </a:rPr>
              <a:t>Purchasing</a:t>
            </a:r>
          </a:p>
        </p:txBody>
      </p:sp>
      <p:sp>
        <p:nvSpPr>
          <p:cNvPr id="18" name="Badge"/>
          <p:cNvSpPr/>
          <p:nvPr/>
        </p:nvSpPr>
        <p:spPr>
          <a:xfrm>
            <a:off x="2075688" y="3072383"/>
            <a:ext cx="256032" cy="256032"/>
          </a:xfrm>
          <a:prstGeom prst="ellipse">
            <a:avLst/>
          </a:prstGeom>
          <a:solidFill>
            <a:srgbClr val="FCE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B4471B"/>
                </a:solidFill>
                <a:latin typeface="Segoe UI Semibold"/>
                <a:cs typeface="Segoe UI Semibold"/>
              </a:rPr>
              <a:t>✕</a:t>
            </a:r>
          </a:p>
        </p:txBody>
      </p:sp>
      <p:sp>
        <p:nvSpPr>
          <p:cNvPr id="19" name="TextBox 18"/>
          <p:cNvSpPr txBox="1"/>
          <p:nvPr/>
        </p:nvSpPr>
        <p:spPr>
          <a:xfrm>
            <a:off x="2441448" y="2871215"/>
            <a:ext cx="2267712" cy="658368"/>
          </a:xfrm>
          <a:prstGeom prst="rect">
            <a:avLst/>
          </a:prstGeom>
          <a:noFill/>
        </p:spPr>
        <p:txBody>
          <a:bodyPr wrap="square" lIns="0" rIns="0" tIns="0" bIns="0" anchor="ctr">
            <a:spAutoFit/>
          </a:bodyPr>
          <a:lstStyle/>
          <a:p>
            <a:pPr algn="l">
              <a:lnSpc>
                <a:spcPct val="105000"/>
              </a:lnSpc>
              <a:spcAft>
                <a:spcPts val="600"/>
              </a:spcAft>
            </a:pPr>
            <a:r>
              <a:rPr sz="1300" b="0">
                <a:solidFill>
                  <a:srgbClr val="4A4F66"/>
                </a:solidFill>
                <a:latin typeface="Segoe UI"/>
                <a:cs typeface="Segoe UI"/>
              </a:rPr>
              <a:t>We buy about 100× what we sell</a:t>
            </a:r>
          </a:p>
        </p:txBody>
      </p:sp>
      <p:sp>
        <p:nvSpPr>
          <p:cNvPr id="20" name="TextBox 19"/>
          <p:cNvSpPr txBox="1"/>
          <p:nvPr/>
        </p:nvSpPr>
        <p:spPr>
          <a:xfrm>
            <a:off x="4937760" y="2871215"/>
            <a:ext cx="3383279" cy="658368"/>
          </a:xfrm>
          <a:prstGeom prst="rect">
            <a:avLst/>
          </a:prstGeom>
          <a:noFill/>
        </p:spPr>
        <p:txBody>
          <a:bodyPr wrap="square" lIns="0" rIns="0" tIns="0" bIns="0" anchor="ctr">
            <a:spAutoFit/>
          </a:bodyPr>
          <a:lstStyle/>
          <a:p>
            <a:pPr algn="l">
              <a:lnSpc>
                <a:spcPct val="105000"/>
              </a:lnSpc>
              <a:spcAft>
                <a:spcPts val="600"/>
              </a:spcAft>
            </a:pPr>
            <a:r>
              <a:rPr sz="1300" b="0">
                <a:solidFill>
                  <a:srgbClr val="161A33"/>
                </a:solidFill>
                <a:latin typeface="Segoe UI"/>
                <a:cs typeface="Segoe UI"/>
              </a:rPr>
              <a:t>Each product gets about the same order quantity whatever it sells (correlation 0.03)</a:t>
            </a:r>
          </a:p>
        </p:txBody>
      </p:sp>
      <p:cxnSp>
        <p:nvCxnSpPr>
          <p:cNvPr id="21" name="Connector"/>
          <p:cNvCxnSpPr/>
          <p:nvPr/>
        </p:nvCxnSpPr>
        <p:spPr>
          <a:xfrm>
            <a:off x="8348472" y="3200399"/>
            <a:ext cx="310896" cy="0"/>
          </a:xfrm>
          <a:prstGeom prst="line">
            <a:avLst/>
          </a:prstGeom>
          <a:ln w="15875">
            <a:solidFill>
              <a:srgbClr val="C9CC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Badge"/>
          <p:cNvSpPr/>
          <p:nvPr/>
        </p:nvSpPr>
        <p:spPr>
          <a:xfrm>
            <a:off x="8805672" y="3072383"/>
            <a:ext cx="256032" cy="256032"/>
          </a:xfrm>
          <a:prstGeom prst="ellipse">
            <a:avLst/>
          </a:prstGeom>
          <a:solidFill>
            <a:srgbClr val="DDF3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0B6B45"/>
                </a:solidFill>
                <a:latin typeface="Segoe UI Semibold"/>
                <a:cs typeface="Segoe UI Semibold"/>
              </a:rPr>
              <a:t>✓</a:t>
            </a:r>
          </a:p>
        </p:txBody>
      </p:sp>
      <p:sp>
        <p:nvSpPr>
          <p:cNvPr id="23" name="TextBox 22"/>
          <p:cNvSpPr txBox="1"/>
          <p:nvPr/>
        </p:nvSpPr>
        <p:spPr>
          <a:xfrm>
            <a:off x="9171432" y="2871215"/>
            <a:ext cx="2432304" cy="658368"/>
          </a:xfrm>
          <a:prstGeom prst="rect">
            <a:avLst/>
          </a:prstGeom>
          <a:noFill/>
        </p:spPr>
        <p:txBody>
          <a:bodyPr wrap="square" lIns="0" rIns="0" tIns="0" bIns="0" anchor="ctr">
            <a:spAutoFit/>
          </a:bodyPr>
          <a:lstStyle/>
          <a:p>
            <a:pPr algn="l">
              <a:lnSpc>
                <a:spcPct val="105000"/>
              </a:lnSpc>
              <a:spcAft>
                <a:spcPts val="600"/>
              </a:spcAft>
            </a:pPr>
            <a:r>
              <a:rPr sz="1300" b="0">
                <a:solidFill>
                  <a:srgbClr val="161A33"/>
                </a:solidFill>
                <a:latin typeface="Segoe UI Semibold"/>
                <a:cs typeface="Segoe UI Semibold"/>
              </a:rPr>
              <a:t>Ask which business the purchase orders cover</a:t>
            </a:r>
          </a:p>
        </p:txBody>
      </p:sp>
      <p:sp>
        <p:nvSpPr>
          <p:cNvPr id="24" name="Row"/>
          <p:cNvSpPr/>
          <p:nvPr/>
        </p:nvSpPr>
        <p:spPr>
          <a:xfrm>
            <a:off x="548640" y="3621024"/>
            <a:ext cx="11091672" cy="658368"/>
          </a:xfrm>
          <a:prstGeom prst="roundRect">
            <a:avLst>
              <a:gd name="adj" fmla="val 8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621024"/>
            <a:ext cx="1188720" cy="658368"/>
          </a:xfrm>
          <a:prstGeom prst="rect">
            <a:avLst/>
          </a:prstGeom>
          <a:noFill/>
        </p:spPr>
        <p:txBody>
          <a:bodyPr wrap="square" lIns="0" rIns="0" tIns="0" bIns="0" anchor="ctr">
            <a:spAutoFit/>
          </a:bodyPr>
          <a:lstStyle/>
          <a:p>
            <a:pPr algn="l">
              <a:lnSpc>
                <a:spcPct val="110000"/>
              </a:lnSpc>
              <a:spcAft>
                <a:spcPts val="600"/>
              </a:spcAft>
            </a:pPr>
            <a:r>
              <a:rPr sz="1400" b="0">
                <a:solidFill>
                  <a:srgbClr val="26337A"/>
                </a:solidFill>
                <a:latin typeface="Segoe UI Semibold"/>
                <a:cs typeface="Segoe UI Semibold"/>
              </a:rPr>
              <a:t>Marketing</a:t>
            </a:r>
          </a:p>
        </p:txBody>
      </p:sp>
      <p:sp>
        <p:nvSpPr>
          <p:cNvPr id="26" name="Badge"/>
          <p:cNvSpPr/>
          <p:nvPr/>
        </p:nvSpPr>
        <p:spPr>
          <a:xfrm>
            <a:off x="2075688" y="3822192"/>
            <a:ext cx="256032" cy="256032"/>
          </a:xfrm>
          <a:prstGeom prst="ellipse">
            <a:avLst/>
          </a:prstGeom>
          <a:solidFill>
            <a:srgbClr val="FCE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B4471B"/>
                </a:solidFill>
                <a:latin typeface="Segoe UI Semibold"/>
                <a:cs typeface="Segoe UI Semibold"/>
              </a:rPr>
              <a:t>✕</a:t>
            </a:r>
          </a:p>
        </p:txBody>
      </p:sp>
      <p:sp>
        <p:nvSpPr>
          <p:cNvPr id="27" name="TextBox 26"/>
          <p:cNvSpPr txBox="1"/>
          <p:nvPr/>
        </p:nvSpPr>
        <p:spPr>
          <a:xfrm>
            <a:off x="2441448" y="3621024"/>
            <a:ext cx="2267712" cy="658368"/>
          </a:xfrm>
          <a:prstGeom prst="rect">
            <a:avLst/>
          </a:prstGeom>
          <a:noFill/>
        </p:spPr>
        <p:txBody>
          <a:bodyPr wrap="square" lIns="0" rIns="0" tIns="0" bIns="0" anchor="ctr">
            <a:spAutoFit/>
          </a:bodyPr>
          <a:lstStyle/>
          <a:p>
            <a:pPr algn="l">
              <a:lnSpc>
                <a:spcPct val="105000"/>
              </a:lnSpc>
              <a:spcAft>
                <a:spcPts val="600"/>
              </a:spcAft>
            </a:pPr>
            <a:r>
              <a:rPr sz="1300" b="0">
                <a:solidFill>
                  <a:srgbClr val="4A4F66"/>
                </a:solidFill>
                <a:latin typeface="Segoe UI"/>
                <a:cs typeface="Segoe UI"/>
              </a:rPr>
              <a:t>Campaigns claim 44.6× the real orders</a:t>
            </a:r>
          </a:p>
        </p:txBody>
      </p:sp>
      <p:sp>
        <p:nvSpPr>
          <p:cNvPr id="28" name="TextBox 27"/>
          <p:cNvSpPr txBox="1"/>
          <p:nvPr/>
        </p:nvSpPr>
        <p:spPr>
          <a:xfrm>
            <a:off x="4937760" y="3621024"/>
            <a:ext cx="3383279" cy="658368"/>
          </a:xfrm>
          <a:prstGeom prst="rect">
            <a:avLst/>
          </a:prstGeom>
          <a:noFill/>
        </p:spPr>
        <p:txBody>
          <a:bodyPr wrap="square" lIns="0" rIns="0" tIns="0" bIns="0" anchor="ctr">
            <a:spAutoFit/>
          </a:bodyPr>
          <a:lstStyle/>
          <a:p>
            <a:pPr algn="l">
              <a:lnSpc>
                <a:spcPct val="105000"/>
              </a:lnSpc>
              <a:spcAft>
                <a:spcPts val="600"/>
              </a:spcAft>
            </a:pPr>
            <a:r>
              <a:rPr sz="1300" b="0">
                <a:solidFill>
                  <a:srgbClr val="161A33"/>
                </a:solidFill>
                <a:latin typeface="Segoe UI"/>
                <a:cs typeface="Segoe UI"/>
              </a:rPr>
              <a:t>The figure is clicks × a fixed rate, not orders; orders carry no campaign ID</a:t>
            </a:r>
          </a:p>
        </p:txBody>
      </p:sp>
      <p:cxnSp>
        <p:nvCxnSpPr>
          <p:cNvPr id="29" name="Connector"/>
          <p:cNvCxnSpPr/>
          <p:nvPr/>
        </p:nvCxnSpPr>
        <p:spPr>
          <a:xfrm>
            <a:off x="8348472" y="3950208"/>
            <a:ext cx="310896" cy="0"/>
          </a:xfrm>
          <a:prstGeom prst="line">
            <a:avLst/>
          </a:prstGeom>
          <a:ln w="15875">
            <a:solidFill>
              <a:srgbClr val="C9CC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Badge"/>
          <p:cNvSpPr/>
          <p:nvPr/>
        </p:nvSpPr>
        <p:spPr>
          <a:xfrm>
            <a:off x="8805672" y="3822192"/>
            <a:ext cx="256032" cy="256032"/>
          </a:xfrm>
          <a:prstGeom prst="ellipse">
            <a:avLst/>
          </a:prstGeom>
          <a:solidFill>
            <a:srgbClr val="DDF3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0B6B45"/>
                </a:solidFill>
                <a:latin typeface="Segoe UI Semibold"/>
                <a:cs typeface="Segoe UI Semibold"/>
              </a:rPr>
              <a:t>✓</a:t>
            </a:r>
          </a:p>
        </p:txBody>
      </p:sp>
      <p:sp>
        <p:nvSpPr>
          <p:cNvPr id="31" name="TextBox 30"/>
          <p:cNvSpPr txBox="1"/>
          <p:nvPr/>
        </p:nvSpPr>
        <p:spPr>
          <a:xfrm>
            <a:off x="9171432" y="3621024"/>
            <a:ext cx="2432304" cy="658368"/>
          </a:xfrm>
          <a:prstGeom prst="rect">
            <a:avLst/>
          </a:prstGeom>
          <a:noFill/>
        </p:spPr>
        <p:txBody>
          <a:bodyPr wrap="square" lIns="0" rIns="0" tIns="0" bIns="0" anchor="ctr">
            <a:spAutoFit/>
          </a:bodyPr>
          <a:lstStyle/>
          <a:p>
            <a:pPr algn="l">
              <a:lnSpc>
                <a:spcPct val="105000"/>
              </a:lnSpc>
              <a:spcAft>
                <a:spcPts val="600"/>
              </a:spcAft>
            </a:pPr>
            <a:r>
              <a:rPr sz="1300" b="0">
                <a:solidFill>
                  <a:srgbClr val="161A33"/>
                </a:solidFill>
                <a:latin typeface="Segoe UI Semibold"/>
                <a:cs typeface="Segoe UI Semibold"/>
              </a:rPr>
              <a:t>No ROI claim; ask for a campaign ID and a holdout</a:t>
            </a:r>
          </a:p>
        </p:txBody>
      </p:sp>
      <p:sp>
        <p:nvSpPr>
          <p:cNvPr id="32" name="Row"/>
          <p:cNvSpPr/>
          <p:nvPr/>
        </p:nvSpPr>
        <p:spPr>
          <a:xfrm>
            <a:off x="548640" y="4370831"/>
            <a:ext cx="11091672" cy="65836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370831"/>
            <a:ext cx="1188720" cy="658368"/>
          </a:xfrm>
          <a:prstGeom prst="rect">
            <a:avLst/>
          </a:prstGeom>
          <a:noFill/>
        </p:spPr>
        <p:txBody>
          <a:bodyPr wrap="square" lIns="0" rIns="0" tIns="0" bIns="0" anchor="ctr">
            <a:spAutoFit/>
          </a:bodyPr>
          <a:lstStyle/>
          <a:p>
            <a:pPr algn="l">
              <a:lnSpc>
                <a:spcPct val="110000"/>
              </a:lnSpc>
              <a:spcAft>
                <a:spcPts val="600"/>
              </a:spcAft>
            </a:pPr>
            <a:r>
              <a:rPr sz="1400" b="0">
                <a:solidFill>
                  <a:srgbClr val="26337A"/>
                </a:solidFill>
                <a:latin typeface="Segoe UI Semibold"/>
                <a:cs typeface="Segoe UI Semibold"/>
              </a:rPr>
              <a:t>Customers</a:t>
            </a:r>
          </a:p>
        </p:txBody>
      </p:sp>
      <p:sp>
        <p:nvSpPr>
          <p:cNvPr id="34" name="Badge"/>
          <p:cNvSpPr/>
          <p:nvPr/>
        </p:nvSpPr>
        <p:spPr>
          <a:xfrm>
            <a:off x="2075688" y="4572000"/>
            <a:ext cx="256032" cy="256032"/>
          </a:xfrm>
          <a:prstGeom prst="ellipse">
            <a:avLst/>
          </a:prstGeom>
          <a:solidFill>
            <a:srgbClr val="FCE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B4471B"/>
                </a:solidFill>
                <a:latin typeface="Segoe UI Semibold"/>
                <a:cs typeface="Segoe UI Semibold"/>
              </a:rPr>
              <a:t>✕</a:t>
            </a:r>
          </a:p>
        </p:txBody>
      </p:sp>
      <p:sp>
        <p:nvSpPr>
          <p:cNvPr id="35" name="TextBox 34"/>
          <p:cNvSpPr txBox="1"/>
          <p:nvPr/>
        </p:nvSpPr>
        <p:spPr>
          <a:xfrm>
            <a:off x="2441448" y="4370831"/>
            <a:ext cx="2267712" cy="658368"/>
          </a:xfrm>
          <a:prstGeom prst="rect">
            <a:avLst/>
          </a:prstGeom>
          <a:noFill/>
        </p:spPr>
        <p:txBody>
          <a:bodyPr wrap="square" lIns="0" rIns="0" tIns="0" bIns="0" anchor="ctr">
            <a:spAutoFit/>
          </a:bodyPr>
          <a:lstStyle/>
          <a:p>
            <a:pPr algn="l">
              <a:lnSpc>
                <a:spcPct val="105000"/>
              </a:lnSpc>
              <a:spcAft>
                <a:spcPts val="600"/>
              </a:spcAft>
            </a:pPr>
            <a:r>
              <a:rPr sz="1300" b="0">
                <a:solidFill>
                  <a:srgbClr val="4A4F66"/>
                </a:solidFill>
                <a:latin typeface="Segoe UI"/>
                <a:cs typeface="Segoe UI"/>
              </a:rPr>
              <a:t>Each new customer group is less loyal</a:t>
            </a:r>
          </a:p>
        </p:txBody>
      </p:sp>
      <p:sp>
        <p:nvSpPr>
          <p:cNvPr id="36" name="TextBox 35"/>
          <p:cNvSpPr txBox="1"/>
          <p:nvPr/>
        </p:nvSpPr>
        <p:spPr>
          <a:xfrm>
            <a:off x="4937760" y="4370831"/>
            <a:ext cx="3383279" cy="658368"/>
          </a:xfrm>
          <a:prstGeom prst="rect">
            <a:avLst/>
          </a:prstGeom>
          <a:noFill/>
        </p:spPr>
        <p:txBody>
          <a:bodyPr wrap="square" lIns="0" rIns="0" tIns="0" bIns="0" anchor="ctr">
            <a:spAutoFit/>
          </a:bodyPr>
          <a:lstStyle/>
          <a:p>
            <a:pPr algn="l">
              <a:lnSpc>
                <a:spcPct val="105000"/>
              </a:lnSpc>
              <a:spcAft>
                <a:spcPts val="600"/>
              </a:spcAft>
            </a:pPr>
            <a:r>
              <a:rPr sz="1300" b="0">
                <a:solidFill>
                  <a:srgbClr val="161A33"/>
                </a:solidFill>
                <a:latin typeface="Segoe UI"/>
                <a:cs typeface="Segoe UI"/>
              </a:rPr>
              <a:t>2018 and 2024 joiners order at the same rate; the list grew 6×, orders 2.1×</a:t>
            </a:r>
          </a:p>
        </p:txBody>
      </p:sp>
      <p:cxnSp>
        <p:nvCxnSpPr>
          <p:cNvPr id="37" name="Connector"/>
          <p:cNvCxnSpPr/>
          <p:nvPr/>
        </p:nvCxnSpPr>
        <p:spPr>
          <a:xfrm>
            <a:off x="8348472" y="4700016"/>
            <a:ext cx="310896" cy="0"/>
          </a:xfrm>
          <a:prstGeom prst="line">
            <a:avLst/>
          </a:prstGeom>
          <a:ln w="15875">
            <a:solidFill>
              <a:srgbClr val="C9CC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Badge"/>
          <p:cNvSpPr/>
          <p:nvPr/>
        </p:nvSpPr>
        <p:spPr>
          <a:xfrm>
            <a:off x="8805672" y="4572000"/>
            <a:ext cx="256032" cy="256032"/>
          </a:xfrm>
          <a:prstGeom prst="ellipse">
            <a:avLst/>
          </a:prstGeom>
          <a:solidFill>
            <a:srgbClr val="DDF3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0B6B45"/>
                </a:solidFill>
                <a:latin typeface="Segoe UI Semibold"/>
                <a:cs typeface="Segoe UI Semibold"/>
              </a:rPr>
              <a:t>✓</a:t>
            </a:r>
          </a:p>
        </p:txBody>
      </p:sp>
      <p:sp>
        <p:nvSpPr>
          <p:cNvPr id="39" name="TextBox 38"/>
          <p:cNvSpPr txBox="1"/>
          <p:nvPr/>
        </p:nvSpPr>
        <p:spPr>
          <a:xfrm>
            <a:off x="9171432" y="4370831"/>
            <a:ext cx="2432304" cy="658368"/>
          </a:xfrm>
          <a:prstGeom prst="rect">
            <a:avLst/>
          </a:prstGeom>
          <a:noFill/>
        </p:spPr>
        <p:txBody>
          <a:bodyPr wrap="square" lIns="0" rIns="0" tIns="0" bIns="0" anchor="ctr">
            <a:spAutoFit/>
          </a:bodyPr>
          <a:lstStyle/>
          <a:p>
            <a:pPr algn="l">
              <a:lnSpc>
                <a:spcPct val="105000"/>
              </a:lnSpc>
              <a:spcAft>
                <a:spcPts val="600"/>
              </a:spcAft>
            </a:pPr>
            <a:r>
              <a:rPr sz="1300" b="0">
                <a:solidFill>
                  <a:srgbClr val="161A33"/>
                </a:solidFill>
                <a:latin typeface="Segoe UI Semibold"/>
                <a:cs typeface="Segoe UI Semibold"/>
              </a:rPr>
              <a:t>Lead with orders per customer: 2.79 → 0.99</a:t>
            </a:r>
          </a:p>
        </p:txBody>
      </p:sp>
      <p:sp>
        <p:nvSpPr>
          <p:cNvPr id="40" name="Row"/>
          <p:cNvSpPr/>
          <p:nvPr/>
        </p:nvSpPr>
        <p:spPr>
          <a:xfrm>
            <a:off x="548640" y="5120640"/>
            <a:ext cx="11091672" cy="658368"/>
          </a:xfrm>
          <a:prstGeom prst="roundRect">
            <a:avLst>
              <a:gd name="adj" fmla="val 8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120640"/>
            <a:ext cx="1188720" cy="658368"/>
          </a:xfrm>
          <a:prstGeom prst="rect">
            <a:avLst/>
          </a:prstGeom>
          <a:noFill/>
        </p:spPr>
        <p:txBody>
          <a:bodyPr wrap="square" lIns="0" rIns="0" tIns="0" bIns="0" anchor="ctr">
            <a:spAutoFit/>
          </a:bodyPr>
          <a:lstStyle/>
          <a:p>
            <a:pPr algn="l">
              <a:lnSpc>
                <a:spcPct val="110000"/>
              </a:lnSpc>
              <a:spcAft>
                <a:spcPts val="600"/>
              </a:spcAft>
            </a:pPr>
            <a:r>
              <a:rPr sz="1400" b="0">
                <a:solidFill>
                  <a:srgbClr val="26337A"/>
                </a:solidFill>
                <a:latin typeface="Segoe UI Semibold"/>
                <a:cs typeface="Segoe UI Semibold"/>
              </a:rPr>
              <a:t>Discount</a:t>
            </a:r>
          </a:p>
        </p:txBody>
      </p:sp>
      <p:sp>
        <p:nvSpPr>
          <p:cNvPr id="42" name="Badge"/>
          <p:cNvSpPr/>
          <p:nvPr/>
        </p:nvSpPr>
        <p:spPr>
          <a:xfrm>
            <a:off x="2075688" y="5321808"/>
            <a:ext cx="256032" cy="256032"/>
          </a:xfrm>
          <a:prstGeom prst="ellipse">
            <a:avLst/>
          </a:prstGeom>
          <a:solidFill>
            <a:srgbClr val="FCE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B4471B"/>
                </a:solidFill>
                <a:latin typeface="Segoe UI Semibold"/>
                <a:cs typeface="Segoe UI Semibold"/>
              </a:rPr>
              <a:t>✕</a:t>
            </a:r>
          </a:p>
        </p:txBody>
      </p:sp>
      <p:sp>
        <p:nvSpPr>
          <p:cNvPr id="43" name="TextBox 42"/>
          <p:cNvSpPr txBox="1"/>
          <p:nvPr/>
        </p:nvSpPr>
        <p:spPr>
          <a:xfrm>
            <a:off x="2441448" y="5120640"/>
            <a:ext cx="2267712" cy="658368"/>
          </a:xfrm>
          <a:prstGeom prst="rect">
            <a:avLst/>
          </a:prstGeom>
          <a:noFill/>
        </p:spPr>
        <p:txBody>
          <a:bodyPr wrap="square" lIns="0" rIns="0" tIns="0" bIns="0" anchor="ctr">
            <a:spAutoFit/>
          </a:bodyPr>
          <a:lstStyle/>
          <a:p>
            <a:pPr algn="l">
              <a:lnSpc>
                <a:spcPct val="105000"/>
              </a:lnSpc>
              <a:spcAft>
                <a:spcPts val="600"/>
              </a:spcAft>
            </a:pPr>
            <a:r>
              <a:rPr sz="1300" b="0">
                <a:solidFill>
                  <a:srgbClr val="4A4F66"/>
                </a:solidFill>
                <a:latin typeface="Segoe UI"/>
                <a:cs typeface="Segoe UI"/>
              </a:rPr>
              <a:t>Margin stays flat whatever the discount</a:t>
            </a:r>
          </a:p>
        </p:txBody>
      </p:sp>
      <p:sp>
        <p:nvSpPr>
          <p:cNvPr id="44" name="TextBox 43"/>
          <p:cNvSpPr txBox="1"/>
          <p:nvPr/>
        </p:nvSpPr>
        <p:spPr>
          <a:xfrm>
            <a:off x="4937760" y="5120640"/>
            <a:ext cx="3383279" cy="658368"/>
          </a:xfrm>
          <a:prstGeom prst="rect">
            <a:avLst/>
          </a:prstGeom>
          <a:noFill/>
        </p:spPr>
        <p:txBody>
          <a:bodyPr wrap="square" lIns="0" rIns="0" tIns="0" bIns="0" anchor="ctr">
            <a:spAutoFit/>
          </a:bodyPr>
          <a:lstStyle/>
          <a:p>
            <a:pPr algn="l">
              <a:lnSpc>
                <a:spcPct val="105000"/>
              </a:lnSpc>
              <a:spcAft>
                <a:spcPts val="600"/>
              </a:spcAft>
            </a:pPr>
            <a:r>
              <a:rPr sz="1300" b="0">
                <a:solidFill>
                  <a:srgbClr val="161A33"/>
                </a:solidFill>
                <a:latin typeface="Segoe UI"/>
                <a:cs typeface="Segoe UI"/>
              </a:rPr>
              <a:t>Line margin falls from 41.0% to 29.2% as the discount deepens</a:t>
            </a:r>
          </a:p>
        </p:txBody>
      </p:sp>
      <p:cxnSp>
        <p:nvCxnSpPr>
          <p:cNvPr id="45" name="Connector"/>
          <p:cNvCxnSpPr/>
          <p:nvPr/>
        </p:nvCxnSpPr>
        <p:spPr>
          <a:xfrm>
            <a:off x="8348472" y="5449824"/>
            <a:ext cx="310896" cy="0"/>
          </a:xfrm>
          <a:prstGeom prst="line">
            <a:avLst/>
          </a:prstGeom>
          <a:ln w="15875">
            <a:solidFill>
              <a:srgbClr val="C9CC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Badge"/>
          <p:cNvSpPr/>
          <p:nvPr/>
        </p:nvSpPr>
        <p:spPr>
          <a:xfrm>
            <a:off x="8805672" y="5321808"/>
            <a:ext cx="256032" cy="256032"/>
          </a:xfrm>
          <a:prstGeom prst="ellipse">
            <a:avLst/>
          </a:prstGeom>
          <a:solidFill>
            <a:srgbClr val="DDF3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0B6B45"/>
                </a:solidFill>
                <a:latin typeface="Segoe UI Semibold"/>
                <a:cs typeface="Segoe UI Semibold"/>
              </a:rPr>
              <a:t>✓</a:t>
            </a:r>
          </a:p>
        </p:txBody>
      </p:sp>
      <p:sp>
        <p:nvSpPr>
          <p:cNvPr id="47" name="TextBox 46"/>
          <p:cNvSpPr txBox="1"/>
          <p:nvPr/>
        </p:nvSpPr>
        <p:spPr>
          <a:xfrm>
            <a:off x="9171432" y="5120640"/>
            <a:ext cx="2432304" cy="658368"/>
          </a:xfrm>
          <a:prstGeom prst="rect">
            <a:avLst/>
          </a:prstGeom>
          <a:noFill/>
        </p:spPr>
        <p:txBody>
          <a:bodyPr wrap="square" lIns="0" rIns="0" tIns="0" bIns="0" anchor="ctr">
            <a:spAutoFit/>
          </a:bodyPr>
          <a:lstStyle/>
          <a:p>
            <a:pPr algn="l">
              <a:lnSpc>
                <a:spcPct val="105000"/>
              </a:lnSpc>
              <a:spcAft>
                <a:spcPts val="600"/>
              </a:spcAft>
            </a:pPr>
            <a:r>
              <a:rPr sz="1300" b="0">
                <a:solidFill>
                  <a:srgbClr val="161A33"/>
                </a:solidFill>
                <a:latin typeface="Segoe UI Semibold"/>
                <a:cs typeface="Segoe UI Semibold"/>
              </a:rPr>
              <a:t>Built the discount guardrail</a:t>
            </a:r>
          </a:p>
        </p:txBody>
      </p:sp>
      <p:sp>
        <p:nvSpPr>
          <p:cNvPr id="48" name="TextBox 47"/>
          <p:cNvSpPr txBox="1"/>
          <p:nvPr/>
        </p:nvSpPr>
        <p:spPr>
          <a:xfrm>
            <a:off x="548640" y="6053328"/>
            <a:ext cx="11064240" cy="274320"/>
          </a:xfrm>
          <a:prstGeom prst="rect">
            <a:avLst/>
          </a:prstGeom>
          <a:noFill/>
        </p:spPr>
        <p:txBody>
          <a:bodyPr wrap="square" lIns="0" rIns="0" tIns="0" bIns="0" anchor="t">
            <a:spAutoFit/>
          </a:bodyPr>
          <a:lstStyle/>
          <a:p>
            <a:pPr algn="l">
              <a:lnSpc>
                <a:spcPct val="110000"/>
              </a:lnSpc>
              <a:spcAft>
                <a:spcPts val="600"/>
              </a:spcAft>
            </a:pPr>
            <a:r>
              <a:rPr sz="1200" b="0">
                <a:solidFill>
                  <a:srgbClr val="4A4F66"/>
                </a:solidFill>
                <a:latin typeface="Segoe UI"/>
                <a:cs typeface="Segoe UI"/>
              </a:rPr>
              <a:t>Sales and customer records pass every check, so every decision in this deck rests on them. 28 of 28 headline numbers were reproduced by an independent audit.</a:t>
            </a:r>
          </a:p>
        </p:txBody>
      </p:sp>
      <p:sp>
        <p:nvSpPr>
          <p:cNvPr id="49" name="Source"/>
          <p:cNvSpPr txBox="1"/>
          <p:nvPr/>
        </p:nvSpPr>
        <p:spPr>
          <a:xfrm>
            <a:off x="548640" y="6419088"/>
            <a:ext cx="9601200" cy="228600"/>
          </a:xfrm>
          <a:prstGeom prst="rect">
            <a:avLst/>
          </a:prstGeom>
          <a:noFill/>
        </p:spPr>
        <p:txBody>
          <a:bodyPr wrap="square" lIns="0" rIns="0" tIns="0" bIns="0" anchor="t">
            <a:spAutoFit/>
          </a:bodyPr>
          <a:lstStyle/>
          <a:p>
            <a:pPr algn="l">
              <a:lnSpc>
                <a:spcPct val="110000"/>
              </a:lnSpc>
              <a:spcAft>
                <a:spcPts val="600"/>
              </a:spcAft>
            </a:pPr>
            <a:r>
              <a:rPr sz="1000" b="0">
                <a:solidFill>
                  <a:srgbClr val="7D8297"/>
                </a:solidFill>
                <a:latin typeface="Segoe UI"/>
                <a:cs typeface="Segoe UI"/>
              </a:rPr>
              <a:t>Source: Cottonil sales extract, 19 Oct 2018 – 18 Oct 2026 · net before tax · EGP</a:t>
            </a:r>
          </a:p>
        </p:txBody>
      </p:sp>
      <p:sp>
        <p:nvSpPr>
          <p:cNvPr id="50" name="Slide number"/>
          <p:cNvSpPr txBox="1"/>
          <p:nvPr/>
        </p:nvSpPr>
        <p:spPr>
          <a:xfrm>
            <a:off x="10881360" y="6419088"/>
            <a:ext cx="758952" cy="228600"/>
          </a:xfrm>
          <a:prstGeom prst="rect">
            <a:avLst/>
          </a:prstGeom>
          <a:noFill/>
        </p:spPr>
        <p:txBody>
          <a:bodyPr wrap="square" lIns="0" rIns="0" tIns="0" bIns="0" anchor="t">
            <a:spAutoFit/>
          </a:bodyPr>
          <a:lstStyle/>
          <a:p>
            <a:pPr algn="r">
              <a:lnSpc>
                <a:spcPct val="110000"/>
              </a:lnSpc>
              <a:spcAft>
                <a:spcPts val="600"/>
              </a:spcAft>
            </a:pPr>
            <a:r>
              <a:rPr sz="1000" b="0">
                <a:solidFill>
                  <a:srgbClr val="7D8297"/>
                </a:solidFill>
                <a:latin typeface="Segoe UI"/>
                <a:cs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PROBLEM 1 OF 6</a:t>
            </a:r>
          </a:p>
        </p:txBody>
      </p:sp>
      <p:sp>
        <p:nvSpPr>
          <p:cNvPr id="3" name="Title"/>
          <p:cNvSpPr txBox="1"/>
          <p:nvPr/>
        </p:nvSpPr>
        <p:spPr>
          <a:xfrm>
            <a:off x="548640" y="658368"/>
            <a:ext cx="11064240" cy="914400"/>
          </a:xfrm>
          <a:prstGeom prst="rect">
            <a:avLst/>
          </a:prstGeom>
          <a:noFill/>
        </p:spPr>
        <p:txBody>
          <a:bodyPr wrap="square" lIns="0" rIns="0" tIns="0" bIns="0" anchor="t">
            <a:spAutoFit/>
          </a:bodyPr>
          <a:lstStyle/>
          <a:p>
            <a:pPr algn="l">
              <a:lnSpc>
                <a:spcPct val="100000"/>
              </a:lnSpc>
              <a:spcAft>
                <a:spcPts val="600"/>
              </a:spcAft>
            </a:pPr>
            <a:r>
              <a:rPr sz="3000" b="0">
                <a:solidFill>
                  <a:srgbClr val="161A33"/>
                </a:solidFill>
                <a:latin typeface="Segoe UI Semibold"/>
                <a:cs typeface="Segoe UI Semibold"/>
              </a:rPr>
              <a:t>Growth comes from price, not from selling more pieces</a:t>
            </a:r>
          </a:p>
        </p:txBody>
      </p:sp>
      <p:sp>
        <p:nvSpPr>
          <p:cNvPr id="4" name="Progress"/>
          <p:cNvSpPr/>
          <p:nvPr/>
        </p:nvSpPr>
        <p:spPr>
          <a:xfrm>
            <a:off x="9994392"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ogress"/>
          <p:cNvSpPr/>
          <p:nvPr/>
        </p:nvSpPr>
        <p:spPr>
          <a:xfrm>
            <a:off x="10277856" y="457200"/>
            <a:ext cx="228600" cy="73152"/>
          </a:xfrm>
          <a:prstGeom prst="roundRect">
            <a:avLst>
              <a:gd name="adj" fmla="val 50000"/>
            </a:avLst>
          </a:prstGeom>
          <a:solidFill>
            <a:srgbClr val="E1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rogress"/>
          <p:cNvSpPr/>
          <p:nvPr/>
        </p:nvSpPr>
        <p:spPr>
          <a:xfrm>
            <a:off x="10561319" y="457200"/>
            <a:ext cx="228600" cy="73152"/>
          </a:xfrm>
          <a:prstGeom prst="roundRect">
            <a:avLst>
              <a:gd name="adj" fmla="val 50000"/>
            </a:avLst>
          </a:prstGeom>
          <a:solidFill>
            <a:srgbClr val="E1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p:cNvSpPr/>
          <p:nvPr/>
        </p:nvSpPr>
        <p:spPr>
          <a:xfrm>
            <a:off x="10844784" y="457200"/>
            <a:ext cx="228600" cy="73152"/>
          </a:xfrm>
          <a:prstGeom prst="roundRect">
            <a:avLst>
              <a:gd name="adj" fmla="val 50000"/>
            </a:avLst>
          </a:prstGeom>
          <a:solidFill>
            <a:srgbClr val="E1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rogress"/>
          <p:cNvSpPr/>
          <p:nvPr/>
        </p:nvSpPr>
        <p:spPr>
          <a:xfrm>
            <a:off x="11128248" y="457200"/>
            <a:ext cx="228600" cy="73152"/>
          </a:xfrm>
          <a:prstGeom prst="roundRect">
            <a:avLst>
              <a:gd name="adj" fmla="val 50000"/>
            </a:avLst>
          </a:prstGeom>
          <a:solidFill>
            <a:srgbClr val="E1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rogress"/>
          <p:cNvSpPr/>
          <p:nvPr/>
        </p:nvSpPr>
        <p:spPr>
          <a:xfrm>
            <a:off x="11411712" y="457200"/>
            <a:ext cx="228600" cy="73152"/>
          </a:xfrm>
          <a:prstGeom prst="roundRect">
            <a:avLst>
              <a:gd name="adj" fmla="val 50000"/>
            </a:avLst>
          </a:prstGeom>
          <a:solidFill>
            <a:srgbClr val="E1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Key figure"/>
          <p:cNvSpPr txBox="1"/>
          <p:nvPr/>
        </p:nvSpPr>
        <p:spPr>
          <a:xfrm>
            <a:off x="548640" y="1783080"/>
            <a:ext cx="4846320" cy="685800"/>
          </a:xfrm>
          <a:prstGeom prst="rect">
            <a:avLst/>
          </a:prstGeom>
          <a:noFill/>
        </p:spPr>
        <p:txBody>
          <a:bodyPr wrap="square" lIns="0" rIns="0" tIns="0" bIns="0" anchor="t">
            <a:spAutoFit/>
          </a:bodyPr>
          <a:lstStyle/>
          <a:p>
            <a:pPr algn="l">
              <a:lnSpc>
                <a:spcPct val="90000"/>
              </a:lnSpc>
              <a:spcAft>
                <a:spcPts val="600"/>
              </a:spcAft>
            </a:pPr>
            <a:r>
              <a:rPr sz="4000" b="0">
                <a:solidFill>
                  <a:srgbClr val="26337A"/>
                </a:solidFill>
                <a:latin typeface="Segoe UI Semibold"/>
                <a:cs typeface="Segoe UI Semibold"/>
              </a:rPr>
              <a:t>×5.1 vs ×2.1</a:t>
            </a:r>
          </a:p>
        </p:txBody>
      </p:sp>
      <p:sp>
        <p:nvSpPr>
          <p:cNvPr id="11" name="Key figure label"/>
          <p:cNvSpPr txBox="1"/>
          <p:nvPr/>
        </p:nvSpPr>
        <p:spPr>
          <a:xfrm>
            <a:off x="548640" y="2487168"/>
            <a:ext cx="4846320" cy="320040"/>
          </a:xfrm>
          <a:prstGeom prst="rect">
            <a:avLst/>
          </a:prstGeom>
          <a:noFill/>
        </p:spPr>
        <p:txBody>
          <a:bodyPr wrap="square" lIns="0" rIns="0" tIns="0" bIns="0" anchor="t">
            <a:spAutoFit/>
          </a:bodyPr>
          <a:lstStyle/>
          <a:p>
            <a:pPr algn="l">
              <a:lnSpc>
                <a:spcPct val="110000"/>
              </a:lnSpc>
              <a:spcAft>
                <a:spcPts val="600"/>
              </a:spcAft>
            </a:pPr>
            <a:r>
              <a:rPr sz="1200" b="0">
                <a:solidFill>
                  <a:srgbClr val="7D8297"/>
                </a:solidFill>
                <a:latin typeface="Segoe UI"/>
                <a:cs typeface="Segoe UI"/>
              </a:rPr>
              <a:t>price per piece vs pieces sold, 2019 → 2025</a:t>
            </a:r>
          </a:p>
        </p:txBody>
      </p:sp>
      <p:sp>
        <p:nvSpPr>
          <p:cNvPr id="12" name="Why it matters"/>
          <p:cNvSpPr txBox="1"/>
          <p:nvPr/>
        </p:nvSpPr>
        <p:spPr>
          <a:xfrm>
            <a:off x="548640" y="2926080"/>
            <a:ext cx="4846320" cy="1143000"/>
          </a:xfrm>
          <a:prstGeom prst="rect">
            <a:avLst/>
          </a:prstGeom>
          <a:noFill/>
        </p:spPr>
        <p:txBody>
          <a:bodyPr wrap="square" lIns="0" rIns="0" tIns="0" bIns="0" anchor="t">
            <a:spAutoFit/>
          </a:bodyPr>
          <a:lstStyle/>
          <a:p>
            <a:pPr algn="l">
              <a:lnSpc>
                <a:spcPct val="112000"/>
              </a:lnSpc>
              <a:spcAft>
                <a:spcPts val="400"/>
              </a:spcAft>
            </a:pPr>
            <a:r>
              <a:rPr sz="1400" b="0">
                <a:solidFill>
                  <a:srgbClr val="4A4F66"/>
                </a:solidFill>
                <a:latin typeface="Segoe UI"/>
                <a:cs typeface="Segoe UI"/>
              </a:rPr>
              <a:t>Revenue grew ×10.8 from 2019 to 2025, mostly from a higher price per piece. 2026 so far: revenue +32.6%, pieces +8.1%.</a:t>
            </a:r>
          </a:p>
          <a:p>
            <a:pPr algn="l">
              <a:lnSpc>
                <a:spcPct val="112000"/>
              </a:lnSpc>
              <a:spcAft>
                <a:spcPts val="400"/>
              </a:spcAft>
            </a:pPr>
            <a:r>
              <a:rPr sz="1400" b="0">
                <a:solidFill>
                  <a:srgbClr val="4A4F66"/>
                </a:solidFill>
                <a:latin typeface="Segoe UI"/>
                <a:cs typeface="Segoe UI"/>
              </a:rPr>
              <a:t>If price rises slow, growth slows. Volume is the part Cottonil controls.</a:t>
            </a:r>
          </a:p>
        </p:txBody>
      </p:sp>
      <p:sp>
        <p:nvSpPr>
          <p:cNvPr id="13" name="Solution card"/>
          <p:cNvSpPr/>
          <p:nvPr/>
        </p:nvSpPr>
        <p:spPr>
          <a:xfrm>
            <a:off x="548640" y="4160520"/>
            <a:ext cx="4846320" cy="1783080"/>
          </a:xfrm>
          <a:prstGeom prst="roundRect">
            <a:avLst>
              <a:gd name="adj" fmla="val 5000"/>
            </a:avLst>
          </a:prstGeom>
          <a:solidFill>
            <a:srgbClr val="E9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atus Recommend"/>
          <p:cNvSpPr/>
          <p:nvPr/>
        </p:nvSpPr>
        <p:spPr>
          <a:xfrm>
            <a:off x="777240" y="4343400"/>
            <a:ext cx="1156716" cy="310896"/>
          </a:xfrm>
          <a:prstGeom prst="roundRect">
            <a:avLst>
              <a:gd name="adj" fmla="val 50000"/>
            </a:avLst>
          </a:prstGeom>
          <a:solidFill>
            <a:srgbClr val="E3EE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F5FAF"/>
                </a:solidFill>
                <a:latin typeface="Segoe UI Semibold"/>
                <a:cs typeface="Segoe UI Semibold"/>
              </a:rPr>
              <a:t>Recommend</a:t>
            </a:r>
          </a:p>
        </p:txBody>
      </p:sp>
      <p:sp>
        <p:nvSpPr>
          <p:cNvPr id="15" name="Owner"/>
          <p:cNvSpPr txBox="1"/>
          <p:nvPr/>
        </p:nvSpPr>
        <p:spPr>
          <a:xfrm>
            <a:off x="2071115" y="4370832"/>
            <a:ext cx="3657600" cy="274320"/>
          </a:xfrm>
          <a:prstGeom prst="rect">
            <a:avLst/>
          </a:prstGeom>
          <a:noFill/>
        </p:spPr>
        <p:txBody>
          <a:bodyPr wrap="square" lIns="0" rIns="0" tIns="0" bIns="0" anchor="t">
            <a:spAutoFit/>
          </a:bodyPr>
          <a:lstStyle/>
          <a:p>
            <a:pPr algn="l">
              <a:lnSpc>
                <a:spcPct val="110000"/>
              </a:lnSpc>
              <a:spcAft>
                <a:spcPts val="600"/>
              </a:spcAft>
            </a:pPr>
            <a:r>
              <a:rPr sz="1100" b="0">
                <a:solidFill>
                  <a:srgbClr val="4A4F66"/>
                </a:solidFill>
                <a:latin typeface="Segoe UI Semibold"/>
                <a:cs typeface="Segoe UI Semibold"/>
              </a:rPr>
              <a:t>Who acts: CFO, Commercial director</a:t>
            </a:r>
          </a:p>
        </p:txBody>
      </p:sp>
      <p:sp>
        <p:nvSpPr>
          <p:cNvPr id="16" name="Solution"/>
          <p:cNvSpPr txBox="1"/>
          <p:nvPr/>
        </p:nvSpPr>
        <p:spPr>
          <a:xfrm>
            <a:off x="777240" y="4773168"/>
            <a:ext cx="4434840" cy="1097280"/>
          </a:xfrm>
          <a:prstGeom prst="rect">
            <a:avLst/>
          </a:prstGeom>
          <a:noFill/>
        </p:spPr>
        <p:txBody>
          <a:bodyPr wrap="square" lIns="0" rIns="0" tIns="0" bIns="0" anchor="t">
            <a:spAutoFit/>
          </a:bodyPr>
          <a:lstStyle/>
          <a:p>
            <a:pPr algn="l">
              <a:lnSpc>
                <a:spcPct val="110000"/>
              </a:lnSpc>
              <a:spcAft>
                <a:spcPts val="300"/>
              </a:spcAft>
            </a:pPr>
            <a:r>
              <a:rPr sz="1400" b="0">
                <a:solidFill>
                  <a:srgbClr val="161A33"/>
                </a:solidFill>
                <a:latin typeface="Segoe UI"/>
                <a:cs typeface="Segoe UI"/>
              </a:rPr>
              <a:t>Track price vs volume every month in the weekly digest.</a:t>
            </a:r>
          </a:p>
          <a:p>
            <a:pPr algn="l">
              <a:lnSpc>
                <a:spcPct val="110000"/>
              </a:lnSpc>
              <a:spcAft>
                <a:spcPts val="300"/>
              </a:spcAft>
            </a:pPr>
            <a:r>
              <a:rPr sz="1400" b="0">
                <a:solidFill>
                  <a:srgbClr val="161A33"/>
                </a:solidFill>
                <a:latin typeface="Segoe UI"/>
                <a:cs typeface="Segoe UI"/>
              </a:rPr>
              <a:t>Test the next price rise in a few branches before rolling it out.</a:t>
            </a:r>
          </a:p>
        </p:txBody>
      </p:sp>
      <p:sp>
        <p:nvSpPr>
          <p:cNvPr id="17" name="Limitation"/>
          <p:cNvSpPr txBox="1"/>
          <p:nvPr/>
        </p:nvSpPr>
        <p:spPr>
          <a:xfrm>
            <a:off x="548640" y="6016752"/>
            <a:ext cx="4846320" cy="365760"/>
          </a:xfrm>
          <a:prstGeom prst="rect">
            <a:avLst/>
          </a:prstGeom>
          <a:noFill/>
        </p:spPr>
        <p:txBody>
          <a:bodyPr wrap="square" lIns="0" rIns="0" tIns="0" bIns="0" anchor="t">
            <a:spAutoFit/>
          </a:bodyPr>
          <a:lstStyle/>
          <a:p>
            <a:pPr algn="l">
              <a:lnSpc>
                <a:spcPct val="110000"/>
              </a:lnSpc>
              <a:spcAft>
                <a:spcPts val="600"/>
              </a:spcAft>
            </a:pPr>
            <a:r>
              <a:rPr sz="1000" b="1">
                <a:solidFill>
                  <a:srgbClr val="4A4F66"/>
                </a:solidFill>
                <a:latin typeface="Segoe UI Semibold"/>
                <a:cs typeface="Segoe UI Semibold"/>
              </a:rPr>
              <a:t>Limit  </a:t>
            </a:r>
            <a:r>
              <a:rPr sz="1000" b="0">
                <a:solidFill>
                  <a:srgbClr val="7D8297"/>
                </a:solidFill>
                <a:latin typeface="Segoe UI"/>
                <a:cs typeface="Segoe UI"/>
              </a:rPr>
              <a:t>how growth is made up, not proof of pricing power: no competitor price or price test.</a:t>
            </a:r>
          </a:p>
        </p:txBody>
      </p:sp>
      <p:sp>
        <p:nvSpPr>
          <p:cNvPr id="18" name="Chart card"/>
          <p:cNvSpPr/>
          <p:nvPr/>
        </p:nvSpPr>
        <p:spPr>
          <a:xfrm>
            <a:off x="5760720" y="1783080"/>
            <a:ext cx="5879592" cy="4526280"/>
          </a:xfrm>
          <a:prstGeom prst="roundRect">
            <a:avLst>
              <a:gd name="adj" fmla="val 3000"/>
            </a:avLst>
          </a:prstGeom>
          <a:solidFill>
            <a:srgbClr val="FFFFFF"/>
          </a:solidFill>
          <a:ln w="12700">
            <a:solidFill>
              <a:srgbClr val="E1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hart title"/>
          <p:cNvSpPr txBox="1"/>
          <p:nvPr/>
        </p:nvSpPr>
        <p:spPr>
          <a:xfrm>
            <a:off x="6035040" y="1984248"/>
            <a:ext cx="5330952" cy="274320"/>
          </a:xfrm>
          <a:prstGeom prst="rect">
            <a:avLst/>
          </a:prstGeom>
          <a:noFill/>
        </p:spPr>
        <p:txBody>
          <a:bodyPr wrap="square" lIns="0" rIns="0" tIns="0" bIns="0" anchor="t">
            <a:spAutoFit/>
          </a:bodyPr>
          <a:lstStyle/>
          <a:p>
            <a:pPr algn="l">
              <a:lnSpc>
                <a:spcPct val="110000"/>
              </a:lnSpc>
              <a:spcAft>
                <a:spcPts val="600"/>
              </a:spcAft>
            </a:pPr>
            <a:r>
              <a:rPr sz="1400" b="0">
                <a:solidFill>
                  <a:srgbClr val="161A33"/>
                </a:solidFill>
                <a:latin typeface="Segoe UI Semibold"/>
                <a:cs typeface="Segoe UI Semibold"/>
              </a:rPr>
              <a:t>Revenue, price per piece and pieces sold</a:t>
            </a:r>
          </a:p>
        </p:txBody>
      </p:sp>
      <p:sp>
        <p:nvSpPr>
          <p:cNvPr id="20" name="Chart caption"/>
          <p:cNvSpPr txBox="1"/>
          <p:nvPr/>
        </p:nvSpPr>
        <p:spPr>
          <a:xfrm>
            <a:off x="6035040" y="2258568"/>
            <a:ext cx="5330952"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a:cs typeface="Segoe UI"/>
              </a:rPr>
              <a:t>Index, 2019 = 100, calendar years</a:t>
            </a:r>
          </a:p>
        </p:txBody>
      </p:sp>
      <p:graphicFrame>
        <p:nvGraphicFramePr>
          <p:cNvPr id="21" name="Chart 20"/>
          <p:cNvGraphicFramePr>
            <a:graphicFrameLocks noGrp="1"/>
          </p:cNvGraphicFramePr>
          <p:nvPr/>
        </p:nvGraphicFramePr>
        <p:xfrm>
          <a:off x="5897880" y="2606040"/>
          <a:ext cx="5605272" cy="3566160"/>
        </p:xfrm>
        <a:graphic>
          <a:graphicData uri="http://schemas.openxmlformats.org/drawingml/2006/chart">
            <c:chart xmlns:c="http://schemas.openxmlformats.org/drawingml/2006/chart" r:id="rId2"/>
          </a:graphicData>
        </a:graphic>
      </p:graphicFrame>
      <p:sp>
        <p:nvSpPr>
          <p:cNvPr id="22" name="Source"/>
          <p:cNvSpPr txBox="1"/>
          <p:nvPr/>
        </p:nvSpPr>
        <p:spPr>
          <a:xfrm>
            <a:off x="548640" y="6419088"/>
            <a:ext cx="9601200" cy="228600"/>
          </a:xfrm>
          <a:prstGeom prst="rect">
            <a:avLst/>
          </a:prstGeom>
          <a:noFill/>
        </p:spPr>
        <p:txBody>
          <a:bodyPr wrap="square" lIns="0" rIns="0" tIns="0" bIns="0" anchor="t">
            <a:spAutoFit/>
          </a:bodyPr>
          <a:lstStyle/>
          <a:p>
            <a:pPr algn="l">
              <a:lnSpc>
                <a:spcPct val="110000"/>
              </a:lnSpc>
              <a:spcAft>
                <a:spcPts val="600"/>
              </a:spcAft>
            </a:pPr>
            <a:r>
              <a:rPr sz="1000" b="0">
                <a:solidFill>
                  <a:srgbClr val="7D8297"/>
                </a:solidFill>
                <a:latin typeface="Segoe UI"/>
                <a:cs typeface="Segoe UI"/>
              </a:rPr>
              <a:t>Source: Cottonil sales extract, 19 Oct 2018 – 18 Oct 2026 · net before tax · EGP</a:t>
            </a:r>
          </a:p>
        </p:txBody>
      </p:sp>
      <p:sp>
        <p:nvSpPr>
          <p:cNvPr id="23" name="Slide number"/>
          <p:cNvSpPr txBox="1"/>
          <p:nvPr/>
        </p:nvSpPr>
        <p:spPr>
          <a:xfrm>
            <a:off x="10881360" y="6419088"/>
            <a:ext cx="758952" cy="228600"/>
          </a:xfrm>
          <a:prstGeom prst="rect">
            <a:avLst/>
          </a:prstGeom>
          <a:noFill/>
        </p:spPr>
        <p:txBody>
          <a:bodyPr wrap="square" lIns="0" rIns="0" tIns="0" bIns="0" anchor="t">
            <a:spAutoFit/>
          </a:bodyPr>
          <a:lstStyle/>
          <a:p>
            <a:pPr algn="r">
              <a:lnSpc>
                <a:spcPct val="110000"/>
              </a:lnSpc>
              <a:spcAft>
                <a:spcPts val="600"/>
              </a:spcAft>
            </a:pPr>
            <a:r>
              <a:rPr sz="1000" b="0">
                <a:solidFill>
                  <a:srgbClr val="7D8297"/>
                </a:solidFill>
                <a:latin typeface="Segoe UI"/>
                <a:cs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PROBLEM 2 OF 6</a:t>
            </a:r>
          </a:p>
        </p:txBody>
      </p:sp>
      <p:sp>
        <p:nvSpPr>
          <p:cNvPr id="3" name="Title"/>
          <p:cNvSpPr txBox="1"/>
          <p:nvPr/>
        </p:nvSpPr>
        <p:spPr>
          <a:xfrm>
            <a:off x="548640" y="658368"/>
            <a:ext cx="11064240" cy="914400"/>
          </a:xfrm>
          <a:prstGeom prst="rect">
            <a:avLst/>
          </a:prstGeom>
          <a:noFill/>
        </p:spPr>
        <p:txBody>
          <a:bodyPr wrap="square" lIns="0" rIns="0" tIns="0" bIns="0" anchor="t">
            <a:spAutoFit/>
          </a:bodyPr>
          <a:lstStyle/>
          <a:p>
            <a:pPr algn="l">
              <a:lnSpc>
                <a:spcPct val="100000"/>
              </a:lnSpc>
              <a:spcAft>
                <a:spcPts val="600"/>
              </a:spcAft>
            </a:pPr>
            <a:r>
              <a:rPr sz="3000" b="0">
                <a:solidFill>
                  <a:srgbClr val="161A33"/>
                </a:solidFill>
                <a:latin typeface="Segoe UI Semibold"/>
                <a:cs typeface="Segoe UI Semibold"/>
              </a:rPr>
              <a:t>Two men's categories carry 42.6% of revenue</a:t>
            </a:r>
          </a:p>
        </p:txBody>
      </p:sp>
      <p:sp>
        <p:nvSpPr>
          <p:cNvPr id="4" name="Progress"/>
          <p:cNvSpPr/>
          <p:nvPr/>
        </p:nvSpPr>
        <p:spPr>
          <a:xfrm>
            <a:off x="9994392"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ogress"/>
          <p:cNvSpPr/>
          <p:nvPr/>
        </p:nvSpPr>
        <p:spPr>
          <a:xfrm>
            <a:off x="10277856"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rogress"/>
          <p:cNvSpPr/>
          <p:nvPr/>
        </p:nvSpPr>
        <p:spPr>
          <a:xfrm>
            <a:off x="10561319" y="457200"/>
            <a:ext cx="228600" cy="73152"/>
          </a:xfrm>
          <a:prstGeom prst="roundRect">
            <a:avLst>
              <a:gd name="adj" fmla="val 50000"/>
            </a:avLst>
          </a:prstGeom>
          <a:solidFill>
            <a:srgbClr val="E1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p:cNvSpPr/>
          <p:nvPr/>
        </p:nvSpPr>
        <p:spPr>
          <a:xfrm>
            <a:off x="10844784" y="457200"/>
            <a:ext cx="228600" cy="73152"/>
          </a:xfrm>
          <a:prstGeom prst="roundRect">
            <a:avLst>
              <a:gd name="adj" fmla="val 50000"/>
            </a:avLst>
          </a:prstGeom>
          <a:solidFill>
            <a:srgbClr val="E1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rogress"/>
          <p:cNvSpPr/>
          <p:nvPr/>
        </p:nvSpPr>
        <p:spPr>
          <a:xfrm>
            <a:off x="11128248" y="457200"/>
            <a:ext cx="228600" cy="73152"/>
          </a:xfrm>
          <a:prstGeom prst="roundRect">
            <a:avLst>
              <a:gd name="adj" fmla="val 50000"/>
            </a:avLst>
          </a:prstGeom>
          <a:solidFill>
            <a:srgbClr val="E1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rogress"/>
          <p:cNvSpPr/>
          <p:nvPr/>
        </p:nvSpPr>
        <p:spPr>
          <a:xfrm>
            <a:off x="11411712" y="457200"/>
            <a:ext cx="228600" cy="73152"/>
          </a:xfrm>
          <a:prstGeom prst="roundRect">
            <a:avLst>
              <a:gd name="adj" fmla="val 50000"/>
            </a:avLst>
          </a:prstGeom>
          <a:solidFill>
            <a:srgbClr val="E1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Key figure"/>
          <p:cNvSpPr txBox="1"/>
          <p:nvPr/>
        </p:nvSpPr>
        <p:spPr>
          <a:xfrm>
            <a:off x="548640" y="1783080"/>
            <a:ext cx="4846320" cy="685800"/>
          </a:xfrm>
          <a:prstGeom prst="rect">
            <a:avLst/>
          </a:prstGeom>
          <a:noFill/>
        </p:spPr>
        <p:txBody>
          <a:bodyPr wrap="square" lIns="0" rIns="0" tIns="0" bIns="0" anchor="t">
            <a:spAutoFit/>
          </a:bodyPr>
          <a:lstStyle/>
          <a:p>
            <a:pPr algn="l">
              <a:lnSpc>
                <a:spcPct val="90000"/>
              </a:lnSpc>
              <a:spcAft>
                <a:spcPts val="600"/>
              </a:spcAft>
            </a:pPr>
            <a:r>
              <a:rPr sz="4000" b="0">
                <a:solidFill>
                  <a:srgbClr val="26337A"/>
                </a:solidFill>
                <a:latin typeface="Segoe UI Semibold"/>
                <a:cs typeface="Segoe UI Semibold"/>
              </a:rPr>
              <a:t>42.6%</a:t>
            </a:r>
          </a:p>
        </p:txBody>
      </p:sp>
      <p:sp>
        <p:nvSpPr>
          <p:cNvPr id="11" name="Key figure label"/>
          <p:cNvSpPr txBox="1"/>
          <p:nvPr/>
        </p:nvSpPr>
        <p:spPr>
          <a:xfrm>
            <a:off x="548640" y="2487168"/>
            <a:ext cx="4846320" cy="320040"/>
          </a:xfrm>
          <a:prstGeom prst="rect">
            <a:avLst/>
          </a:prstGeom>
          <a:noFill/>
        </p:spPr>
        <p:txBody>
          <a:bodyPr wrap="square" lIns="0" rIns="0" tIns="0" bIns="0" anchor="t">
            <a:spAutoFit/>
          </a:bodyPr>
          <a:lstStyle/>
          <a:p>
            <a:pPr algn="l">
              <a:lnSpc>
                <a:spcPct val="110000"/>
              </a:lnSpc>
              <a:spcAft>
                <a:spcPts val="600"/>
              </a:spcAft>
            </a:pPr>
            <a:r>
              <a:rPr sz="1200" b="0">
                <a:solidFill>
                  <a:srgbClr val="7D8297"/>
                </a:solidFill>
                <a:latin typeface="Segoe UI"/>
                <a:cs typeface="Segoe UI"/>
              </a:rPr>
              <a:t>of net revenue from men's boxers and men's tops</a:t>
            </a:r>
          </a:p>
        </p:txBody>
      </p:sp>
      <p:sp>
        <p:nvSpPr>
          <p:cNvPr id="12" name="Why it matters"/>
          <p:cNvSpPr txBox="1"/>
          <p:nvPr/>
        </p:nvSpPr>
        <p:spPr>
          <a:xfrm>
            <a:off x="548640" y="2926080"/>
            <a:ext cx="4846320" cy="1143000"/>
          </a:xfrm>
          <a:prstGeom prst="rect">
            <a:avLst/>
          </a:prstGeom>
          <a:noFill/>
        </p:spPr>
        <p:txBody>
          <a:bodyPr wrap="square" lIns="0" rIns="0" tIns="0" bIns="0" anchor="t">
            <a:spAutoFit/>
          </a:bodyPr>
          <a:lstStyle/>
          <a:p>
            <a:pPr algn="l">
              <a:lnSpc>
                <a:spcPct val="112000"/>
              </a:lnSpc>
              <a:spcAft>
                <a:spcPts val="400"/>
              </a:spcAft>
            </a:pPr>
            <a:r>
              <a:rPr sz="1400" b="0">
                <a:solidFill>
                  <a:srgbClr val="4A4F66"/>
                </a:solidFill>
                <a:latin typeface="Segoe UI"/>
                <a:cs typeface="Segoe UI"/>
              </a:rPr>
              <a:t>The top 10 of 139 products make 36.1% of revenue. Socks move 26.8% of all pieces but only 13.8% of revenue.</a:t>
            </a:r>
          </a:p>
          <a:p>
            <a:pPr algn="l">
              <a:lnSpc>
                <a:spcPct val="112000"/>
              </a:lnSpc>
              <a:spcAft>
                <a:spcPts val="400"/>
              </a:spcAft>
            </a:pPr>
            <a:r>
              <a:rPr sz="1400" b="0">
                <a:solidFill>
                  <a:srgbClr val="4A4F66"/>
                </a:solidFill>
                <a:latin typeface="Segoe UI"/>
                <a:cs typeface="Segoe UI"/>
              </a:rPr>
              <a:t>A shock to one men's line (supply, a competitor, fashion) hits the whole year.</a:t>
            </a:r>
          </a:p>
        </p:txBody>
      </p:sp>
      <p:sp>
        <p:nvSpPr>
          <p:cNvPr id="13" name="Solution card"/>
          <p:cNvSpPr/>
          <p:nvPr/>
        </p:nvSpPr>
        <p:spPr>
          <a:xfrm>
            <a:off x="548640" y="4160520"/>
            <a:ext cx="4846320" cy="1783080"/>
          </a:xfrm>
          <a:prstGeom prst="roundRect">
            <a:avLst>
              <a:gd name="adj" fmla="val 5000"/>
            </a:avLst>
          </a:prstGeom>
          <a:solidFill>
            <a:srgbClr val="E9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atus Recommend"/>
          <p:cNvSpPr/>
          <p:nvPr/>
        </p:nvSpPr>
        <p:spPr>
          <a:xfrm>
            <a:off x="777240" y="4343400"/>
            <a:ext cx="1156716" cy="310896"/>
          </a:xfrm>
          <a:prstGeom prst="roundRect">
            <a:avLst>
              <a:gd name="adj" fmla="val 50000"/>
            </a:avLst>
          </a:prstGeom>
          <a:solidFill>
            <a:srgbClr val="E3EE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F5FAF"/>
                </a:solidFill>
                <a:latin typeface="Segoe UI Semibold"/>
                <a:cs typeface="Segoe UI Semibold"/>
              </a:rPr>
              <a:t>Recommend</a:t>
            </a:r>
          </a:p>
        </p:txBody>
      </p:sp>
      <p:sp>
        <p:nvSpPr>
          <p:cNvPr id="15" name="Owner"/>
          <p:cNvSpPr txBox="1"/>
          <p:nvPr/>
        </p:nvSpPr>
        <p:spPr>
          <a:xfrm>
            <a:off x="2071115" y="4370832"/>
            <a:ext cx="3657600" cy="274320"/>
          </a:xfrm>
          <a:prstGeom prst="rect">
            <a:avLst/>
          </a:prstGeom>
          <a:noFill/>
        </p:spPr>
        <p:txBody>
          <a:bodyPr wrap="square" lIns="0" rIns="0" tIns="0" bIns="0" anchor="t">
            <a:spAutoFit/>
          </a:bodyPr>
          <a:lstStyle/>
          <a:p>
            <a:pPr algn="l">
              <a:lnSpc>
                <a:spcPct val="110000"/>
              </a:lnSpc>
              <a:spcAft>
                <a:spcPts val="600"/>
              </a:spcAft>
            </a:pPr>
            <a:r>
              <a:rPr sz="1100" b="0">
                <a:solidFill>
                  <a:srgbClr val="4A4F66"/>
                </a:solidFill>
                <a:latin typeface="Segoe UI Semibold"/>
                <a:cs typeface="Segoe UI Semibold"/>
              </a:rPr>
              <a:t>Who acts: Head of merchandising</a:t>
            </a:r>
          </a:p>
        </p:txBody>
      </p:sp>
      <p:sp>
        <p:nvSpPr>
          <p:cNvPr id="16" name="Solution"/>
          <p:cNvSpPr txBox="1"/>
          <p:nvPr/>
        </p:nvSpPr>
        <p:spPr>
          <a:xfrm>
            <a:off x="777240" y="4773168"/>
            <a:ext cx="4434840" cy="1097280"/>
          </a:xfrm>
          <a:prstGeom prst="rect">
            <a:avLst/>
          </a:prstGeom>
          <a:noFill/>
        </p:spPr>
        <p:txBody>
          <a:bodyPr wrap="square" lIns="0" rIns="0" tIns="0" bIns="0" anchor="t">
            <a:spAutoFit/>
          </a:bodyPr>
          <a:lstStyle/>
          <a:p>
            <a:pPr algn="l">
              <a:lnSpc>
                <a:spcPct val="110000"/>
              </a:lnSpc>
              <a:spcAft>
                <a:spcPts val="300"/>
              </a:spcAft>
            </a:pPr>
            <a:r>
              <a:rPr sz="1400" b="0">
                <a:solidFill>
                  <a:srgbClr val="161A33"/>
                </a:solidFill>
                <a:latin typeface="Segoe UI"/>
                <a:cs typeface="Segoe UI"/>
              </a:rPr>
              <a:t>Protect stock of the top 10 products before late October.</a:t>
            </a:r>
          </a:p>
          <a:p>
            <a:pPr algn="l">
              <a:lnSpc>
                <a:spcPct val="110000"/>
              </a:lnSpc>
              <a:spcAft>
                <a:spcPts val="300"/>
              </a:spcAft>
            </a:pPr>
            <a:r>
              <a:rPr sz="1400" b="0">
                <a:solidFill>
                  <a:srgbClr val="161A33"/>
                </a:solidFill>
                <a:latin typeface="Segoe UI"/>
                <a:cs typeface="Segoe UI"/>
              </a:rPr>
              <a:t>Grow women's and kids' lines by offering them to existing men's buyers.</a:t>
            </a:r>
          </a:p>
        </p:txBody>
      </p:sp>
      <p:sp>
        <p:nvSpPr>
          <p:cNvPr id="17" name="Limitation"/>
          <p:cNvSpPr txBox="1"/>
          <p:nvPr/>
        </p:nvSpPr>
        <p:spPr>
          <a:xfrm>
            <a:off x="548640" y="6016752"/>
            <a:ext cx="4846320" cy="365760"/>
          </a:xfrm>
          <a:prstGeom prst="rect">
            <a:avLst/>
          </a:prstGeom>
          <a:noFill/>
        </p:spPr>
        <p:txBody>
          <a:bodyPr wrap="square" lIns="0" rIns="0" tIns="0" bIns="0" anchor="t">
            <a:spAutoFit/>
          </a:bodyPr>
          <a:lstStyle/>
          <a:p>
            <a:pPr algn="l">
              <a:lnSpc>
                <a:spcPct val="110000"/>
              </a:lnSpc>
              <a:spcAft>
                <a:spcPts val="600"/>
              </a:spcAft>
            </a:pPr>
            <a:r>
              <a:rPr sz="1000" b="1">
                <a:solidFill>
                  <a:srgbClr val="4A4F66"/>
                </a:solidFill>
                <a:latin typeface="Segoe UI Semibold"/>
                <a:cs typeface="Segoe UI Semibold"/>
              </a:rPr>
              <a:t>Limit  </a:t>
            </a:r>
            <a:r>
              <a:rPr sz="1000" b="0">
                <a:solidFill>
                  <a:srgbClr val="7D8297"/>
                </a:solidFill>
                <a:latin typeface="Segoe UI"/>
                <a:cs typeface="Segoe UI"/>
              </a:rPr>
              <a:t>based on catalogue categories; the data has no substitution or stock-out signal.</a:t>
            </a:r>
          </a:p>
        </p:txBody>
      </p:sp>
      <p:sp>
        <p:nvSpPr>
          <p:cNvPr id="18" name="Chart card"/>
          <p:cNvSpPr/>
          <p:nvPr/>
        </p:nvSpPr>
        <p:spPr>
          <a:xfrm>
            <a:off x="5760720" y="1783080"/>
            <a:ext cx="5879592" cy="4526280"/>
          </a:xfrm>
          <a:prstGeom prst="roundRect">
            <a:avLst>
              <a:gd name="adj" fmla="val 3000"/>
            </a:avLst>
          </a:prstGeom>
          <a:solidFill>
            <a:srgbClr val="FFFFFF"/>
          </a:solidFill>
          <a:ln w="12700">
            <a:solidFill>
              <a:srgbClr val="E1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hart title"/>
          <p:cNvSpPr txBox="1"/>
          <p:nvPr/>
        </p:nvSpPr>
        <p:spPr>
          <a:xfrm>
            <a:off x="6035040" y="1984248"/>
            <a:ext cx="5330952" cy="274320"/>
          </a:xfrm>
          <a:prstGeom prst="rect">
            <a:avLst/>
          </a:prstGeom>
          <a:noFill/>
        </p:spPr>
        <p:txBody>
          <a:bodyPr wrap="square" lIns="0" rIns="0" tIns="0" bIns="0" anchor="t">
            <a:spAutoFit/>
          </a:bodyPr>
          <a:lstStyle/>
          <a:p>
            <a:pPr algn="l">
              <a:lnSpc>
                <a:spcPct val="110000"/>
              </a:lnSpc>
              <a:spcAft>
                <a:spcPts val="600"/>
              </a:spcAft>
            </a:pPr>
            <a:r>
              <a:rPr sz="1400" b="0">
                <a:solidFill>
                  <a:srgbClr val="161A33"/>
                </a:solidFill>
                <a:latin typeface="Segoe UI Semibold"/>
                <a:cs typeface="Segoe UI Semibold"/>
              </a:rPr>
              <a:t>Share of net revenue by category</a:t>
            </a:r>
          </a:p>
        </p:txBody>
      </p:sp>
      <p:sp>
        <p:nvSpPr>
          <p:cNvPr id="20" name="Chart caption"/>
          <p:cNvSpPr txBox="1"/>
          <p:nvPr/>
        </p:nvSpPr>
        <p:spPr>
          <a:xfrm>
            <a:off x="6035040" y="2258568"/>
            <a:ext cx="5330952"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a:cs typeface="Segoe UI"/>
              </a:rPr>
              <a:t>Full history, top 6 of 16 categories, %</a:t>
            </a:r>
          </a:p>
        </p:txBody>
      </p:sp>
      <p:graphicFrame>
        <p:nvGraphicFramePr>
          <p:cNvPr id="21" name="Chart 20"/>
          <p:cNvGraphicFramePr>
            <a:graphicFrameLocks noGrp="1"/>
          </p:cNvGraphicFramePr>
          <p:nvPr/>
        </p:nvGraphicFramePr>
        <p:xfrm>
          <a:off x="5897880" y="2606040"/>
          <a:ext cx="5605272" cy="3566160"/>
        </p:xfrm>
        <a:graphic>
          <a:graphicData uri="http://schemas.openxmlformats.org/drawingml/2006/chart">
            <c:chart xmlns:c="http://schemas.openxmlformats.org/drawingml/2006/chart" r:id="rId2"/>
          </a:graphicData>
        </a:graphic>
      </p:graphicFrame>
      <p:sp>
        <p:nvSpPr>
          <p:cNvPr id="22" name="Source"/>
          <p:cNvSpPr txBox="1"/>
          <p:nvPr/>
        </p:nvSpPr>
        <p:spPr>
          <a:xfrm>
            <a:off x="548640" y="6419088"/>
            <a:ext cx="9601200" cy="228600"/>
          </a:xfrm>
          <a:prstGeom prst="rect">
            <a:avLst/>
          </a:prstGeom>
          <a:noFill/>
        </p:spPr>
        <p:txBody>
          <a:bodyPr wrap="square" lIns="0" rIns="0" tIns="0" bIns="0" anchor="t">
            <a:spAutoFit/>
          </a:bodyPr>
          <a:lstStyle/>
          <a:p>
            <a:pPr algn="l">
              <a:lnSpc>
                <a:spcPct val="110000"/>
              </a:lnSpc>
              <a:spcAft>
                <a:spcPts val="600"/>
              </a:spcAft>
            </a:pPr>
            <a:r>
              <a:rPr sz="1000" b="0">
                <a:solidFill>
                  <a:srgbClr val="7D8297"/>
                </a:solidFill>
                <a:latin typeface="Segoe UI"/>
                <a:cs typeface="Segoe UI"/>
              </a:rPr>
              <a:t>Source: Cottonil sales extract, 19 Oct 2018 – 18 Oct 2026 · net before tax · EGP</a:t>
            </a:r>
          </a:p>
        </p:txBody>
      </p:sp>
      <p:sp>
        <p:nvSpPr>
          <p:cNvPr id="23" name="Slide number"/>
          <p:cNvSpPr txBox="1"/>
          <p:nvPr/>
        </p:nvSpPr>
        <p:spPr>
          <a:xfrm>
            <a:off x="10881360" y="6419088"/>
            <a:ext cx="758952" cy="228600"/>
          </a:xfrm>
          <a:prstGeom prst="rect">
            <a:avLst/>
          </a:prstGeom>
          <a:noFill/>
        </p:spPr>
        <p:txBody>
          <a:bodyPr wrap="square" lIns="0" rIns="0" tIns="0" bIns="0" anchor="t">
            <a:spAutoFit/>
          </a:bodyPr>
          <a:lstStyle/>
          <a:p>
            <a:pPr algn="r">
              <a:lnSpc>
                <a:spcPct val="110000"/>
              </a:lnSpc>
              <a:spcAft>
                <a:spcPts val="600"/>
              </a:spcAft>
            </a:pPr>
            <a:r>
              <a:rPr sz="1000" b="0">
                <a:solidFill>
                  <a:srgbClr val="7D8297"/>
                </a:solidFill>
                <a:latin typeface="Segoe UI"/>
                <a:cs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PROBLEM 3 OF 6</a:t>
            </a:r>
          </a:p>
        </p:txBody>
      </p:sp>
      <p:sp>
        <p:nvSpPr>
          <p:cNvPr id="3" name="Title"/>
          <p:cNvSpPr txBox="1"/>
          <p:nvPr/>
        </p:nvSpPr>
        <p:spPr>
          <a:xfrm>
            <a:off x="548640" y="658368"/>
            <a:ext cx="11064240" cy="914400"/>
          </a:xfrm>
          <a:prstGeom prst="rect">
            <a:avLst/>
          </a:prstGeom>
          <a:noFill/>
        </p:spPr>
        <p:txBody>
          <a:bodyPr wrap="square" lIns="0" rIns="0" tIns="0" bIns="0" anchor="t">
            <a:spAutoFit/>
          </a:bodyPr>
          <a:lstStyle/>
          <a:p>
            <a:pPr algn="l">
              <a:lnSpc>
                <a:spcPct val="100000"/>
              </a:lnSpc>
              <a:spcAft>
                <a:spcPts val="600"/>
              </a:spcAft>
            </a:pPr>
            <a:r>
              <a:rPr sz="3000" b="0">
                <a:solidFill>
                  <a:srgbClr val="161A33"/>
                </a:solidFill>
                <a:latin typeface="Segoe UI Semibold"/>
                <a:cs typeface="Segoe UI Semibold"/>
              </a:rPr>
              <a:t>Each customer orders less: 2.79 → 0.99 orders a year</a:t>
            </a:r>
          </a:p>
        </p:txBody>
      </p:sp>
      <p:sp>
        <p:nvSpPr>
          <p:cNvPr id="4" name="Progress"/>
          <p:cNvSpPr/>
          <p:nvPr/>
        </p:nvSpPr>
        <p:spPr>
          <a:xfrm>
            <a:off x="9994392"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ogress"/>
          <p:cNvSpPr/>
          <p:nvPr/>
        </p:nvSpPr>
        <p:spPr>
          <a:xfrm>
            <a:off x="10277856"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rogress"/>
          <p:cNvSpPr/>
          <p:nvPr/>
        </p:nvSpPr>
        <p:spPr>
          <a:xfrm>
            <a:off x="10561319"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p:cNvSpPr/>
          <p:nvPr/>
        </p:nvSpPr>
        <p:spPr>
          <a:xfrm>
            <a:off x="10844784" y="457200"/>
            <a:ext cx="228600" cy="73152"/>
          </a:xfrm>
          <a:prstGeom prst="roundRect">
            <a:avLst>
              <a:gd name="adj" fmla="val 50000"/>
            </a:avLst>
          </a:prstGeom>
          <a:solidFill>
            <a:srgbClr val="E1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rogress"/>
          <p:cNvSpPr/>
          <p:nvPr/>
        </p:nvSpPr>
        <p:spPr>
          <a:xfrm>
            <a:off x="11128248" y="457200"/>
            <a:ext cx="228600" cy="73152"/>
          </a:xfrm>
          <a:prstGeom prst="roundRect">
            <a:avLst>
              <a:gd name="adj" fmla="val 50000"/>
            </a:avLst>
          </a:prstGeom>
          <a:solidFill>
            <a:srgbClr val="E1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rogress"/>
          <p:cNvSpPr/>
          <p:nvPr/>
        </p:nvSpPr>
        <p:spPr>
          <a:xfrm>
            <a:off x="11411712" y="457200"/>
            <a:ext cx="228600" cy="73152"/>
          </a:xfrm>
          <a:prstGeom prst="roundRect">
            <a:avLst>
              <a:gd name="adj" fmla="val 50000"/>
            </a:avLst>
          </a:prstGeom>
          <a:solidFill>
            <a:srgbClr val="E1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Key figure"/>
          <p:cNvSpPr txBox="1"/>
          <p:nvPr/>
        </p:nvSpPr>
        <p:spPr>
          <a:xfrm>
            <a:off x="548640" y="1783080"/>
            <a:ext cx="4846320" cy="685800"/>
          </a:xfrm>
          <a:prstGeom prst="rect">
            <a:avLst/>
          </a:prstGeom>
          <a:noFill/>
        </p:spPr>
        <p:txBody>
          <a:bodyPr wrap="square" lIns="0" rIns="0" tIns="0" bIns="0" anchor="t">
            <a:spAutoFit/>
          </a:bodyPr>
          <a:lstStyle/>
          <a:p>
            <a:pPr algn="l">
              <a:lnSpc>
                <a:spcPct val="90000"/>
              </a:lnSpc>
              <a:spcAft>
                <a:spcPts val="600"/>
              </a:spcAft>
            </a:pPr>
            <a:r>
              <a:rPr sz="4000" b="0">
                <a:solidFill>
                  <a:srgbClr val="26337A"/>
                </a:solidFill>
                <a:latin typeface="Segoe UI Semibold"/>
                <a:cs typeface="Segoe UI Semibold"/>
              </a:rPr>
              <a:t>23,063</a:t>
            </a:r>
          </a:p>
        </p:txBody>
      </p:sp>
      <p:sp>
        <p:nvSpPr>
          <p:cNvPr id="11" name="Key figure label"/>
          <p:cNvSpPr txBox="1"/>
          <p:nvPr/>
        </p:nvSpPr>
        <p:spPr>
          <a:xfrm>
            <a:off x="548640" y="2487168"/>
            <a:ext cx="4846320" cy="320040"/>
          </a:xfrm>
          <a:prstGeom prst="rect">
            <a:avLst/>
          </a:prstGeom>
          <a:noFill/>
        </p:spPr>
        <p:txBody>
          <a:bodyPr wrap="square" lIns="0" rIns="0" tIns="0" bIns="0" anchor="t">
            <a:spAutoFit/>
          </a:bodyPr>
          <a:lstStyle/>
          <a:p>
            <a:pPr algn="l">
              <a:lnSpc>
                <a:spcPct val="110000"/>
              </a:lnSpc>
              <a:spcAft>
                <a:spcPts val="600"/>
              </a:spcAft>
            </a:pPr>
            <a:r>
              <a:rPr sz="1200" b="0">
                <a:solidFill>
                  <a:srgbClr val="7D8297"/>
                </a:solidFill>
                <a:latin typeface="Segoe UI"/>
                <a:cs typeface="Segoe UI"/>
              </a:rPr>
              <a:t>buyers (30.9%) with no order in over a year</a:t>
            </a:r>
          </a:p>
        </p:txBody>
      </p:sp>
      <p:sp>
        <p:nvSpPr>
          <p:cNvPr id="12" name="Why it matters"/>
          <p:cNvSpPr txBox="1"/>
          <p:nvPr/>
        </p:nvSpPr>
        <p:spPr>
          <a:xfrm>
            <a:off x="548640" y="2926080"/>
            <a:ext cx="4846320" cy="1143000"/>
          </a:xfrm>
          <a:prstGeom prst="rect">
            <a:avLst/>
          </a:prstGeom>
          <a:noFill/>
        </p:spPr>
        <p:txBody>
          <a:bodyPr wrap="square" lIns="0" rIns="0" tIns="0" bIns="0" anchor="t">
            <a:spAutoFit/>
          </a:bodyPr>
          <a:lstStyle/>
          <a:p>
            <a:pPr algn="l">
              <a:lnSpc>
                <a:spcPct val="112000"/>
              </a:lnSpc>
              <a:spcAft>
                <a:spcPts val="400"/>
              </a:spcAft>
            </a:pPr>
            <a:r>
              <a:rPr sz="1400" b="0">
                <a:solidFill>
                  <a:srgbClr val="4A4F66"/>
                </a:solidFill>
                <a:latin typeface="Segoe UI"/>
                <a:cs typeface="Segoe UI"/>
              </a:rPr>
              <a:t>The customer list grew 6× while their orders grew 2.1×.</a:t>
            </a:r>
          </a:p>
          <a:p>
            <a:pPr algn="l">
              <a:lnSpc>
                <a:spcPct val="112000"/>
              </a:lnSpc>
              <a:spcAft>
                <a:spcPts val="400"/>
              </a:spcAft>
            </a:pPr>
            <a:r>
              <a:rPr sz="1400" b="0">
                <a:solidFill>
                  <a:srgbClr val="4A4F66"/>
                </a:solidFill>
                <a:latin typeface="Segoe UI"/>
                <a:cs typeface="Segoe UI"/>
              </a:rPr>
              <a:t>2,645 of the quiet buyers are high-value, with 58.2M EGP of past spend.</a:t>
            </a:r>
          </a:p>
        </p:txBody>
      </p:sp>
      <p:sp>
        <p:nvSpPr>
          <p:cNvPr id="13" name="Solution card"/>
          <p:cNvSpPr/>
          <p:nvPr/>
        </p:nvSpPr>
        <p:spPr>
          <a:xfrm>
            <a:off x="548640" y="4160520"/>
            <a:ext cx="4846320" cy="1783080"/>
          </a:xfrm>
          <a:prstGeom prst="roundRect">
            <a:avLst>
              <a:gd name="adj" fmla="val 5000"/>
            </a:avLst>
          </a:prstGeom>
          <a:solidFill>
            <a:srgbClr val="E9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atus Built"/>
          <p:cNvSpPr/>
          <p:nvPr/>
        </p:nvSpPr>
        <p:spPr>
          <a:xfrm>
            <a:off x="777240" y="4343400"/>
            <a:ext cx="772668" cy="310896"/>
          </a:xfrm>
          <a:prstGeom prst="roundRect">
            <a:avLst>
              <a:gd name="adj" fmla="val 50000"/>
            </a:avLst>
          </a:prstGeom>
          <a:solidFill>
            <a:srgbClr val="DDF3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0B6B45"/>
                </a:solidFill>
                <a:latin typeface="Segoe UI Semibold"/>
                <a:cs typeface="Segoe UI Semibold"/>
              </a:rPr>
              <a:t>Built</a:t>
            </a:r>
          </a:p>
        </p:txBody>
      </p:sp>
      <p:sp>
        <p:nvSpPr>
          <p:cNvPr id="15" name="Owner"/>
          <p:cNvSpPr txBox="1"/>
          <p:nvPr/>
        </p:nvSpPr>
        <p:spPr>
          <a:xfrm>
            <a:off x="1687067" y="4370832"/>
            <a:ext cx="3657600" cy="274320"/>
          </a:xfrm>
          <a:prstGeom prst="rect">
            <a:avLst/>
          </a:prstGeom>
          <a:noFill/>
        </p:spPr>
        <p:txBody>
          <a:bodyPr wrap="square" lIns="0" rIns="0" tIns="0" bIns="0" anchor="t">
            <a:spAutoFit/>
          </a:bodyPr>
          <a:lstStyle/>
          <a:p>
            <a:pPr algn="l">
              <a:lnSpc>
                <a:spcPct val="110000"/>
              </a:lnSpc>
              <a:spcAft>
                <a:spcPts val="600"/>
              </a:spcAft>
            </a:pPr>
            <a:r>
              <a:rPr sz="1100" b="0">
                <a:solidFill>
                  <a:srgbClr val="4A4F66"/>
                </a:solidFill>
                <a:latin typeface="Segoe UI Semibold"/>
                <a:cs typeface="Segoe UI Semibold"/>
              </a:rPr>
              <a:t>Who acts: CRM manager</a:t>
            </a:r>
          </a:p>
        </p:txBody>
      </p:sp>
      <p:pic>
        <p:nvPicPr>
          <p:cNvPr id="16" name="Picture 15" descr="logo_n8n.png"/>
          <p:cNvPicPr>
            <a:picLocks noChangeAspect="1"/>
          </p:cNvPicPr>
          <p:nvPr/>
        </p:nvPicPr>
        <p:blipFill>
          <a:blip r:embed="rId2"/>
          <a:stretch>
            <a:fillRect/>
          </a:stretch>
        </p:blipFill>
        <p:spPr>
          <a:xfrm>
            <a:off x="4919472" y="4334256"/>
            <a:ext cx="310896" cy="310896"/>
          </a:xfrm>
          <a:prstGeom prst="rect">
            <a:avLst/>
          </a:prstGeom>
        </p:spPr>
      </p:pic>
      <p:sp>
        <p:nvSpPr>
          <p:cNvPr id="17" name="Solution"/>
          <p:cNvSpPr txBox="1"/>
          <p:nvPr/>
        </p:nvSpPr>
        <p:spPr>
          <a:xfrm>
            <a:off x="777240" y="4773168"/>
            <a:ext cx="4434840" cy="1097280"/>
          </a:xfrm>
          <a:prstGeom prst="rect">
            <a:avLst/>
          </a:prstGeom>
          <a:noFill/>
        </p:spPr>
        <p:txBody>
          <a:bodyPr wrap="square" lIns="0" rIns="0" tIns="0" bIns="0" anchor="t">
            <a:spAutoFit/>
          </a:bodyPr>
          <a:lstStyle/>
          <a:p>
            <a:pPr algn="l">
              <a:lnSpc>
                <a:spcPct val="110000"/>
              </a:lnSpc>
              <a:spcAft>
                <a:spcPts val="300"/>
              </a:spcAft>
            </a:pPr>
            <a:r>
              <a:rPr sz="1400" b="0">
                <a:solidFill>
                  <a:srgbClr val="161A33"/>
                </a:solidFill>
                <a:latin typeface="Segoe UI"/>
                <a:cs typeface="Segoe UI"/>
              </a:rPr>
              <a:t>Reactivation workflow: monthly list, one Arabic message per category, 10% held back to measure the lift, sent only after the CRM manager says yes.</a:t>
            </a:r>
          </a:p>
          <a:p>
            <a:pPr algn="l">
              <a:lnSpc>
                <a:spcPct val="110000"/>
              </a:lnSpc>
              <a:spcAft>
                <a:spcPts val="300"/>
              </a:spcAft>
            </a:pPr>
            <a:r>
              <a:rPr sz="1400" b="0">
                <a:solidFill>
                  <a:srgbClr val="161A33"/>
                </a:solidFill>
                <a:latin typeface="Segoe UI"/>
                <a:cs typeface="Segoe UI"/>
              </a:rPr>
              <a:t>Scenario: each 1% who return once ≈ 102K EGP.</a:t>
            </a:r>
          </a:p>
        </p:txBody>
      </p:sp>
      <p:sp>
        <p:nvSpPr>
          <p:cNvPr id="18" name="Limitation"/>
          <p:cNvSpPr txBox="1"/>
          <p:nvPr/>
        </p:nvSpPr>
        <p:spPr>
          <a:xfrm>
            <a:off x="548640" y="6016752"/>
            <a:ext cx="4846320" cy="365760"/>
          </a:xfrm>
          <a:prstGeom prst="rect">
            <a:avLst/>
          </a:prstGeom>
          <a:noFill/>
        </p:spPr>
        <p:txBody>
          <a:bodyPr wrap="square" lIns="0" rIns="0" tIns="0" bIns="0" anchor="t">
            <a:spAutoFit/>
          </a:bodyPr>
          <a:lstStyle/>
          <a:p>
            <a:pPr algn="l">
              <a:lnSpc>
                <a:spcPct val="110000"/>
              </a:lnSpc>
              <a:spcAft>
                <a:spcPts val="600"/>
              </a:spcAft>
            </a:pPr>
            <a:r>
              <a:rPr sz="1000" b="1">
                <a:solidFill>
                  <a:srgbClr val="4A4F66"/>
                </a:solidFill>
                <a:latin typeface="Segoe UI Semibold"/>
                <a:cs typeface="Segoe UI Semibold"/>
              </a:rPr>
              <a:t>Limit  </a:t>
            </a:r>
            <a:r>
              <a:rPr sz="1000" b="0">
                <a:solidFill>
                  <a:srgbClr val="7D8297"/>
                </a:solidFill>
                <a:latin typeface="Segoe UI"/>
                <a:cs typeface="Segoe UI"/>
              </a:rPr>
              <a:t>the data cannot say why customers stop; 19% of orders have no customer.</a:t>
            </a:r>
          </a:p>
        </p:txBody>
      </p:sp>
      <p:sp>
        <p:nvSpPr>
          <p:cNvPr id="19" name="Chart card"/>
          <p:cNvSpPr/>
          <p:nvPr/>
        </p:nvSpPr>
        <p:spPr>
          <a:xfrm>
            <a:off x="5760720" y="1783080"/>
            <a:ext cx="5879592" cy="4526280"/>
          </a:xfrm>
          <a:prstGeom prst="roundRect">
            <a:avLst>
              <a:gd name="adj" fmla="val 3000"/>
            </a:avLst>
          </a:prstGeom>
          <a:solidFill>
            <a:srgbClr val="FFFFFF"/>
          </a:solidFill>
          <a:ln w="12700">
            <a:solidFill>
              <a:srgbClr val="E1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hart title"/>
          <p:cNvSpPr txBox="1"/>
          <p:nvPr/>
        </p:nvSpPr>
        <p:spPr>
          <a:xfrm>
            <a:off x="6035040" y="1984248"/>
            <a:ext cx="5330952" cy="274320"/>
          </a:xfrm>
          <a:prstGeom prst="rect">
            <a:avLst/>
          </a:prstGeom>
          <a:noFill/>
        </p:spPr>
        <p:txBody>
          <a:bodyPr wrap="square" lIns="0" rIns="0" tIns="0" bIns="0" anchor="t">
            <a:spAutoFit/>
          </a:bodyPr>
          <a:lstStyle/>
          <a:p>
            <a:pPr algn="l">
              <a:lnSpc>
                <a:spcPct val="110000"/>
              </a:lnSpc>
              <a:spcAft>
                <a:spcPts val="600"/>
              </a:spcAft>
            </a:pPr>
            <a:r>
              <a:rPr sz="1400" b="0">
                <a:solidFill>
                  <a:srgbClr val="161A33"/>
                </a:solidFill>
                <a:latin typeface="Segoe UI Semibold"/>
                <a:cs typeface="Segoe UI Semibold"/>
              </a:rPr>
              <a:t>Orders per registered customer per year</a:t>
            </a:r>
          </a:p>
        </p:txBody>
      </p:sp>
      <p:sp>
        <p:nvSpPr>
          <p:cNvPr id="21" name="Chart caption"/>
          <p:cNvSpPr txBox="1"/>
          <p:nvPr/>
        </p:nvSpPr>
        <p:spPr>
          <a:xfrm>
            <a:off x="6035040" y="2258568"/>
            <a:ext cx="5330952"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a:cs typeface="Segoe UI"/>
              </a:rPr>
              <a:t>Registered orders ÷ registered customers, calendar years</a:t>
            </a:r>
          </a:p>
        </p:txBody>
      </p:sp>
      <p:graphicFrame>
        <p:nvGraphicFramePr>
          <p:cNvPr id="22" name="Chart 21"/>
          <p:cNvGraphicFramePr>
            <a:graphicFrameLocks noGrp="1"/>
          </p:cNvGraphicFramePr>
          <p:nvPr/>
        </p:nvGraphicFramePr>
        <p:xfrm>
          <a:off x="5897880" y="2606040"/>
          <a:ext cx="5605272" cy="3566160"/>
        </p:xfrm>
        <a:graphic>
          <a:graphicData uri="http://schemas.openxmlformats.org/drawingml/2006/chart">
            <c:chart xmlns:c="http://schemas.openxmlformats.org/drawingml/2006/chart" r:id="rId3"/>
          </a:graphicData>
        </a:graphic>
      </p:graphicFrame>
      <p:sp>
        <p:nvSpPr>
          <p:cNvPr id="23" name="Source"/>
          <p:cNvSpPr txBox="1"/>
          <p:nvPr/>
        </p:nvSpPr>
        <p:spPr>
          <a:xfrm>
            <a:off x="548640" y="6419088"/>
            <a:ext cx="9601200" cy="228600"/>
          </a:xfrm>
          <a:prstGeom prst="rect">
            <a:avLst/>
          </a:prstGeom>
          <a:noFill/>
        </p:spPr>
        <p:txBody>
          <a:bodyPr wrap="square" lIns="0" rIns="0" tIns="0" bIns="0" anchor="t">
            <a:spAutoFit/>
          </a:bodyPr>
          <a:lstStyle/>
          <a:p>
            <a:pPr algn="l">
              <a:lnSpc>
                <a:spcPct val="110000"/>
              </a:lnSpc>
              <a:spcAft>
                <a:spcPts val="600"/>
              </a:spcAft>
            </a:pPr>
            <a:r>
              <a:rPr sz="1000" b="0">
                <a:solidFill>
                  <a:srgbClr val="7D8297"/>
                </a:solidFill>
                <a:latin typeface="Segoe UI"/>
                <a:cs typeface="Segoe UI"/>
              </a:rPr>
              <a:t>Source: Cottonil sales extract, 19 Oct 2018 – 18 Oct 2026 · net before tax · EGP</a:t>
            </a:r>
          </a:p>
        </p:txBody>
      </p:sp>
      <p:sp>
        <p:nvSpPr>
          <p:cNvPr id="24" name="Slide number"/>
          <p:cNvSpPr txBox="1"/>
          <p:nvPr/>
        </p:nvSpPr>
        <p:spPr>
          <a:xfrm>
            <a:off x="10881360" y="6419088"/>
            <a:ext cx="758952" cy="228600"/>
          </a:xfrm>
          <a:prstGeom prst="rect">
            <a:avLst/>
          </a:prstGeom>
          <a:noFill/>
        </p:spPr>
        <p:txBody>
          <a:bodyPr wrap="square" lIns="0" rIns="0" tIns="0" bIns="0" anchor="t">
            <a:spAutoFit/>
          </a:bodyPr>
          <a:lstStyle/>
          <a:p>
            <a:pPr algn="r">
              <a:lnSpc>
                <a:spcPct val="110000"/>
              </a:lnSpc>
              <a:spcAft>
                <a:spcPts val="600"/>
              </a:spcAft>
            </a:pPr>
            <a:r>
              <a:rPr sz="1000" b="0">
                <a:solidFill>
                  <a:srgbClr val="7D8297"/>
                </a:solidFill>
                <a:latin typeface="Segoe UI"/>
                <a:cs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PROBLEM 4 OF 6</a:t>
            </a:r>
          </a:p>
        </p:txBody>
      </p:sp>
      <p:sp>
        <p:nvSpPr>
          <p:cNvPr id="3" name="Title"/>
          <p:cNvSpPr txBox="1"/>
          <p:nvPr/>
        </p:nvSpPr>
        <p:spPr>
          <a:xfrm>
            <a:off x="548640" y="658368"/>
            <a:ext cx="11064240" cy="914400"/>
          </a:xfrm>
          <a:prstGeom prst="rect">
            <a:avLst/>
          </a:prstGeom>
          <a:noFill/>
        </p:spPr>
        <p:txBody>
          <a:bodyPr wrap="square" lIns="0" rIns="0" tIns="0" bIns="0" anchor="t">
            <a:spAutoFit/>
          </a:bodyPr>
          <a:lstStyle/>
          <a:p>
            <a:pPr algn="l">
              <a:lnSpc>
                <a:spcPct val="100000"/>
              </a:lnSpc>
              <a:spcAft>
                <a:spcPts val="600"/>
              </a:spcAft>
            </a:pPr>
            <a:r>
              <a:rPr sz="3000" b="0">
                <a:solidFill>
                  <a:srgbClr val="161A33"/>
                </a:solidFill>
                <a:latin typeface="Segoe UI Semibold"/>
                <a:cs typeface="Segoe UI Semibold"/>
              </a:rPr>
              <a:t>Every discount point comes out of margin</a:t>
            </a:r>
          </a:p>
        </p:txBody>
      </p:sp>
      <p:sp>
        <p:nvSpPr>
          <p:cNvPr id="4" name="Progress"/>
          <p:cNvSpPr/>
          <p:nvPr/>
        </p:nvSpPr>
        <p:spPr>
          <a:xfrm>
            <a:off x="9994392"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ogress"/>
          <p:cNvSpPr/>
          <p:nvPr/>
        </p:nvSpPr>
        <p:spPr>
          <a:xfrm>
            <a:off x="10277856"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rogress"/>
          <p:cNvSpPr/>
          <p:nvPr/>
        </p:nvSpPr>
        <p:spPr>
          <a:xfrm>
            <a:off x="10561319"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p:cNvSpPr/>
          <p:nvPr/>
        </p:nvSpPr>
        <p:spPr>
          <a:xfrm>
            <a:off x="10844784"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rogress"/>
          <p:cNvSpPr/>
          <p:nvPr/>
        </p:nvSpPr>
        <p:spPr>
          <a:xfrm>
            <a:off x="11128248" y="457200"/>
            <a:ext cx="228600" cy="73152"/>
          </a:xfrm>
          <a:prstGeom prst="roundRect">
            <a:avLst>
              <a:gd name="adj" fmla="val 50000"/>
            </a:avLst>
          </a:prstGeom>
          <a:solidFill>
            <a:srgbClr val="E1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rogress"/>
          <p:cNvSpPr/>
          <p:nvPr/>
        </p:nvSpPr>
        <p:spPr>
          <a:xfrm>
            <a:off x="11411712" y="457200"/>
            <a:ext cx="228600" cy="73152"/>
          </a:xfrm>
          <a:prstGeom prst="roundRect">
            <a:avLst>
              <a:gd name="adj" fmla="val 50000"/>
            </a:avLst>
          </a:prstGeom>
          <a:solidFill>
            <a:srgbClr val="E1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Key figure"/>
          <p:cNvSpPr txBox="1"/>
          <p:nvPr/>
        </p:nvSpPr>
        <p:spPr>
          <a:xfrm>
            <a:off x="548640" y="1783080"/>
            <a:ext cx="4846320" cy="685800"/>
          </a:xfrm>
          <a:prstGeom prst="rect">
            <a:avLst/>
          </a:prstGeom>
          <a:noFill/>
        </p:spPr>
        <p:txBody>
          <a:bodyPr wrap="square" lIns="0" rIns="0" tIns="0" bIns="0" anchor="t">
            <a:spAutoFit/>
          </a:bodyPr>
          <a:lstStyle/>
          <a:p>
            <a:pPr algn="l">
              <a:lnSpc>
                <a:spcPct val="90000"/>
              </a:lnSpc>
              <a:spcAft>
                <a:spcPts val="600"/>
              </a:spcAft>
            </a:pPr>
            <a:r>
              <a:rPr sz="4000" b="0">
                <a:solidFill>
                  <a:srgbClr val="26337A"/>
                </a:solidFill>
                <a:latin typeface="Segoe UI Semibold"/>
                <a:cs typeface="Segoe UI Semibold"/>
              </a:rPr>
              <a:t>41.0% → 29.2%</a:t>
            </a:r>
          </a:p>
        </p:txBody>
      </p:sp>
      <p:sp>
        <p:nvSpPr>
          <p:cNvPr id="11" name="Key figure label"/>
          <p:cNvSpPr txBox="1"/>
          <p:nvPr/>
        </p:nvSpPr>
        <p:spPr>
          <a:xfrm>
            <a:off x="548640" y="2487168"/>
            <a:ext cx="4846320" cy="320040"/>
          </a:xfrm>
          <a:prstGeom prst="rect">
            <a:avLst/>
          </a:prstGeom>
          <a:noFill/>
        </p:spPr>
        <p:txBody>
          <a:bodyPr wrap="square" lIns="0" rIns="0" tIns="0" bIns="0" anchor="t">
            <a:spAutoFit/>
          </a:bodyPr>
          <a:lstStyle/>
          <a:p>
            <a:pPr algn="l">
              <a:lnSpc>
                <a:spcPct val="110000"/>
              </a:lnSpc>
              <a:spcAft>
                <a:spcPts val="600"/>
              </a:spcAft>
            </a:pPr>
            <a:r>
              <a:rPr sz="1200" b="0">
                <a:solidFill>
                  <a:srgbClr val="7D8297"/>
                </a:solidFill>
                <a:latin typeface="Segoe UI"/>
                <a:cs typeface="Segoe UI"/>
              </a:rPr>
              <a:t>gross margin, full-price lines vs lines discounted 15–25%</a:t>
            </a:r>
          </a:p>
        </p:txBody>
      </p:sp>
      <p:sp>
        <p:nvSpPr>
          <p:cNvPr id="12" name="Why it matters"/>
          <p:cNvSpPr txBox="1"/>
          <p:nvPr/>
        </p:nvSpPr>
        <p:spPr>
          <a:xfrm>
            <a:off x="548640" y="2926080"/>
            <a:ext cx="4846320" cy="1143000"/>
          </a:xfrm>
          <a:prstGeom prst="rect">
            <a:avLst/>
          </a:prstGeom>
          <a:noFill/>
        </p:spPr>
        <p:txBody>
          <a:bodyPr wrap="square" lIns="0" rIns="0" tIns="0" bIns="0" anchor="t">
            <a:spAutoFit/>
          </a:bodyPr>
          <a:lstStyle/>
          <a:p>
            <a:pPr algn="l">
              <a:lnSpc>
                <a:spcPct val="112000"/>
              </a:lnSpc>
              <a:spcAft>
                <a:spcPts val="400"/>
              </a:spcAft>
            </a:pPr>
            <a:r>
              <a:rPr sz="1400" b="0">
                <a:solidFill>
                  <a:srgbClr val="4A4F66"/>
                </a:solidFill>
                <a:latin typeface="Segoe UI"/>
                <a:cs typeface="Segoe UI"/>
              </a:rPr>
              <a:t>Return rates stay flat at about 2.5% in every band, so deeper discounts buy no extra loyalty.</a:t>
            </a:r>
          </a:p>
          <a:p>
            <a:pPr algn="l">
              <a:lnSpc>
                <a:spcPct val="112000"/>
              </a:lnSpc>
              <a:spcAft>
                <a:spcPts val="400"/>
              </a:spcAft>
            </a:pPr>
            <a:r>
              <a:rPr sz="1400" b="0">
                <a:solidFill>
                  <a:srgbClr val="4A4F66"/>
                </a:solidFill>
                <a:latin typeface="Segoe UI"/>
                <a:cs typeface="Segoe UI"/>
              </a:rPr>
              <a:t>A 10% cap would have kept 1.84M EGP in the last 12 months, if the same lines still sold.</a:t>
            </a:r>
          </a:p>
        </p:txBody>
      </p:sp>
      <p:sp>
        <p:nvSpPr>
          <p:cNvPr id="13" name="Solution card"/>
          <p:cNvSpPr/>
          <p:nvPr/>
        </p:nvSpPr>
        <p:spPr>
          <a:xfrm>
            <a:off x="548640" y="4160520"/>
            <a:ext cx="4846320" cy="1783080"/>
          </a:xfrm>
          <a:prstGeom prst="roundRect">
            <a:avLst>
              <a:gd name="adj" fmla="val 5000"/>
            </a:avLst>
          </a:prstGeom>
          <a:solidFill>
            <a:srgbClr val="E9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atus Built"/>
          <p:cNvSpPr/>
          <p:nvPr/>
        </p:nvSpPr>
        <p:spPr>
          <a:xfrm>
            <a:off x="777240" y="4343400"/>
            <a:ext cx="772668" cy="310896"/>
          </a:xfrm>
          <a:prstGeom prst="roundRect">
            <a:avLst>
              <a:gd name="adj" fmla="val 50000"/>
            </a:avLst>
          </a:prstGeom>
          <a:solidFill>
            <a:srgbClr val="DDF3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0B6B45"/>
                </a:solidFill>
                <a:latin typeface="Segoe UI Semibold"/>
                <a:cs typeface="Segoe UI Semibold"/>
              </a:rPr>
              <a:t>Built</a:t>
            </a:r>
          </a:p>
        </p:txBody>
      </p:sp>
      <p:sp>
        <p:nvSpPr>
          <p:cNvPr id="15" name="Owner"/>
          <p:cNvSpPr txBox="1"/>
          <p:nvPr/>
        </p:nvSpPr>
        <p:spPr>
          <a:xfrm>
            <a:off x="1687067" y="4370832"/>
            <a:ext cx="3657600" cy="274320"/>
          </a:xfrm>
          <a:prstGeom prst="rect">
            <a:avLst/>
          </a:prstGeom>
          <a:noFill/>
        </p:spPr>
        <p:txBody>
          <a:bodyPr wrap="square" lIns="0" rIns="0" tIns="0" bIns="0" anchor="t">
            <a:spAutoFit/>
          </a:bodyPr>
          <a:lstStyle/>
          <a:p>
            <a:pPr algn="l">
              <a:lnSpc>
                <a:spcPct val="110000"/>
              </a:lnSpc>
              <a:spcAft>
                <a:spcPts val="600"/>
              </a:spcAft>
            </a:pPr>
            <a:r>
              <a:rPr sz="1100" b="0">
                <a:solidFill>
                  <a:srgbClr val="4A4F66"/>
                </a:solidFill>
                <a:latin typeface="Segoe UI Semibold"/>
                <a:cs typeface="Segoe UI Semibold"/>
              </a:rPr>
              <a:t>Who acts: Commercial director, Finance</a:t>
            </a:r>
          </a:p>
        </p:txBody>
      </p:sp>
      <p:pic>
        <p:nvPicPr>
          <p:cNvPr id="16" name="Picture 15" descr="logo_n8n.png"/>
          <p:cNvPicPr>
            <a:picLocks noChangeAspect="1"/>
          </p:cNvPicPr>
          <p:nvPr/>
        </p:nvPicPr>
        <p:blipFill>
          <a:blip r:embed="rId2"/>
          <a:stretch>
            <a:fillRect/>
          </a:stretch>
        </p:blipFill>
        <p:spPr>
          <a:xfrm>
            <a:off x="4919472" y="4334256"/>
            <a:ext cx="310896" cy="310896"/>
          </a:xfrm>
          <a:prstGeom prst="rect">
            <a:avLst/>
          </a:prstGeom>
        </p:spPr>
      </p:pic>
      <p:sp>
        <p:nvSpPr>
          <p:cNvPr id="17" name="Solution"/>
          <p:cNvSpPr txBox="1"/>
          <p:nvPr/>
        </p:nvSpPr>
        <p:spPr>
          <a:xfrm>
            <a:off x="777240" y="4773168"/>
            <a:ext cx="4434840" cy="1097280"/>
          </a:xfrm>
          <a:prstGeom prst="rect">
            <a:avLst/>
          </a:prstGeom>
          <a:noFill/>
        </p:spPr>
        <p:txBody>
          <a:bodyPr wrap="square" lIns="0" rIns="0" tIns="0" bIns="0" anchor="t">
            <a:spAutoFit/>
          </a:bodyPr>
          <a:lstStyle/>
          <a:p>
            <a:pPr algn="l">
              <a:lnSpc>
                <a:spcPct val="110000"/>
              </a:lnSpc>
              <a:spcAft>
                <a:spcPts val="300"/>
              </a:spcAft>
            </a:pPr>
            <a:r>
              <a:rPr sz="1400" b="0">
                <a:solidFill>
                  <a:srgbClr val="161A33"/>
                </a:solidFill>
                <a:latin typeface="Segoe UI"/>
                <a:cs typeface="Segoe UI"/>
              </a:rPr>
              <a:t>Discount guardrail: a daily check against the last 28 days, with an alert and one action.</a:t>
            </a:r>
          </a:p>
          <a:p>
            <a:pPr algn="l">
              <a:lnSpc>
                <a:spcPct val="110000"/>
              </a:lnSpc>
              <a:spcAft>
                <a:spcPts val="300"/>
              </a:spcAft>
            </a:pPr>
            <a:r>
              <a:rPr sz="1400" b="0">
                <a:solidFill>
                  <a:srgbClr val="161A33"/>
                </a:solidFill>
                <a:latin typeface="Segoe UI"/>
                <a:cs typeface="Segoe UI"/>
              </a:rPr>
              <a:t>Policy: discounts above 15% need sales-manager approval.</a:t>
            </a:r>
          </a:p>
        </p:txBody>
      </p:sp>
      <p:sp>
        <p:nvSpPr>
          <p:cNvPr id="18" name="Limitation"/>
          <p:cNvSpPr txBox="1"/>
          <p:nvPr/>
        </p:nvSpPr>
        <p:spPr>
          <a:xfrm>
            <a:off x="548640" y="6016752"/>
            <a:ext cx="4846320" cy="365760"/>
          </a:xfrm>
          <a:prstGeom prst="rect">
            <a:avLst/>
          </a:prstGeom>
          <a:noFill/>
        </p:spPr>
        <p:txBody>
          <a:bodyPr wrap="square" lIns="0" rIns="0" tIns="0" bIns="0" anchor="t">
            <a:spAutoFit/>
          </a:bodyPr>
          <a:lstStyle/>
          <a:p>
            <a:pPr algn="l">
              <a:lnSpc>
                <a:spcPct val="110000"/>
              </a:lnSpc>
              <a:spcAft>
                <a:spcPts val="600"/>
              </a:spcAft>
            </a:pPr>
            <a:r>
              <a:rPr sz="1000" b="1">
                <a:solidFill>
                  <a:srgbClr val="4A4F66"/>
                </a:solidFill>
                <a:latin typeface="Segoe UI Semibold"/>
                <a:cs typeface="Segoe UI Semibold"/>
              </a:rPr>
              <a:t>Limit  </a:t>
            </a:r>
            <a:r>
              <a:rPr sz="1000" b="0">
                <a:solidFill>
                  <a:srgbClr val="7D8297"/>
                </a:solidFill>
                <a:latin typeface="Segoe UI"/>
                <a:cs typeface="Segoe UI"/>
              </a:rPr>
              <a:t>no price experiment, so how much volume a cap would lose is unknown.</a:t>
            </a:r>
          </a:p>
        </p:txBody>
      </p:sp>
      <p:sp>
        <p:nvSpPr>
          <p:cNvPr id="19" name="Chart card"/>
          <p:cNvSpPr/>
          <p:nvPr/>
        </p:nvSpPr>
        <p:spPr>
          <a:xfrm>
            <a:off x="5760720" y="1783080"/>
            <a:ext cx="5879592" cy="4526280"/>
          </a:xfrm>
          <a:prstGeom prst="roundRect">
            <a:avLst>
              <a:gd name="adj" fmla="val 3000"/>
            </a:avLst>
          </a:prstGeom>
          <a:solidFill>
            <a:srgbClr val="FFFFFF"/>
          </a:solidFill>
          <a:ln w="12700">
            <a:solidFill>
              <a:srgbClr val="E1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hart title"/>
          <p:cNvSpPr txBox="1"/>
          <p:nvPr/>
        </p:nvSpPr>
        <p:spPr>
          <a:xfrm>
            <a:off x="6035040" y="1984248"/>
            <a:ext cx="5330952" cy="274320"/>
          </a:xfrm>
          <a:prstGeom prst="rect">
            <a:avLst/>
          </a:prstGeom>
          <a:noFill/>
        </p:spPr>
        <p:txBody>
          <a:bodyPr wrap="square" lIns="0" rIns="0" tIns="0" bIns="0" anchor="t">
            <a:spAutoFit/>
          </a:bodyPr>
          <a:lstStyle/>
          <a:p>
            <a:pPr algn="l">
              <a:lnSpc>
                <a:spcPct val="110000"/>
              </a:lnSpc>
              <a:spcAft>
                <a:spcPts val="600"/>
              </a:spcAft>
            </a:pPr>
            <a:r>
              <a:rPr sz="1400" b="0">
                <a:solidFill>
                  <a:srgbClr val="161A33"/>
                </a:solidFill>
                <a:latin typeface="Segoe UI Semibold"/>
                <a:cs typeface="Segoe UI Semibold"/>
              </a:rPr>
              <a:t>Gross margin by line discount</a:t>
            </a:r>
          </a:p>
        </p:txBody>
      </p:sp>
      <p:sp>
        <p:nvSpPr>
          <p:cNvPr id="21" name="Chart caption"/>
          <p:cNvSpPr txBox="1"/>
          <p:nvPr/>
        </p:nvSpPr>
        <p:spPr>
          <a:xfrm>
            <a:off x="6035040" y="2258568"/>
            <a:ext cx="5330952"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a:cs typeface="Segoe UI"/>
              </a:rPr>
              <a:t>All order lines, full history, %</a:t>
            </a:r>
          </a:p>
        </p:txBody>
      </p:sp>
      <p:graphicFrame>
        <p:nvGraphicFramePr>
          <p:cNvPr id="22" name="Chart 21"/>
          <p:cNvGraphicFramePr>
            <a:graphicFrameLocks noGrp="1"/>
          </p:cNvGraphicFramePr>
          <p:nvPr/>
        </p:nvGraphicFramePr>
        <p:xfrm>
          <a:off x="5897880" y="2606040"/>
          <a:ext cx="5605272" cy="3566160"/>
        </p:xfrm>
        <a:graphic>
          <a:graphicData uri="http://schemas.openxmlformats.org/drawingml/2006/chart">
            <c:chart xmlns:c="http://schemas.openxmlformats.org/drawingml/2006/chart" r:id="rId3"/>
          </a:graphicData>
        </a:graphic>
      </p:graphicFrame>
      <p:sp>
        <p:nvSpPr>
          <p:cNvPr id="23" name="Source"/>
          <p:cNvSpPr txBox="1"/>
          <p:nvPr/>
        </p:nvSpPr>
        <p:spPr>
          <a:xfrm>
            <a:off x="548640" y="6419088"/>
            <a:ext cx="9601200" cy="228600"/>
          </a:xfrm>
          <a:prstGeom prst="rect">
            <a:avLst/>
          </a:prstGeom>
          <a:noFill/>
        </p:spPr>
        <p:txBody>
          <a:bodyPr wrap="square" lIns="0" rIns="0" tIns="0" bIns="0" anchor="t">
            <a:spAutoFit/>
          </a:bodyPr>
          <a:lstStyle/>
          <a:p>
            <a:pPr algn="l">
              <a:lnSpc>
                <a:spcPct val="110000"/>
              </a:lnSpc>
              <a:spcAft>
                <a:spcPts val="600"/>
              </a:spcAft>
            </a:pPr>
            <a:r>
              <a:rPr sz="1000" b="0">
                <a:solidFill>
                  <a:srgbClr val="7D8297"/>
                </a:solidFill>
                <a:latin typeface="Segoe UI"/>
                <a:cs typeface="Segoe UI"/>
              </a:rPr>
              <a:t>Source: Cottonil sales extract, 19 Oct 2018 – 18 Oct 2026 · net before tax · EGP</a:t>
            </a:r>
          </a:p>
        </p:txBody>
      </p:sp>
      <p:sp>
        <p:nvSpPr>
          <p:cNvPr id="24" name="Slide number"/>
          <p:cNvSpPr txBox="1"/>
          <p:nvPr/>
        </p:nvSpPr>
        <p:spPr>
          <a:xfrm>
            <a:off x="10881360" y="6419088"/>
            <a:ext cx="758952" cy="228600"/>
          </a:xfrm>
          <a:prstGeom prst="rect">
            <a:avLst/>
          </a:prstGeom>
          <a:noFill/>
        </p:spPr>
        <p:txBody>
          <a:bodyPr wrap="square" lIns="0" rIns="0" tIns="0" bIns="0" anchor="t">
            <a:spAutoFit/>
          </a:bodyPr>
          <a:lstStyle/>
          <a:p>
            <a:pPr algn="r">
              <a:lnSpc>
                <a:spcPct val="110000"/>
              </a:lnSpc>
              <a:spcAft>
                <a:spcPts val="600"/>
              </a:spcAft>
            </a:pPr>
            <a:r>
              <a:rPr sz="1000" b="0">
                <a:solidFill>
                  <a:srgbClr val="7D8297"/>
                </a:solidFill>
                <a:latin typeface="Segoe UI"/>
                <a:cs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PROBLEM 5 OF 6</a:t>
            </a:r>
          </a:p>
        </p:txBody>
      </p:sp>
      <p:sp>
        <p:nvSpPr>
          <p:cNvPr id="3" name="Title"/>
          <p:cNvSpPr txBox="1"/>
          <p:nvPr/>
        </p:nvSpPr>
        <p:spPr>
          <a:xfrm>
            <a:off x="548640" y="658368"/>
            <a:ext cx="11064240" cy="914400"/>
          </a:xfrm>
          <a:prstGeom prst="rect">
            <a:avLst/>
          </a:prstGeom>
          <a:noFill/>
        </p:spPr>
        <p:txBody>
          <a:bodyPr wrap="square" lIns="0" rIns="0" tIns="0" bIns="0" anchor="t">
            <a:spAutoFit/>
          </a:bodyPr>
          <a:lstStyle/>
          <a:p>
            <a:pPr algn="l">
              <a:lnSpc>
                <a:spcPct val="100000"/>
              </a:lnSpc>
              <a:spcAft>
                <a:spcPts val="600"/>
              </a:spcAft>
            </a:pPr>
            <a:r>
              <a:rPr sz="3000" b="0">
                <a:solidFill>
                  <a:srgbClr val="161A33"/>
                </a:solidFill>
                <a:latin typeface="Segoe UI Semibold"/>
                <a:cs typeface="Segoe UI Semibold"/>
              </a:rPr>
              <a:t>Profit grew because costs grew slower than sales</a:t>
            </a:r>
          </a:p>
        </p:txBody>
      </p:sp>
      <p:sp>
        <p:nvSpPr>
          <p:cNvPr id="4" name="Progress"/>
          <p:cNvSpPr/>
          <p:nvPr/>
        </p:nvSpPr>
        <p:spPr>
          <a:xfrm>
            <a:off x="9994392"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ogress"/>
          <p:cNvSpPr/>
          <p:nvPr/>
        </p:nvSpPr>
        <p:spPr>
          <a:xfrm>
            <a:off x="10277856"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rogress"/>
          <p:cNvSpPr/>
          <p:nvPr/>
        </p:nvSpPr>
        <p:spPr>
          <a:xfrm>
            <a:off x="10561319"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p:cNvSpPr/>
          <p:nvPr/>
        </p:nvSpPr>
        <p:spPr>
          <a:xfrm>
            <a:off x="10844784"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rogress"/>
          <p:cNvSpPr/>
          <p:nvPr/>
        </p:nvSpPr>
        <p:spPr>
          <a:xfrm>
            <a:off x="11128248"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rogress"/>
          <p:cNvSpPr/>
          <p:nvPr/>
        </p:nvSpPr>
        <p:spPr>
          <a:xfrm>
            <a:off x="11411712" y="457200"/>
            <a:ext cx="228600" cy="73152"/>
          </a:xfrm>
          <a:prstGeom prst="roundRect">
            <a:avLst>
              <a:gd name="adj" fmla="val 50000"/>
            </a:avLst>
          </a:prstGeom>
          <a:solidFill>
            <a:srgbClr val="E1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Key figure"/>
          <p:cNvSpPr txBox="1"/>
          <p:nvPr/>
        </p:nvSpPr>
        <p:spPr>
          <a:xfrm>
            <a:off x="548640" y="1783080"/>
            <a:ext cx="4846320" cy="685800"/>
          </a:xfrm>
          <a:prstGeom prst="rect">
            <a:avLst/>
          </a:prstGeom>
          <a:noFill/>
        </p:spPr>
        <p:txBody>
          <a:bodyPr wrap="square" lIns="0" rIns="0" tIns="0" bIns="0" anchor="t">
            <a:spAutoFit/>
          </a:bodyPr>
          <a:lstStyle/>
          <a:p>
            <a:pPr algn="l">
              <a:lnSpc>
                <a:spcPct val="90000"/>
              </a:lnSpc>
              <a:spcAft>
                <a:spcPts val="600"/>
              </a:spcAft>
            </a:pPr>
            <a:r>
              <a:rPr sz="4000" b="0">
                <a:solidFill>
                  <a:srgbClr val="26337A"/>
                </a:solidFill>
                <a:latin typeface="Segoe UI Semibold"/>
                <a:cs typeface="Segoe UI Semibold"/>
              </a:rPr>
              <a:t>29.1% → 13.6%</a:t>
            </a:r>
          </a:p>
        </p:txBody>
      </p:sp>
      <p:sp>
        <p:nvSpPr>
          <p:cNvPr id="11" name="Key figure label"/>
          <p:cNvSpPr txBox="1"/>
          <p:nvPr/>
        </p:nvSpPr>
        <p:spPr>
          <a:xfrm>
            <a:off x="548640" y="2487168"/>
            <a:ext cx="4846320" cy="320040"/>
          </a:xfrm>
          <a:prstGeom prst="rect">
            <a:avLst/>
          </a:prstGeom>
          <a:noFill/>
        </p:spPr>
        <p:txBody>
          <a:bodyPr wrap="square" lIns="0" rIns="0" tIns="0" bIns="0" anchor="t">
            <a:spAutoFit/>
          </a:bodyPr>
          <a:lstStyle/>
          <a:p>
            <a:pPr algn="l">
              <a:lnSpc>
                <a:spcPct val="110000"/>
              </a:lnSpc>
              <a:spcAft>
                <a:spcPts val="600"/>
              </a:spcAft>
            </a:pPr>
            <a:r>
              <a:rPr sz="1200" b="0">
                <a:solidFill>
                  <a:srgbClr val="7D8297"/>
                </a:solidFill>
                <a:latin typeface="Segoe UI"/>
                <a:cs typeface="Segoe UI"/>
              </a:rPr>
              <a:t>operating costs as % of net revenue, 2019 → 2025</a:t>
            </a:r>
          </a:p>
        </p:txBody>
      </p:sp>
      <p:sp>
        <p:nvSpPr>
          <p:cNvPr id="12" name="Why it matters"/>
          <p:cNvSpPr txBox="1"/>
          <p:nvPr/>
        </p:nvSpPr>
        <p:spPr>
          <a:xfrm>
            <a:off x="548640" y="2926080"/>
            <a:ext cx="4846320" cy="1143000"/>
          </a:xfrm>
          <a:prstGeom prst="rect">
            <a:avLst/>
          </a:prstGeom>
          <a:noFill/>
        </p:spPr>
        <p:txBody>
          <a:bodyPr wrap="square" lIns="0" rIns="0" tIns="0" bIns="0" anchor="t">
            <a:spAutoFit/>
          </a:bodyPr>
          <a:lstStyle/>
          <a:p>
            <a:pPr algn="l">
              <a:lnSpc>
                <a:spcPct val="112000"/>
              </a:lnSpc>
              <a:spcAft>
                <a:spcPts val="400"/>
              </a:spcAft>
            </a:pPr>
            <a:r>
              <a:rPr sz="1400" b="0">
                <a:solidFill>
                  <a:srgbClr val="4A4F66"/>
                </a:solidFill>
                <a:latin typeface="Segoe UI"/>
                <a:cs typeface="Segoe UI"/>
              </a:rPr>
              <a:t>Gross margin stayed near 38.3% every year, so the higher profit came from costs, not from pricing.</a:t>
            </a:r>
          </a:p>
          <a:p>
            <a:pPr algn="l">
              <a:lnSpc>
                <a:spcPct val="112000"/>
              </a:lnSpc>
              <a:spcAft>
                <a:spcPts val="400"/>
              </a:spcAft>
            </a:pPr>
            <a:r>
              <a:rPr sz="1400" b="0">
                <a:solidFill>
                  <a:srgbClr val="4A4F66"/>
                </a:solidFill>
                <a:latin typeface="Segoe UI"/>
                <a:cs typeface="Segoe UI"/>
              </a:rPr>
              <a:t>It holds only while revenue keeps outgrowing costs.</a:t>
            </a:r>
          </a:p>
        </p:txBody>
      </p:sp>
      <p:sp>
        <p:nvSpPr>
          <p:cNvPr id="13" name="Solution card"/>
          <p:cNvSpPr/>
          <p:nvPr/>
        </p:nvSpPr>
        <p:spPr>
          <a:xfrm>
            <a:off x="548640" y="4160520"/>
            <a:ext cx="4846320" cy="1783080"/>
          </a:xfrm>
          <a:prstGeom prst="roundRect">
            <a:avLst>
              <a:gd name="adj" fmla="val 5000"/>
            </a:avLst>
          </a:prstGeom>
          <a:solidFill>
            <a:srgbClr val="E9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atus Check first"/>
          <p:cNvSpPr/>
          <p:nvPr/>
        </p:nvSpPr>
        <p:spPr>
          <a:xfrm>
            <a:off x="777240" y="4343400"/>
            <a:ext cx="1348740" cy="310896"/>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8A5A00"/>
                </a:solidFill>
                <a:latin typeface="Segoe UI Semibold"/>
                <a:cs typeface="Segoe UI Semibold"/>
              </a:rPr>
              <a:t>Check first</a:t>
            </a:r>
          </a:p>
        </p:txBody>
      </p:sp>
      <p:sp>
        <p:nvSpPr>
          <p:cNvPr id="15" name="Owner"/>
          <p:cNvSpPr txBox="1"/>
          <p:nvPr/>
        </p:nvSpPr>
        <p:spPr>
          <a:xfrm>
            <a:off x="2263140" y="4370832"/>
            <a:ext cx="3657600" cy="274320"/>
          </a:xfrm>
          <a:prstGeom prst="rect">
            <a:avLst/>
          </a:prstGeom>
          <a:noFill/>
        </p:spPr>
        <p:txBody>
          <a:bodyPr wrap="square" lIns="0" rIns="0" tIns="0" bIns="0" anchor="t">
            <a:spAutoFit/>
          </a:bodyPr>
          <a:lstStyle/>
          <a:p>
            <a:pPr algn="l">
              <a:lnSpc>
                <a:spcPct val="110000"/>
              </a:lnSpc>
              <a:spcAft>
                <a:spcPts val="600"/>
              </a:spcAft>
            </a:pPr>
            <a:r>
              <a:rPr sz="1100" b="0">
                <a:solidFill>
                  <a:srgbClr val="4A4F66"/>
                </a:solidFill>
                <a:latin typeface="Segoe UI Semibold"/>
                <a:cs typeface="Segoe UI Semibold"/>
              </a:rPr>
              <a:t>Who acts: CFO</a:t>
            </a:r>
          </a:p>
        </p:txBody>
      </p:sp>
      <p:sp>
        <p:nvSpPr>
          <p:cNvPr id="16" name="Solution"/>
          <p:cNvSpPr txBox="1"/>
          <p:nvPr/>
        </p:nvSpPr>
        <p:spPr>
          <a:xfrm>
            <a:off x="777240" y="4773168"/>
            <a:ext cx="4434840" cy="1097280"/>
          </a:xfrm>
          <a:prstGeom prst="rect">
            <a:avLst/>
          </a:prstGeom>
          <a:noFill/>
        </p:spPr>
        <p:txBody>
          <a:bodyPr wrap="square" lIns="0" rIns="0" tIns="0" bIns="0" anchor="t">
            <a:spAutoFit/>
          </a:bodyPr>
          <a:lstStyle/>
          <a:p>
            <a:pPr algn="l">
              <a:lnSpc>
                <a:spcPct val="110000"/>
              </a:lnSpc>
              <a:spcAft>
                <a:spcPts val="300"/>
              </a:spcAft>
            </a:pPr>
            <a:r>
              <a:rPr sz="1400" b="0">
                <a:solidFill>
                  <a:srgbClr val="161A33"/>
                </a:solidFill>
                <a:latin typeface="Segoe UI"/>
                <a:cs typeface="Segoe UI"/>
              </a:rPr>
              <a:t>Payroll covers 185 of 640 staff in 2025. If all were paid, the 2025 EBITDA proxy would turn negative.</a:t>
            </a:r>
          </a:p>
          <a:p>
            <a:pPr algn="l">
              <a:lnSpc>
                <a:spcPct val="110000"/>
              </a:lnSpc>
              <a:spcAft>
                <a:spcPts val="300"/>
              </a:spcAft>
            </a:pPr>
            <a:r>
              <a:rPr sz="1400" b="0">
                <a:solidFill>
                  <a:srgbClr val="161A33"/>
                </a:solidFill>
                <a:latin typeface="Segoe UI"/>
                <a:cs typeface="Segoe UI"/>
              </a:rPr>
              <a:t>Confirm real headcount before quoting any profit figure.</a:t>
            </a:r>
          </a:p>
        </p:txBody>
      </p:sp>
      <p:sp>
        <p:nvSpPr>
          <p:cNvPr id="17" name="Limitation"/>
          <p:cNvSpPr txBox="1"/>
          <p:nvPr/>
        </p:nvSpPr>
        <p:spPr>
          <a:xfrm>
            <a:off x="548640" y="6016752"/>
            <a:ext cx="4846320" cy="365760"/>
          </a:xfrm>
          <a:prstGeom prst="rect">
            <a:avLst/>
          </a:prstGeom>
          <a:noFill/>
        </p:spPr>
        <p:txBody>
          <a:bodyPr wrap="square" lIns="0" rIns="0" tIns="0" bIns="0" anchor="t">
            <a:spAutoFit/>
          </a:bodyPr>
          <a:lstStyle/>
          <a:p>
            <a:pPr algn="l">
              <a:lnSpc>
                <a:spcPct val="110000"/>
              </a:lnSpc>
              <a:spcAft>
                <a:spcPts val="600"/>
              </a:spcAft>
            </a:pPr>
            <a:r>
              <a:rPr sz="1000" b="1">
                <a:solidFill>
                  <a:srgbClr val="4A4F66"/>
                </a:solidFill>
                <a:latin typeface="Segoe UI Semibold"/>
                <a:cs typeface="Segoe UI Semibold"/>
              </a:rPr>
              <a:t>Limit  </a:t>
            </a:r>
            <a:r>
              <a:rPr sz="1000" b="0">
                <a:solidFill>
                  <a:srgbClr val="7D8297"/>
                </a:solidFill>
                <a:latin typeface="Segoe UI"/>
                <a:cs typeface="Segoe UI"/>
              </a:rPr>
              <a:t>payroll and campaign spend may sit outside these tables.</a:t>
            </a:r>
          </a:p>
        </p:txBody>
      </p:sp>
      <p:sp>
        <p:nvSpPr>
          <p:cNvPr id="18" name="Chart card"/>
          <p:cNvSpPr/>
          <p:nvPr/>
        </p:nvSpPr>
        <p:spPr>
          <a:xfrm>
            <a:off x="5760720" y="1783080"/>
            <a:ext cx="5879592" cy="4526280"/>
          </a:xfrm>
          <a:prstGeom prst="roundRect">
            <a:avLst>
              <a:gd name="adj" fmla="val 3000"/>
            </a:avLst>
          </a:prstGeom>
          <a:solidFill>
            <a:srgbClr val="FFFFFF"/>
          </a:solidFill>
          <a:ln w="12700">
            <a:solidFill>
              <a:srgbClr val="E1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hart title"/>
          <p:cNvSpPr txBox="1"/>
          <p:nvPr/>
        </p:nvSpPr>
        <p:spPr>
          <a:xfrm>
            <a:off x="6035040" y="1984248"/>
            <a:ext cx="5330952" cy="274320"/>
          </a:xfrm>
          <a:prstGeom prst="rect">
            <a:avLst/>
          </a:prstGeom>
          <a:noFill/>
        </p:spPr>
        <p:txBody>
          <a:bodyPr wrap="square" lIns="0" rIns="0" tIns="0" bIns="0" anchor="t">
            <a:spAutoFit/>
          </a:bodyPr>
          <a:lstStyle/>
          <a:p>
            <a:pPr algn="l">
              <a:lnSpc>
                <a:spcPct val="110000"/>
              </a:lnSpc>
              <a:spcAft>
                <a:spcPts val="600"/>
              </a:spcAft>
            </a:pPr>
            <a:r>
              <a:rPr sz="1400" b="0">
                <a:solidFill>
                  <a:srgbClr val="161A33"/>
                </a:solidFill>
                <a:latin typeface="Segoe UI Semibold"/>
                <a:cs typeface="Segoe UI Semibold"/>
              </a:rPr>
              <a:t>Operating costs and EBITDA proxy</a:t>
            </a:r>
          </a:p>
        </p:txBody>
      </p:sp>
      <p:sp>
        <p:nvSpPr>
          <p:cNvPr id="20" name="Chart caption"/>
          <p:cNvSpPr txBox="1"/>
          <p:nvPr/>
        </p:nvSpPr>
        <p:spPr>
          <a:xfrm>
            <a:off x="6035040" y="2258568"/>
            <a:ext cx="5330952"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a:cs typeface="Segoe UI"/>
              </a:rPr>
              <a:t>% of net revenue, calendar years</a:t>
            </a:r>
          </a:p>
        </p:txBody>
      </p:sp>
      <p:graphicFrame>
        <p:nvGraphicFramePr>
          <p:cNvPr id="21" name="Chart 20"/>
          <p:cNvGraphicFramePr>
            <a:graphicFrameLocks noGrp="1"/>
          </p:cNvGraphicFramePr>
          <p:nvPr/>
        </p:nvGraphicFramePr>
        <p:xfrm>
          <a:off x="5897880" y="2606040"/>
          <a:ext cx="5605272" cy="3566160"/>
        </p:xfrm>
        <a:graphic>
          <a:graphicData uri="http://schemas.openxmlformats.org/drawingml/2006/chart">
            <c:chart xmlns:c="http://schemas.openxmlformats.org/drawingml/2006/chart" r:id="rId2"/>
          </a:graphicData>
        </a:graphic>
      </p:graphicFrame>
      <p:sp>
        <p:nvSpPr>
          <p:cNvPr id="22" name="Source"/>
          <p:cNvSpPr txBox="1"/>
          <p:nvPr/>
        </p:nvSpPr>
        <p:spPr>
          <a:xfrm>
            <a:off x="548640" y="6419088"/>
            <a:ext cx="9601200" cy="228600"/>
          </a:xfrm>
          <a:prstGeom prst="rect">
            <a:avLst/>
          </a:prstGeom>
          <a:noFill/>
        </p:spPr>
        <p:txBody>
          <a:bodyPr wrap="square" lIns="0" rIns="0" tIns="0" bIns="0" anchor="t">
            <a:spAutoFit/>
          </a:bodyPr>
          <a:lstStyle/>
          <a:p>
            <a:pPr algn="l">
              <a:lnSpc>
                <a:spcPct val="110000"/>
              </a:lnSpc>
              <a:spcAft>
                <a:spcPts val="600"/>
              </a:spcAft>
            </a:pPr>
            <a:r>
              <a:rPr sz="1000" b="0">
                <a:solidFill>
                  <a:srgbClr val="7D8297"/>
                </a:solidFill>
                <a:latin typeface="Segoe UI"/>
                <a:cs typeface="Segoe UI"/>
              </a:rPr>
              <a:t>Source: Cottonil sales extract, 19 Oct 2018 – 18 Oct 2026 · net before tax · EGP</a:t>
            </a:r>
          </a:p>
        </p:txBody>
      </p:sp>
      <p:sp>
        <p:nvSpPr>
          <p:cNvPr id="23" name="Slide number"/>
          <p:cNvSpPr txBox="1"/>
          <p:nvPr/>
        </p:nvSpPr>
        <p:spPr>
          <a:xfrm>
            <a:off x="10881360" y="6419088"/>
            <a:ext cx="758952" cy="228600"/>
          </a:xfrm>
          <a:prstGeom prst="rect">
            <a:avLst/>
          </a:prstGeom>
          <a:noFill/>
        </p:spPr>
        <p:txBody>
          <a:bodyPr wrap="square" lIns="0" rIns="0" tIns="0" bIns="0" anchor="t">
            <a:spAutoFit/>
          </a:bodyPr>
          <a:lstStyle/>
          <a:p>
            <a:pPr algn="r">
              <a:lnSpc>
                <a:spcPct val="110000"/>
              </a:lnSpc>
              <a:spcAft>
                <a:spcPts val="600"/>
              </a:spcAft>
            </a:pPr>
            <a:r>
              <a:rPr sz="1000" b="0">
                <a:solidFill>
                  <a:srgbClr val="7D8297"/>
                </a:solidFill>
                <a:latin typeface="Segoe UI"/>
                <a:cs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PROBLEM 6 OF 6</a:t>
            </a:r>
          </a:p>
        </p:txBody>
      </p:sp>
      <p:sp>
        <p:nvSpPr>
          <p:cNvPr id="3" name="Title"/>
          <p:cNvSpPr txBox="1"/>
          <p:nvPr/>
        </p:nvSpPr>
        <p:spPr>
          <a:xfrm>
            <a:off x="548640" y="658368"/>
            <a:ext cx="11064240" cy="914400"/>
          </a:xfrm>
          <a:prstGeom prst="rect">
            <a:avLst/>
          </a:prstGeom>
          <a:noFill/>
        </p:spPr>
        <p:txBody>
          <a:bodyPr wrap="square" lIns="0" rIns="0" tIns="0" bIns="0" anchor="t">
            <a:spAutoFit/>
          </a:bodyPr>
          <a:lstStyle/>
          <a:p>
            <a:pPr algn="l">
              <a:lnSpc>
                <a:spcPct val="100000"/>
              </a:lnSpc>
              <a:spcAft>
                <a:spcPts val="600"/>
              </a:spcAft>
            </a:pPr>
            <a:r>
              <a:rPr sz="3000" b="0">
                <a:solidFill>
                  <a:srgbClr val="161A33"/>
                </a:solidFill>
                <a:latin typeface="Segoe UI Semibold"/>
                <a:cs typeface="Segoe UI Semibold"/>
              </a:rPr>
              <a:t>One in five orders has no customer attached</a:t>
            </a:r>
          </a:p>
        </p:txBody>
      </p:sp>
      <p:sp>
        <p:nvSpPr>
          <p:cNvPr id="4" name="Progress"/>
          <p:cNvSpPr/>
          <p:nvPr/>
        </p:nvSpPr>
        <p:spPr>
          <a:xfrm>
            <a:off x="9994392"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ogress"/>
          <p:cNvSpPr/>
          <p:nvPr/>
        </p:nvSpPr>
        <p:spPr>
          <a:xfrm>
            <a:off x="10277856"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rogress"/>
          <p:cNvSpPr/>
          <p:nvPr/>
        </p:nvSpPr>
        <p:spPr>
          <a:xfrm>
            <a:off x="10561319"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p:cNvSpPr/>
          <p:nvPr/>
        </p:nvSpPr>
        <p:spPr>
          <a:xfrm>
            <a:off x="10844784"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rogress"/>
          <p:cNvSpPr/>
          <p:nvPr/>
        </p:nvSpPr>
        <p:spPr>
          <a:xfrm>
            <a:off x="11128248"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rogress"/>
          <p:cNvSpPr/>
          <p:nvPr/>
        </p:nvSpPr>
        <p:spPr>
          <a:xfrm>
            <a:off x="11411712" y="457200"/>
            <a:ext cx="228600" cy="73152"/>
          </a:xfrm>
          <a:prstGeom prst="roundRect">
            <a:avLst>
              <a:gd name="adj" fmla="val 50000"/>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Key figure"/>
          <p:cNvSpPr txBox="1"/>
          <p:nvPr/>
        </p:nvSpPr>
        <p:spPr>
          <a:xfrm>
            <a:off x="548640" y="1783080"/>
            <a:ext cx="4846320" cy="685800"/>
          </a:xfrm>
          <a:prstGeom prst="rect">
            <a:avLst/>
          </a:prstGeom>
          <a:noFill/>
        </p:spPr>
        <p:txBody>
          <a:bodyPr wrap="square" lIns="0" rIns="0" tIns="0" bIns="0" anchor="t">
            <a:spAutoFit/>
          </a:bodyPr>
          <a:lstStyle/>
          <a:p>
            <a:pPr algn="l">
              <a:lnSpc>
                <a:spcPct val="90000"/>
              </a:lnSpc>
              <a:spcAft>
                <a:spcPts val="600"/>
              </a:spcAft>
            </a:pPr>
            <a:r>
              <a:rPr sz="4000" b="0">
                <a:solidFill>
                  <a:srgbClr val="26337A"/>
                </a:solidFill>
                <a:latin typeface="Segoe UI Semibold"/>
                <a:cs typeface="Segoe UI Semibold"/>
              </a:rPr>
              <a:t>19.1%</a:t>
            </a:r>
          </a:p>
        </p:txBody>
      </p:sp>
      <p:sp>
        <p:nvSpPr>
          <p:cNvPr id="11" name="Key figure label"/>
          <p:cNvSpPr txBox="1"/>
          <p:nvPr/>
        </p:nvSpPr>
        <p:spPr>
          <a:xfrm>
            <a:off x="548640" y="2487168"/>
            <a:ext cx="4846320" cy="320040"/>
          </a:xfrm>
          <a:prstGeom prst="rect">
            <a:avLst/>
          </a:prstGeom>
          <a:noFill/>
        </p:spPr>
        <p:txBody>
          <a:bodyPr wrap="square" lIns="0" rIns="0" tIns="0" bIns="0" anchor="t">
            <a:spAutoFit/>
          </a:bodyPr>
          <a:lstStyle/>
          <a:p>
            <a:pPr algn="l">
              <a:lnSpc>
                <a:spcPct val="110000"/>
              </a:lnSpc>
              <a:spcAft>
                <a:spcPts val="600"/>
              </a:spcAft>
            </a:pPr>
            <a:r>
              <a:rPr sz="1200" b="0">
                <a:solidFill>
                  <a:srgbClr val="7D8297"/>
                </a:solidFill>
                <a:latin typeface="Segoe UI"/>
                <a:cs typeface="Segoe UI"/>
              </a:rPr>
              <a:t>of orders (102,961) have no customer ID</a:t>
            </a:r>
          </a:p>
        </p:txBody>
      </p:sp>
      <p:sp>
        <p:nvSpPr>
          <p:cNvPr id="12" name="Why it matters"/>
          <p:cNvSpPr txBox="1"/>
          <p:nvPr/>
        </p:nvSpPr>
        <p:spPr>
          <a:xfrm>
            <a:off x="548640" y="2926080"/>
            <a:ext cx="4846320" cy="1143000"/>
          </a:xfrm>
          <a:prstGeom prst="rect">
            <a:avLst/>
          </a:prstGeom>
          <a:noFill/>
        </p:spPr>
        <p:txBody>
          <a:bodyPr wrap="square" lIns="0" rIns="0" tIns="0" bIns="0" anchor="t">
            <a:spAutoFit/>
          </a:bodyPr>
          <a:lstStyle/>
          <a:p>
            <a:pPr algn="l">
              <a:lnSpc>
                <a:spcPct val="112000"/>
              </a:lnSpc>
              <a:spcAft>
                <a:spcPts val="400"/>
              </a:spcAft>
            </a:pPr>
            <a:r>
              <a:rPr sz="1400" b="0">
                <a:solidFill>
                  <a:srgbClr val="4A4F66"/>
                </a:solidFill>
                <a:latin typeface="Segoe UI"/>
                <a:cs typeface="Segoe UI"/>
              </a:rPr>
              <a:t>The share is the same in every channel and every year, and these orders are worth the same.</a:t>
            </a:r>
          </a:p>
          <a:p>
            <a:pPr algn="l">
              <a:lnSpc>
                <a:spcPct val="112000"/>
              </a:lnSpc>
              <a:spcAft>
                <a:spcPts val="400"/>
              </a:spcAft>
            </a:pPr>
            <a:r>
              <a:rPr sz="1400" b="0">
                <a:solidFill>
                  <a:srgbClr val="4A4F66"/>
                </a:solidFill>
                <a:latin typeface="Segoe UI"/>
                <a:cs typeface="Segoe UI"/>
              </a:rPr>
              <a:t>These buyers cannot be thanked, reached again, or counted as returning.</a:t>
            </a:r>
          </a:p>
        </p:txBody>
      </p:sp>
      <p:sp>
        <p:nvSpPr>
          <p:cNvPr id="13" name="Solution card"/>
          <p:cNvSpPr/>
          <p:nvPr/>
        </p:nvSpPr>
        <p:spPr>
          <a:xfrm>
            <a:off x="548640" y="4160520"/>
            <a:ext cx="4846320" cy="1783080"/>
          </a:xfrm>
          <a:prstGeom prst="roundRect">
            <a:avLst>
              <a:gd name="adj" fmla="val 5000"/>
            </a:avLst>
          </a:prstGeom>
          <a:solidFill>
            <a:srgbClr val="E9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atus Recommend"/>
          <p:cNvSpPr/>
          <p:nvPr/>
        </p:nvSpPr>
        <p:spPr>
          <a:xfrm>
            <a:off x="777240" y="4343400"/>
            <a:ext cx="1156716" cy="310896"/>
          </a:xfrm>
          <a:prstGeom prst="roundRect">
            <a:avLst>
              <a:gd name="adj" fmla="val 50000"/>
            </a:avLst>
          </a:prstGeom>
          <a:solidFill>
            <a:srgbClr val="E3EE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F5FAF"/>
                </a:solidFill>
                <a:latin typeface="Segoe UI Semibold"/>
                <a:cs typeface="Segoe UI Semibold"/>
              </a:rPr>
              <a:t>Recommend</a:t>
            </a:r>
          </a:p>
        </p:txBody>
      </p:sp>
      <p:sp>
        <p:nvSpPr>
          <p:cNvPr id="15" name="Owner"/>
          <p:cNvSpPr txBox="1"/>
          <p:nvPr/>
        </p:nvSpPr>
        <p:spPr>
          <a:xfrm>
            <a:off x="2071115" y="4370832"/>
            <a:ext cx="3657600" cy="274320"/>
          </a:xfrm>
          <a:prstGeom prst="rect">
            <a:avLst/>
          </a:prstGeom>
          <a:noFill/>
        </p:spPr>
        <p:txBody>
          <a:bodyPr wrap="square" lIns="0" rIns="0" tIns="0" bIns="0" anchor="t">
            <a:spAutoFit/>
          </a:bodyPr>
          <a:lstStyle/>
          <a:p>
            <a:pPr algn="l">
              <a:lnSpc>
                <a:spcPct val="110000"/>
              </a:lnSpc>
              <a:spcAft>
                <a:spcPts val="600"/>
              </a:spcAft>
            </a:pPr>
            <a:r>
              <a:rPr sz="1100" b="0">
                <a:solidFill>
                  <a:srgbClr val="4A4F66"/>
                </a:solidFill>
                <a:latin typeface="Segoe UI Semibold"/>
                <a:cs typeface="Segoe UI Semibold"/>
              </a:rPr>
              <a:t>Who acts: Retail operations</a:t>
            </a:r>
          </a:p>
        </p:txBody>
      </p:sp>
      <p:sp>
        <p:nvSpPr>
          <p:cNvPr id="16" name="Solution"/>
          <p:cNvSpPr txBox="1"/>
          <p:nvPr/>
        </p:nvSpPr>
        <p:spPr>
          <a:xfrm>
            <a:off x="777240" y="4773168"/>
            <a:ext cx="4434840" cy="1097280"/>
          </a:xfrm>
          <a:prstGeom prst="rect">
            <a:avLst/>
          </a:prstGeom>
          <a:noFill/>
        </p:spPr>
        <p:txBody>
          <a:bodyPr wrap="square" lIns="0" rIns="0" tIns="0" bIns="0" anchor="t">
            <a:spAutoFit/>
          </a:bodyPr>
          <a:lstStyle/>
          <a:p>
            <a:pPr algn="l">
              <a:lnSpc>
                <a:spcPct val="110000"/>
              </a:lnSpc>
              <a:spcAft>
                <a:spcPts val="300"/>
              </a:spcAft>
            </a:pPr>
            <a:r>
              <a:rPr sz="1400" b="0">
                <a:solidFill>
                  <a:srgbClr val="161A33"/>
                </a:solidFill>
                <a:latin typeface="Segoe UI"/>
                <a:cs typeface="Segoe UI"/>
              </a:rPr>
              <a:t>Ask for a phone number at the till (e-receipt or loyalty points).</a:t>
            </a:r>
          </a:p>
          <a:p>
            <a:pPr algn="l">
              <a:lnSpc>
                <a:spcPct val="110000"/>
              </a:lnSpc>
              <a:spcAft>
                <a:spcPts val="300"/>
              </a:spcAft>
            </a:pPr>
            <a:r>
              <a:rPr sz="1400" b="0">
                <a:solidFill>
                  <a:srgbClr val="161A33"/>
                </a:solidFill>
                <a:latin typeface="Segoe UI"/>
                <a:cs typeface="Segoe UI"/>
              </a:rPr>
              <a:t>Target: halve the anonymous share in 6 months; track it in the weekly digest.</a:t>
            </a:r>
          </a:p>
        </p:txBody>
      </p:sp>
      <p:sp>
        <p:nvSpPr>
          <p:cNvPr id="17" name="Limitation"/>
          <p:cNvSpPr txBox="1"/>
          <p:nvPr/>
        </p:nvSpPr>
        <p:spPr>
          <a:xfrm>
            <a:off x="548640" y="6016752"/>
            <a:ext cx="4846320" cy="365760"/>
          </a:xfrm>
          <a:prstGeom prst="rect">
            <a:avLst/>
          </a:prstGeom>
          <a:noFill/>
        </p:spPr>
        <p:txBody>
          <a:bodyPr wrap="square" lIns="0" rIns="0" tIns="0" bIns="0" anchor="t">
            <a:spAutoFit/>
          </a:bodyPr>
          <a:lstStyle/>
          <a:p>
            <a:pPr algn="l">
              <a:lnSpc>
                <a:spcPct val="110000"/>
              </a:lnSpc>
              <a:spcAft>
                <a:spcPts val="600"/>
              </a:spcAft>
            </a:pPr>
            <a:r>
              <a:rPr sz="1000" b="1">
                <a:solidFill>
                  <a:srgbClr val="4A4F66"/>
                </a:solidFill>
                <a:latin typeface="Segoe UI Semibold"/>
                <a:cs typeface="Segoe UI Semibold"/>
              </a:rPr>
              <a:t>Limit  </a:t>
            </a:r>
            <a:r>
              <a:rPr sz="1000" b="0">
                <a:solidFill>
                  <a:srgbClr val="7D8297"/>
                </a:solidFill>
                <a:latin typeface="Segoe UI"/>
                <a:cs typeface="Segoe UI"/>
              </a:rPr>
              <a:t>every customer figure in this deck undercounts by about 19%.</a:t>
            </a:r>
          </a:p>
        </p:txBody>
      </p:sp>
      <p:sp>
        <p:nvSpPr>
          <p:cNvPr id="18" name="Chart card"/>
          <p:cNvSpPr/>
          <p:nvPr/>
        </p:nvSpPr>
        <p:spPr>
          <a:xfrm>
            <a:off x="5760720" y="1783080"/>
            <a:ext cx="5879592" cy="4526280"/>
          </a:xfrm>
          <a:prstGeom prst="roundRect">
            <a:avLst>
              <a:gd name="adj" fmla="val 3000"/>
            </a:avLst>
          </a:prstGeom>
          <a:solidFill>
            <a:srgbClr val="FFFFFF"/>
          </a:solidFill>
          <a:ln w="12700">
            <a:solidFill>
              <a:srgbClr val="E1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hart title"/>
          <p:cNvSpPr txBox="1"/>
          <p:nvPr/>
        </p:nvSpPr>
        <p:spPr>
          <a:xfrm>
            <a:off x="6035040" y="1984248"/>
            <a:ext cx="5330952" cy="274320"/>
          </a:xfrm>
          <a:prstGeom prst="rect">
            <a:avLst/>
          </a:prstGeom>
          <a:noFill/>
        </p:spPr>
        <p:txBody>
          <a:bodyPr wrap="square" lIns="0" rIns="0" tIns="0" bIns="0" anchor="t">
            <a:spAutoFit/>
          </a:bodyPr>
          <a:lstStyle/>
          <a:p>
            <a:pPr algn="l">
              <a:lnSpc>
                <a:spcPct val="110000"/>
              </a:lnSpc>
              <a:spcAft>
                <a:spcPts val="600"/>
              </a:spcAft>
            </a:pPr>
            <a:r>
              <a:rPr sz="1400" b="0">
                <a:solidFill>
                  <a:srgbClr val="161A33"/>
                </a:solidFill>
                <a:latin typeface="Segoe UI Semibold"/>
                <a:cs typeface="Segoe UI Semibold"/>
              </a:rPr>
              <a:t>Orders with and without a customer attached</a:t>
            </a:r>
          </a:p>
        </p:txBody>
      </p:sp>
      <p:sp>
        <p:nvSpPr>
          <p:cNvPr id="20" name="Chart caption"/>
          <p:cNvSpPr txBox="1"/>
          <p:nvPr/>
        </p:nvSpPr>
        <p:spPr>
          <a:xfrm>
            <a:off x="6035040" y="2258568"/>
            <a:ext cx="5330952"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a:cs typeface="Segoe UI"/>
              </a:rPr>
              <a:t>All 540,000 orders, Oct 2018 – Oct 2026</a:t>
            </a:r>
          </a:p>
        </p:txBody>
      </p:sp>
      <p:graphicFrame>
        <p:nvGraphicFramePr>
          <p:cNvPr id="21" name="Chart 20"/>
          <p:cNvGraphicFramePr>
            <a:graphicFrameLocks noGrp="1"/>
          </p:cNvGraphicFramePr>
          <p:nvPr/>
        </p:nvGraphicFramePr>
        <p:xfrm>
          <a:off x="6446520" y="2606040"/>
          <a:ext cx="4507992" cy="3566160"/>
        </p:xfrm>
        <a:graphic>
          <a:graphicData uri="http://schemas.openxmlformats.org/drawingml/2006/chart">
            <c:chart xmlns:c="http://schemas.openxmlformats.org/drawingml/2006/chart" r:id="rId2"/>
          </a:graphicData>
        </a:graphic>
      </p:graphicFrame>
      <p:sp>
        <p:nvSpPr>
          <p:cNvPr id="22" name="Source"/>
          <p:cNvSpPr txBox="1"/>
          <p:nvPr/>
        </p:nvSpPr>
        <p:spPr>
          <a:xfrm>
            <a:off x="548640" y="6419088"/>
            <a:ext cx="9601200" cy="228600"/>
          </a:xfrm>
          <a:prstGeom prst="rect">
            <a:avLst/>
          </a:prstGeom>
          <a:noFill/>
        </p:spPr>
        <p:txBody>
          <a:bodyPr wrap="square" lIns="0" rIns="0" tIns="0" bIns="0" anchor="t">
            <a:spAutoFit/>
          </a:bodyPr>
          <a:lstStyle/>
          <a:p>
            <a:pPr algn="l">
              <a:lnSpc>
                <a:spcPct val="110000"/>
              </a:lnSpc>
              <a:spcAft>
                <a:spcPts val="600"/>
              </a:spcAft>
            </a:pPr>
            <a:r>
              <a:rPr sz="1000" b="0">
                <a:solidFill>
                  <a:srgbClr val="7D8297"/>
                </a:solidFill>
                <a:latin typeface="Segoe UI"/>
                <a:cs typeface="Segoe UI"/>
              </a:rPr>
              <a:t>Source: Cottonil sales extract, 19 Oct 2018 – 18 Oct 2026 · net before tax · EGP</a:t>
            </a:r>
          </a:p>
        </p:txBody>
      </p:sp>
      <p:sp>
        <p:nvSpPr>
          <p:cNvPr id="23" name="Slide number"/>
          <p:cNvSpPr txBox="1"/>
          <p:nvPr/>
        </p:nvSpPr>
        <p:spPr>
          <a:xfrm>
            <a:off x="10881360" y="6419088"/>
            <a:ext cx="758952" cy="228600"/>
          </a:xfrm>
          <a:prstGeom prst="rect">
            <a:avLst/>
          </a:prstGeom>
          <a:noFill/>
        </p:spPr>
        <p:txBody>
          <a:bodyPr wrap="square" lIns="0" rIns="0" tIns="0" bIns="0" anchor="t">
            <a:spAutoFit/>
          </a:bodyPr>
          <a:lstStyle/>
          <a:p>
            <a:pPr algn="r">
              <a:lnSpc>
                <a:spcPct val="110000"/>
              </a:lnSpc>
              <a:spcAft>
                <a:spcPts val="600"/>
              </a:spcAft>
            </a:pPr>
            <a:r>
              <a:rPr sz="1000" b="0">
                <a:solidFill>
                  <a:srgbClr val="7D8297"/>
                </a:solidFill>
                <a:latin typeface="Segoe UI"/>
                <a:cs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FROM PROBLEMS TO OWNERS</a:t>
            </a:r>
          </a:p>
        </p:txBody>
      </p:sp>
      <p:sp>
        <p:nvSpPr>
          <p:cNvPr id="3" name="Title"/>
          <p:cNvSpPr txBox="1"/>
          <p:nvPr/>
        </p:nvSpPr>
        <p:spPr>
          <a:xfrm>
            <a:off x="548640" y="658368"/>
            <a:ext cx="11064240" cy="914400"/>
          </a:xfrm>
          <a:prstGeom prst="rect">
            <a:avLst/>
          </a:prstGeom>
          <a:noFill/>
        </p:spPr>
        <p:txBody>
          <a:bodyPr wrap="square" lIns="0" rIns="0" tIns="0" bIns="0" anchor="t">
            <a:spAutoFit/>
          </a:bodyPr>
          <a:lstStyle/>
          <a:p>
            <a:pPr algn="l">
              <a:lnSpc>
                <a:spcPct val="100000"/>
              </a:lnSpc>
              <a:spcAft>
                <a:spcPts val="600"/>
              </a:spcAft>
            </a:pPr>
            <a:r>
              <a:rPr sz="3000" b="0">
                <a:solidFill>
                  <a:srgbClr val="161A33"/>
                </a:solidFill>
                <a:latin typeface="Segoe UI Semibold"/>
                <a:cs typeface="Segoe UI Semibold"/>
              </a:rPr>
              <a:t>Six problems, six owners. Two already have a working fix</a:t>
            </a:r>
          </a:p>
        </p:txBody>
      </p:sp>
      <p:sp>
        <p:nvSpPr>
          <p:cNvPr id="4" name="TextBox 3"/>
          <p:cNvSpPr txBox="1"/>
          <p:nvPr/>
        </p:nvSpPr>
        <p:spPr>
          <a:xfrm>
            <a:off x="685800" y="1783080"/>
            <a:ext cx="27432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a:t>
            </a:r>
          </a:p>
        </p:txBody>
      </p:sp>
      <p:sp>
        <p:nvSpPr>
          <p:cNvPr id="5" name="TextBox 4"/>
          <p:cNvSpPr txBox="1"/>
          <p:nvPr/>
        </p:nvSpPr>
        <p:spPr>
          <a:xfrm>
            <a:off x="1143000" y="1783080"/>
            <a:ext cx="429768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Problem</a:t>
            </a:r>
          </a:p>
        </p:txBody>
      </p:sp>
      <p:sp>
        <p:nvSpPr>
          <p:cNvPr id="6" name="TextBox 5"/>
          <p:cNvSpPr txBox="1"/>
          <p:nvPr/>
        </p:nvSpPr>
        <p:spPr>
          <a:xfrm>
            <a:off x="5623560" y="1783080"/>
            <a:ext cx="1920239"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Who acts</a:t>
            </a:r>
          </a:p>
        </p:txBody>
      </p:sp>
      <p:sp>
        <p:nvSpPr>
          <p:cNvPr id="7" name="TextBox 6"/>
          <p:cNvSpPr txBox="1"/>
          <p:nvPr/>
        </p:nvSpPr>
        <p:spPr>
          <a:xfrm>
            <a:off x="7726680" y="1783080"/>
            <a:ext cx="137160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Status</a:t>
            </a:r>
          </a:p>
        </p:txBody>
      </p:sp>
      <p:sp>
        <p:nvSpPr>
          <p:cNvPr id="8" name="TextBox 7"/>
          <p:cNvSpPr txBox="1"/>
          <p:nvPr/>
        </p:nvSpPr>
        <p:spPr>
          <a:xfrm>
            <a:off x="9281160" y="1783080"/>
            <a:ext cx="2313432"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Value (scenario)</a:t>
            </a:r>
          </a:p>
        </p:txBody>
      </p:sp>
      <p:sp>
        <p:nvSpPr>
          <p:cNvPr id="9" name="Row"/>
          <p:cNvSpPr/>
          <p:nvPr/>
        </p:nvSpPr>
        <p:spPr>
          <a:xfrm>
            <a:off x="548640" y="2167128"/>
            <a:ext cx="11091672" cy="566928"/>
          </a:xfrm>
          <a:prstGeom prst="roundRect">
            <a:avLst>
              <a:gd name="adj" fmla="val 10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umber"/>
          <p:cNvSpPr/>
          <p:nvPr/>
        </p:nvSpPr>
        <p:spPr>
          <a:xfrm>
            <a:off x="658368" y="2295144"/>
            <a:ext cx="310896" cy="310896"/>
          </a:xfrm>
          <a:prstGeom prst="ellipse">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Segoe UI Semibold"/>
                <a:cs typeface="Segoe UI Semibold"/>
              </a:rPr>
              <a:t>1</a:t>
            </a:r>
          </a:p>
        </p:txBody>
      </p:sp>
      <p:sp>
        <p:nvSpPr>
          <p:cNvPr id="11" name="TextBox 10"/>
          <p:cNvSpPr txBox="1"/>
          <p:nvPr/>
        </p:nvSpPr>
        <p:spPr>
          <a:xfrm>
            <a:off x="1143000" y="2167128"/>
            <a:ext cx="4297680" cy="566928"/>
          </a:xfrm>
          <a:prstGeom prst="rect">
            <a:avLst/>
          </a:prstGeom>
          <a:noFill/>
        </p:spPr>
        <p:txBody>
          <a:bodyPr wrap="square" lIns="0" rIns="0" tIns="0" bIns="0" anchor="ctr">
            <a:spAutoFit/>
          </a:bodyPr>
          <a:lstStyle/>
          <a:p>
            <a:pPr algn="l">
              <a:lnSpc>
                <a:spcPct val="110000"/>
              </a:lnSpc>
              <a:spcAft>
                <a:spcPts val="600"/>
              </a:spcAft>
            </a:pPr>
            <a:r>
              <a:rPr sz="1400" b="0">
                <a:solidFill>
                  <a:srgbClr val="161A33"/>
                </a:solidFill>
                <a:latin typeface="Segoe UI Semibold"/>
                <a:cs typeface="Segoe UI Semibold"/>
              </a:rPr>
              <a:t>Growth comes from price, not pieces</a:t>
            </a:r>
          </a:p>
        </p:txBody>
      </p:sp>
      <p:sp>
        <p:nvSpPr>
          <p:cNvPr id="12" name="TextBox 11"/>
          <p:cNvSpPr txBox="1"/>
          <p:nvPr/>
        </p:nvSpPr>
        <p:spPr>
          <a:xfrm>
            <a:off x="5623560" y="2167128"/>
            <a:ext cx="1920239" cy="566928"/>
          </a:xfrm>
          <a:prstGeom prst="rect">
            <a:avLst/>
          </a:prstGeom>
          <a:noFill/>
        </p:spPr>
        <p:txBody>
          <a:bodyPr wrap="square" lIns="0" rIns="0" tIns="0" bIns="0" anchor="ctr">
            <a:spAutoFit/>
          </a:bodyPr>
          <a:lstStyle/>
          <a:p>
            <a:pPr algn="l">
              <a:lnSpc>
                <a:spcPct val="110000"/>
              </a:lnSpc>
              <a:spcAft>
                <a:spcPts val="600"/>
              </a:spcAft>
            </a:pPr>
            <a:r>
              <a:rPr sz="1300" b="0">
                <a:solidFill>
                  <a:srgbClr val="4A4F66"/>
                </a:solidFill>
                <a:latin typeface="Segoe UI"/>
                <a:cs typeface="Segoe UI"/>
              </a:rPr>
              <a:t>CFO, Commercial</a:t>
            </a:r>
          </a:p>
        </p:txBody>
      </p:sp>
      <p:sp>
        <p:nvSpPr>
          <p:cNvPr id="13" name="Status Recommend"/>
          <p:cNvSpPr/>
          <p:nvPr/>
        </p:nvSpPr>
        <p:spPr>
          <a:xfrm>
            <a:off x="7726680" y="2295144"/>
            <a:ext cx="1156716" cy="310896"/>
          </a:xfrm>
          <a:prstGeom prst="roundRect">
            <a:avLst>
              <a:gd name="adj" fmla="val 50000"/>
            </a:avLst>
          </a:prstGeom>
          <a:solidFill>
            <a:srgbClr val="E3EE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F5FAF"/>
                </a:solidFill>
                <a:latin typeface="Segoe UI Semibold"/>
                <a:cs typeface="Segoe UI Semibold"/>
              </a:rPr>
              <a:t>Recommend</a:t>
            </a:r>
          </a:p>
        </p:txBody>
      </p:sp>
      <p:sp>
        <p:nvSpPr>
          <p:cNvPr id="14" name="TextBox 13"/>
          <p:cNvSpPr txBox="1"/>
          <p:nvPr/>
        </p:nvSpPr>
        <p:spPr>
          <a:xfrm>
            <a:off x="9281160" y="2167128"/>
            <a:ext cx="2313432" cy="566928"/>
          </a:xfrm>
          <a:prstGeom prst="rect">
            <a:avLst/>
          </a:prstGeom>
          <a:noFill/>
        </p:spPr>
        <p:txBody>
          <a:bodyPr wrap="square" lIns="0" rIns="0" tIns="0" bIns="0" anchor="ctr">
            <a:spAutoFit/>
          </a:bodyPr>
          <a:lstStyle/>
          <a:p>
            <a:pPr algn="l">
              <a:lnSpc>
                <a:spcPct val="100000"/>
              </a:lnSpc>
              <a:spcAft>
                <a:spcPts val="600"/>
              </a:spcAft>
            </a:pPr>
            <a:r>
              <a:rPr sz="1200" b="0">
                <a:solidFill>
                  <a:srgbClr val="4A4F66"/>
                </a:solidFill>
                <a:latin typeface="Segoe UI"/>
                <a:cs typeface="Segoe UI"/>
              </a:rPr>
              <a:t>—</a:t>
            </a:r>
          </a:p>
        </p:txBody>
      </p:sp>
      <p:sp>
        <p:nvSpPr>
          <p:cNvPr id="15" name="Row"/>
          <p:cNvSpPr/>
          <p:nvPr/>
        </p:nvSpPr>
        <p:spPr>
          <a:xfrm>
            <a:off x="548640" y="2825496"/>
            <a:ext cx="11091672" cy="5669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ber"/>
          <p:cNvSpPr/>
          <p:nvPr/>
        </p:nvSpPr>
        <p:spPr>
          <a:xfrm>
            <a:off x="658368" y="2953512"/>
            <a:ext cx="310896" cy="310896"/>
          </a:xfrm>
          <a:prstGeom prst="ellipse">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Segoe UI Semibold"/>
                <a:cs typeface="Segoe UI Semibold"/>
              </a:rPr>
              <a:t>2</a:t>
            </a:r>
          </a:p>
        </p:txBody>
      </p:sp>
      <p:sp>
        <p:nvSpPr>
          <p:cNvPr id="17" name="TextBox 16"/>
          <p:cNvSpPr txBox="1"/>
          <p:nvPr/>
        </p:nvSpPr>
        <p:spPr>
          <a:xfrm>
            <a:off x="1143000" y="2825496"/>
            <a:ext cx="4297680" cy="566928"/>
          </a:xfrm>
          <a:prstGeom prst="rect">
            <a:avLst/>
          </a:prstGeom>
          <a:noFill/>
        </p:spPr>
        <p:txBody>
          <a:bodyPr wrap="square" lIns="0" rIns="0" tIns="0" bIns="0" anchor="ctr">
            <a:spAutoFit/>
          </a:bodyPr>
          <a:lstStyle/>
          <a:p>
            <a:pPr algn="l">
              <a:lnSpc>
                <a:spcPct val="110000"/>
              </a:lnSpc>
              <a:spcAft>
                <a:spcPts val="600"/>
              </a:spcAft>
            </a:pPr>
            <a:r>
              <a:rPr sz="1400" b="0">
                <a:solidFill>
                  <a:srgbClr val="161A33"/>
                </a:solidFill>
                <a:latin typeface="Segoe UI Semibold"/>
                <a:cs typeface="Segoe UI Semibold"/>
              </a:rPr>
              <a:t>42.6% of revenue from two men's categories</a:t>
            </a:r>
          </a:p>
        </p:txBody>
      </p:sp>
      <p:sp>
        <p:nvSpPr>
          <p:cNvPr id="18" name="TextBox 17"/>
          <p:cNvSpPr txBox="1"/>
          <p:nvPr/>
        </p:nvSpPr>
        <p:spPr>
          <a:xfrm>
            <a:off x="5623560" y="2825496"/>
            <a:ext cx="1920239" cy="566928"/>
          </a:xfrm>
          <a:prstGeom prst="rect">
            <a:avLst/>
          </a:prstGeom>
          <a:noFill/>
        </p:spPr>
        <p:txBody>
          <a:bodyPr wrap="square" lIns="0" rIns="0" tIns="0" bIns="0" anchor="ctr">
            <a:spAutoFit/>
          </a:bodyPr>
          <a:lstStyle/>
          <a:p>
            <a:pPr algn="l">
              <a:lnSpc>
                <a:spcPct val="110000"/>
              </a:lnSpc>
              <a:spcAft>
                <a:spcPts val="600"/>
              </a:spcAft>
            </a:pPr>
            <a:r>
              <a:rPr sz="1300" b="0">
                <a:solidFill>
                  <a:srgbClr val="4A4F66"/>
                </a:solidFill>
                <a:latin typeface="Segoe UI"/>
                <a:cs typeface="Segoe UI"/>
              </a:rPr>
              <a:t>Merchandising</a:t>
            </a:r>
          </a:p>
        </p:txBody>
      </p:sp>
      <p:sp>
        <p:nvSpPr>
          <p:cNvPr id="19" name="Status Recommend"/>
          <p:cNvSpPr/>
          <p:nvPr/>
        </p:nvSpPr>
        <p:spPr>
          <a:xfrm>
            <a:off x="7726680" y="2953512"/>
            <a:ext cx="1156716" cy="310896"/>
          </a:xfrm>
          <a:prstGeom prst="roundRect">
            <a:avLst>
              <a:gd name="adj" fmla="val 50000"/>
            </a:avLst>
          </a:prstGeom>
          <a:solidFill>
            <a:srgbClr val="E3EE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F5FAF"/>
                </a:solidFill>
                <a:latin typeface="Segoe UI Semibold"/>
                <a:cs typeface="Segoe UI Semibold"/>
              </a:rPr>
              <a:t>Recommend</a:t>
            </a:r>
          </a:p>
        </p:txBody>
      </p:sp>
      <p:sp>
        <p:nvSpPr>
          <p:cNvPr id="20" name="TextBox 19"/>
          <p:cNvSpPr txBox="1"/>
          <p:nvPr/>
        </p:nvSpPr>
        <p:spPr>
          <a:xfrm>
            <a:off x="9281160" y="2825496"/>
            <a:ext cx="2313432" cy="566928"/>
          </a:xfrm>
          <a:prstGeom prst="rect">
            <a:avLst/>
          </a:prstGeom>
          <a:noFill/>
        </p:spPr>
        <p:txBody>
          <a:bodyPr wrap="square" lIns="0" rIns="0" tIns="0" bIns="0" anchor="ctr">
            <a:spAutoFit/>
          </a:bodyPr>
          <a:lstStyle/>
          <a:p>
            <a:pPr algn="l">
              <a:lnSpc>
                <a:spcPct val="100000"/>
              </a:lnSpc>
              <a:spcAft>
                <a:spcPts val="600"/>
              </a:spcAft>
            </a:pPr>
            <a:r>
              <a:rPr sz="1200" b="0">
                <a:solidFill>
                  <a:srgbClr val="4A4F66"/>
                </a:solidFill>
                <a:latin typeface="Segoe UI"/>
                <a:cs typeface="Segoe UI"/>
              </a:rPr>
              <a:t>—</a:t>
            </a:r>
          </a:p>
        </p:txBody>
      </p:sp>
      <p:sp>
        <p:nvSpPr>
          <p:cNvPr id="21" name="Row"/>
          <p:cNvSpPr/>
          <p:nvPr/>
        </p:nvSpPr>
        <p:spPr>
          <a:xfrm>
            <a:off x="548640" y="3483864"/>
            <a:ext cx="11091672" cy="566928"/>
          </a:xfrm>
          <a:prstGeom prst="roundRect">
            <a:avLst>
              <a:gd name="adj" fmla="val 10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Number"/>
          <p:cNvSpPr/>
          <p:nvPr/>
        </p:nvSpPr>
        <p:spPr>
          <a:xfrm>
            <a:off x="658368" y="3611880"/>
            <a:ext cx="310896" cy="310896"/>
          </a:xfrm>
          <a:prstGeom prst="ellipse">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Segoe UI Semibold"/>
                <a:cs typeface="Segoe UI Semibold"/>
              </a:rPr>
              <a:t>3</a:t>
            </a:r>
          </a:p>
        </p:txBody>
      </p:sp>
      <p:sp>
        <p:nvSpPr>
          <p:cNvPr id="23" name="TextBox 22"/>
          <p:cNvSpPr txBox="1"/>
          <p:nvPr/>
        </p:nvSpPr>
        <p:spPr>
          <a:xfrm>
            <a:off x="1143000" y="3483864"/>
            <a:ext cx="4297680" cy="566928"/>
          </a:xfrm>
          <a:prstGeom prst="rect">
            <a:avLst/>
          </a:prstGeom>
          <a:noFill/>
        </p:spPr>
        <p:txBody>
          <a:bodyPr wrap="square" lIns="0" rIns="0" tIns="0" bIns="0" anchor="ctr">
            <a:spAutoFit/>
          </a:bodyPr>
          <a:lstStyle/>
          <a:p>
            <a:pPr algn="l">
              <a:lnSpc>
                <a:spcPct val="110000"/>
              </a:lnSpc>
              <a:spcAft>
                <a:spcPts val="600"/>
              </a:spcAft>
            </a:pPr>
            <a:r>
              <a:rPr sz="1400" b="0">
                <a:solidFill>
                  <a:srgbClr val="161A33"/>
                </a:solidFill>
                <a:latin typeface="Segoe UI Semibold"/>
                <a:cs typeface="Segoe UI Semibold"/>
              </a:rPr>
              <a:t>Each customer orders less (2.79 → 0.99)</a:t>
            </a:r>
          </a:p>
        </p:txBody>
      </p:sp>
      <p:sp>
        <p:nvSpPr>
          <p:cNvPr id="24" name="TextBox 23"/>
          <p:cNvSpPr txBox="1"/>
          <p:nvPr/>
        </p:nvSpPr>
        <p:spPr>
          <a:xfrm>
            <a:off x="5623560" y="3483864"/>
            <a:ext cx="1920239" cy="566928"/>
          </a:xfrm>
          <a:prstGeom prst="rect">
            <a:avLst/>
          </a:prstGeom>
          <a:noFill/>
        </p:spPr>
        <p:txBody>
          <a:bodyPr wrap="square" lIns="0" rIns="0" tIns="0" bIns="0" anchor="ctr">
            <a:spAutoFit/>
          </a:bodyPr>
          <a:lstStyle/>
          <a:p>
            <a:pPr algn="l">
              <a:lnSpc>
                <a:spcPct val="110000"/>
              </a:lnSpc>
              <a:spcAft>
                <a:spcPts val="600"/>
              </a:spcAft>
            </a:pPr>
            <a:r>
              <a:rPr sz="1300" b="0">
                <a:solidFill>
                  <a:srgbClr val="4A4F66"/>
                </a:solidFill>
                <a:latin typeface="Segoe UI"/>
                <a:cs typeface="Segoe UI"/>
              </a:rPr>
              <a:t>CRM manager</a:t>
            </a:r>
          </a:p>
        </p:txBody>
      </p:sp>
      <p:sp>
        <p:nvSpPr>
          <p:cNvPr id="25" name="Status Built"/>
          <p:cNvSpPr/>
          <p:nvPr/>
        </p:nvSpPr>
        <p:spPr>
          <a:xfrm>
            <a:off x="7726680" y="3611880"/>
            <a:ext cx="772668" cy="310896"/>
          </a:xfrm>
          <a:prstGeom prst="roundRect">
            <a:avLst>
              <a:gd name="adj" fmla="val 50000"/>
            </a:avLst>
          </a:prstGeom>
          <a:solidFill>
            <a:srgbClr val="DDF3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0B6B45"/>
                </a:solidFill>
                <a:latin typeface="Segoe UI Semibold"/>
                <a:cs typeface="Segoe UI Semibold"/>
              </a:rPr>
              <a:t>Built</a:t>
            </a:r>
          </a:p>
        </p:txBody>
      </p:sp>
      <p:sp>
        <p:nvSpPr>
          <p:cNvPr id="26" name="TextBox 25"/>
          <p:cNvSpPr txBox="1"/>
          <p:nvPr/>
        </p:nvSpPr>
        <p:spPr>
          <a:xfrm>
            <a:off x="9281160" y="3483864"/>
            <a:ext cx="2313432" cy="566928"/>
          </a:xfrm>
          <a:prstGeom prst="rect">
            <a:avLst/>
          </a:prstGeom>
          <a:noFill/>
        </p:spPr>
        <p:txBody>
          <a:bodyPr wrap="square" lIns="0" rIns="0" tIns="0" bIns="0" anchor="ctr">
            <a:spAutoFit/>
          </a:bodyPr>
          <a:lstStyle/>
          <a:p>
            <a:pPr algn="l">
              <a:lnSpc>
                <a:spcPct val="100000"/>
              </a:lnSpc>
              <a:spcAft>
                <a:spcPts val="600"/>
              </a:spcAft>
            </a:pPr>
            <a:r>
              <a:rPr sz="1200" b="0">
                <a:solidFill>
                  <a:srgbClr val="4A4F66"/>
                </a:solidFill>
                <a:latin typeface="Segoe UI"/>
                <a:cs typeface="Segoe UI"/>
              </a:rPr>
              <a:t>≈102K EGP per 1% of 2,645 who return</a:t>
            </a:r>
          </a:p>
        </p:txBody>
      </p:sp>
      <p:sp>
        <p:nvSpPr>
          <p:cNvPr id="27" name="Row"/>
          <p:cNvSpPr/>
          <p:nvPr/>
        </p:nvSpPr>
        <p:spPr>
          <a:xfrm>
            <a:off x="548640" y="4142232"/>
            <a:ext cx="11091672" cy="5669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umber"/>
          <p:cNvSpPr/>
          <p:nvPr/>
        </p:nvSpPr>
        <p:spPr>
          <a:xfrm>
            <a:off x="658368" y="4270248"/>
            <a:ext cx="310896" cy="310896"/>
          </a:xfrm>
          <a:prstGeom prst="ellipse">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Segoe UI Semibold"/>
                <a:cs typeface="Segoe UI Semibold"/>
              </a:rPr>
              <a:t>4</a:t>
            </a:r>
          </a:p>
        </p:txBody>
      </p:sp>
      <p:sp>
        <p:nvSpPr>
          <p:cNvPr id="29" name="TextBox 28"/>
          <p:cNvSpPr txBox="1"/>
          <p:nvPr/>
        </p:nvSpPr>
        <p:spPr>
          <a:xfrm>
            <a:off x="1143000" y="4142232"/>
            <a:ext cx="4297680" cy="566928"/>
          </a:xfrm>
          <a:prstGeom prst="rect">
            <a:avLst/>
          </a:prstGeom>
          <a:noFill/>
        </p:spPr>
        <p:txBody>
          <a:bodyPr wrap="square" lIns="0" rIns="0" tIns="0" bIns="0" anchor="ctr">
            <a:spAutoFit/>
          </a:bodyPr>
          <a:lstStyle/>
          <a:p>
            <a:pPr algn="l">
              <a:lnSpc>
                <a:spcPct val="110000"/>
              </a:lnSpc>
              <a:spcAft>
                <a:spcPts val="600"/>
              </a:spcAft>
            </a:pPr>
            <a:r>
              <a:rPr sz="1400" b="0">
                <a:solidFill>
                  <a:srgbClr val="161A33"/>
                </a:solidFill>
                <a:latin typeface="Segoe UI Semibold"/>
                <a:cs typeface="Segoe UI Semibold"/>
              </a:rPr>
              <a:t>Every discount point comes out of margin</a:t>
            </a:r>
          </a:p>
        </p:txBody>
      </p:sp>
      <p:sp>
        <p:nvSpPr>
          <p:cNvPr id="30" name="TextBox 29"/>
          <p:cNvSpPr txBox="1"/>
          <p:nvPr/>
        </p:nvSpPr>
        <p:spPr>
          <a:xfrm>
            <a:off x="5623560" y="4142232"/>
            <a:ext cx="1920239" cy="566928"/>
          </a:xfrm>
          <a:prstGeom prst="rect">
            <a:avLst/>
          </a:prstGeom>
          <a:noFill/>
        </p:spPr>
        <p:txBody>
          <a:bodyPr wrap="square" lIns="0" rIns="0" tIns="0" bIns="0" anchor="ctr">
            <a:spAutoFit/>
          </a:bodyPr>
          <a:lstStyle/>
          <a:p>
            <a:pPr algn="l">
              <a:lnSpc>
                <a:spcPct val="110000"/>
              </a:lnSpc>
              <a:spcAft>
                <a:spcPts val="600"/>
              </a:spcAft>
            </a:pPr>
            <a:r>
              <a:rPr sz="1300" b="0">
                <a:solidFill>
                  <a:srgbClr val="4A4F66"/>
                </a:solidFill>
                <a:latin typeface="Segoe UI"/>
                <a:cs typeface="Segoe UI"/>
              </a:rPr>
              <a:t>Commercial, Finance</a:t>
            </a:r>
          </a:p>
        </p:txBody>
      </p:sp>
      <p:sp>
        <p:nvSpPr>
          <p:cNvPr id="31" name="Status Built"/>
          <p:cNvSpPr/>
          <p:nvPr/>
        </p:nvSpPr>
        <p:spPr>
          <a:xfrm>
            <a:off x="7726680" y="4270248"/>
            <a:ext cx="772668" cy="310896"/>
          </a:xfrm>
          <a:prstGeom prst="roundRect">
            <a:avLst>
              <a:gd name="adj" fmla="val 50000"/>
            </a:avLst>
          </a:prstGeom>
          <a:solidFill>
            <a:srgbClr val="DDF3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0B6B45"/>
                </a:solidFill>
                <a:latin typeface="Segoe UI Semibold"/>
                <a:cs typeface="Segoe UI Semibold"/>
              </a:rPr>
              <a:t>Built</a:t>
            </a:r>
          </a:p>
        </p:txBody>
      </p:sp>
      <p:sp>
        <p:nvSpPr>
          <p:cNvPr id="32" name="TextBox 31"/>
          <p:cNvSpPr txBox="1"/>
          <p:nvPr/>
        </p:nvSpPr>
        <p:spPr>
          <a:xfrm>
            <a:off x="9281160" y="4142232"/>
            <a:ext cx="2313432" cy="566928"/>
          </a:xfrm>
          <a:prstGeom prst="rect">
            <a:avLst/>
          </a:prstGeom>
          <a:noFill/>
        </p:spPr>
        <p:txBody>
          <a:bodyPr wrap="square" lIns="0" rIns="0" tIns="0" bIns="0" anchor="ctr">
            <a:spAutoFit/>
          </a:bodyPr>
          <a:lstStyle/>
          <a:p>
            <a:pPr algn="l">
              <a:lnSpc>
                <a:spcPct val="100000"/>
              </a:lnSpc>
              <a:spcAft>
                <a:spcPts val="600"/>
              </a:spcAft>
            </a:pPr>
            <a:r>
              <a:rPr sz="1200" b="0">
                <a:solidFill>
                  <a:srgbClr val="4A4F66"/>
                </a:solidFill>
                <a:latin typeface="Segoe UI"/>
                <a:cs typeface="Segoe UI"/>
              </a:rPr>
              <a:t>up to 1.84M EGP a year at a 10% cap</a:t>
            </a:r>
          </a:p>
        </p:txBody>
      </p:sp>
      <p:sp>
        <p:nvSpPr>
          <p:cNvPr id="33" name="Row"/>
          <p:cNvSpPr/>
          <p:nvPr/>
        </p:nvSpPr>
        <p:spPr>
          <a:xfrm>
            <a:off x="548640" y="4800600"/>
            <a:ext cx="11091672" cy="566928"/>
          </a:xfrm>
          <a:prstGeom prst="roundRect">
            <a:avLst>
              <a:gd name="adj" fmla="val 10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Number"/>
          <p:cNvSpPr/>
          <p:nvPr/>
        </p:nvSpPr>
        <p:spPr>
          <a:xfrm>
            <a:off x="658368" y="4928616"/>
            <a:ext cx="310896" cy="310896"/>
          </a:xfrm>
          <a:prstGeom prst="ellipse">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Segoe UI Semibold"/>
                <a:cs typeface="Segoe UI Semibold"/>
              </a:rPr>
              <a:t>5</a:t>
            </a:r>
          </a:p>
        </p:txBody>
      </p:sp>
      <p:sp>
        <p:nvSpPr>
          <p:cNvPr id="35" name="TextBox 34"/>
          <p:cNvSpPr txBox="1"/>
          <p:nvPr/>
        </p:nvSpPr>
        <p:spPr>
          <a:xfrm>
            <a:off x="1143000" y="4800600"/>
            <a:ext cx="4297680" cy="566928"/>
          </a:xfrm>
          <a:prstGeom prst="rect">
            <a:avLst/>
          </a:prstGeom>
          <a:noFill/>
        </p:spPr>
        <p:txBody>
          <a:bodyPr wrap="square" lIns="0" rIns="0" tIns="0" bIns="0" anchor="ctr">
            <a:spAutoFit/>
          </a:bodyPr>
          <a:lstStyle/>
          <a:p>
            <a:pPr algn="l">
              <a:lnSpc>
                <a:spcPct val="110000"/>
              </a:lnSpc>
              <a:spcAft>
                <a:spcPts val="600"/>
              </a:spcAft>
            </a:pPr>
            <a:r>
              <a:rPr sz="1400" b="0">
                <a:solidFill>
                  <a:srgbClr val="161A33"/>
                </a:solidFill>
                <a:latin typeface="Segoe UI Semibold"/>
                <a:cs typeface="Segoe UI Semibold"/>
              </a:rPr>
              <a:t>Profit rests on costs growing slower</a:t>
            </a:r>
          </a:p>
        </p:txBody>
      </p:sp>
      <p:sp>
        <p:nvSpPr>
          <p:cNvPr id="36" name="TextBox 35"/>
          <p:cNvSpPr txBox="1"/>
          <p:nvPr/>
        </p:nvSpPr>
        <p:spPr>
          <a:xfrm>
            <a:off x="5623560" y="4800600"/>
            <a:ext cx="1920239" cy="566928"/>
          </a:xfrm>
          <a:prstGeom prst="rect">
            <a:avLst/>
          </a:prstGeom>
          <a:noFill/>
        </p:spPr>
        <p:txBody>
          <a:bodyPr wrap="square" lIns="0" rIns="0" tIns="0" bIns="0" anchor="ctr">
            <a:spAutoFit/>
          </a:bodyPr>
          <a:lstStyle/>
          <a:p>
            <a:pPr algn="l">
              <a:lnSpc>
                <a:spcPct val="110000"/>
              </a:lnSpc>
              <a:spcAft>
                <a:spcPts val="600"/>
              </a:spcAft>
            </a:pPr>
            <a:r>
              <a:rPr sz="1300" b="0">
                <a:solidFill>
                  <a:srgbClr val="4A4F66"/>
                </a:solidFill>
                <a:latin typeface="Segoe UI"/>
                <a:cs typeface="Segoe UI"/>
              </a:rPr>
              <a:t>CFO</a:t>
            </a:r>
          </a:p>
        </p:txBody>
      </p:sp>
      <p:sp>
        <p:nvSpPr>
          <p:cNvPr id="37" name="Status Check first"/>
          <p:cNvSpPr/>
          <p:nvPr/>
        </p:nvSpPr>
        <p:spPr>
          <a:xfrm>
            <a:off x="7726680" y="4928616"/>
            <a:ext cx="1348740" cy="310896"/>
          </a:xfrm>
          <a:prstGeom prst="roundRect">
            <a:avLst>
              <a:gd name="adj" fmla="val 50000"/>
            </a:avLst>
          </a:prstGeom>
          <a:solidFill>
            <a:srgbClr val="FDF0D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8A5A00"/>
                </a:solidFill>
                <a:latin typeface="Segoe UI Semibold"/>
                <a:cs typeface="Segoe UI Semibold"/>
              </a:rPr>
              <a:t>Check first</a:t>
            </a:r>
          </a:p>
        </p:txBody>
      </p:sp>
      <p:sp>
        <p:nvSpPr>
          <p:cNvPr id="38" name="TextBox 37"/>
          <p:cNvSpPr txBox="1"/>
          <p:nvPr/>
        </p:nvSpPr>
        <p:spPr>
          <a:xfrm>
            <a:off x="9281160" y="4800600"/>
            <a:ext cx="2313432" cy="566928"/>
          </a:xfrm>
          <a:prstGeom prst="rect">
            <a:avLst/>
          </a:prstGeom>
          <a:noFill/>
        </p:spPr>
        <p:txBody>
          <a:bodyPr wrap="square" lIns="0" rIns="0" tIns="0" bIns="0" anchor="ctr">
            <a:spAutoFit/>
          </a:bodyPr>
          <a:lstStyle/>
          <a:p>
            <a:pPr algn="l">
              <a:lnSpc>
                <a:spcPct val="100000"/>
              </a:lnSpc>
              <a:spcAft>
                <a:spcPts val="600"/>
              </a:spcAft>
            </a:pPr>
            <a:r>
              <a:rPr sz="1200" b="0">
                <a:solidFill>
                  <a:srgbClr val="4A4F66"/>
                </a:solidFill>
                <a:latin typeface="Segoe UI"/>
                <a:cs typeface="Segoe UI"/>
              </a:rPr>
              <a:t>confirm headcount first</a:t>
            </a:r>
          </a:p>
        </p:txBody>
      </p:sp>
      <p:sp>
        <p:nvSpPr>
          <p:cNvPr id="39" name="Row"/>
          <p:cNvSpPr/>
          <p:nvPr/>
        </p:nvSpPr>
        <p:spPr>
          <a:xfrm>
            <a:off x="548640" y="5458968"/>
            <a:ext cx="11091672" cy="5669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Number"/>
          <p:cNvSpPr/>
          <p:nvPr/>
        </p:nvSpPr>
        <p:spPr>
          <a:xfrm>
            <a:off x="658368" y="5586983"/>
            <a:ext cx="310896" cy="310896"/>
          </a:xfrm>
          <a:prstGeom prst="ellipse">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Segoe UI Semibold"/>
                <a:cs typeface="Segoe UI Semibold"/>
              </a:rPr>
              <a:t>6</a:t>
            </a:r>
          </a:p>
        </p:txBody>
      </p:sp>
      <p:sp>
        <p:nvSpPr>
          <p:cNvPr id="41" name="TextBox 40"/>
          <p:cNvSpPr txBox="1"/>
          <p:nvPr/>
        </p:nvSpPr>
        <p:spPr>
          <a:xfrm>
            <a:off x="1143000" y="5458968"/>
            <a:ext cx="4297680" cy="566928"/>
          </a:xfrm>
          <a:prstGeom prst="rect">
            <a:avLst/>
          </a:prstGeom>
          <a:noFill/>
        </p:spPr>
        <p:txBody>
          <a:bodyPr wrap="square" lIns="0" rIns="0" tIns="0" bIns="0" anchor="ctr">
            <a:spAutoFit/>
          </a:bodyPr>
          <a:lstStyle/>
          <a:p>
            <a:pPr algn="l">
              <a:lnSpc>
                <a:spcPct val="110000"/>
              </a:lnSpc>
              <a:spcAft>
                <a:spcPts val="600"/>
              </a:spcAft>
            </a:pPr>
            <a:r>
              <a:rPr sz="1400" b="0">
                <a:solidFill>
                  <a:srgbClr val="161A33"/>
                </a:solidFill>
                <a:latin typeface="Segoe UI Semibold"/>
                <a:cs typeface="Segoe UI Semibold"/>
              </a:rPr>
              <a:t>One in five orders has no customer</a:t>
            </a:r>
          </a:p>
        </p:txBody>
      </p:sp>
      <p:sp>
        <p:nvSpPr>
          <p:cNvPr id="42" name="TextBox 41"/>
          <p:cNvSpPr txBox="1"/>
          <p:nvPr/>
        </p:nvSpPr>
        <p:spPr>
          <a:xfrm>
            <a:off x="5623560" y="5458968"/>
            <a:ext cx="1920239" cy="566928"/>
          </a:xfrm>
          <a:prstGeom prst="rect">
            <a:avLst/>
          </a:prstGeom>
          <a:noFill/>
        </p:spPr>
        <p:txBody>
          <a:bodyPr wrap="square" lIns="0" rIns="0" tIns="0" bIns="0" anchor="ctr">
            <a:spAutoFit/>
          </a:bodyPr>
          <a:lstStyle/>
          <a:p>
            <a:pPr algn="l">
              <a:lnSpc>
                <a:spcPct val="110000"/>
              </a:lnSpc>
              <a:spcAft>
                <a:spcPts val="600"/>
              </a:spcAft>
            </a:pPr>
            <a:r>
              <a:rPr sz="1300" b="0">
                <a:solidFill>
                  <a:srgbClr val="4A4F66"/>
                </a:solidFill>
                <a:latin typeface="Segoe UI"/>
                <a:cs typeface="Segoe UI"/>
              </a:rPr>
              <a:t>Retail operations</a:t>
            </a:r>
          </a:p>
        </p:txBody>
      </p:sp>
      <p:sp>
        <p:nvSpPr>
          <p:cNvPr id="43" name="Status Recommend"/>
          <p:cNvSpPr/>
          <p:nvPr/>
        </p:nvSpPr>
        <p:spPr>
          <a:xfrm>
            <a:off x="7726680" y="5586983"/>
            <a:ext cx="1156716" cy="310896"/>
          </a:xfrm>
          <a:prstGeom prst="roundRect">
            <a:avLst>
              <a:gd name="adj" fmla="val 50000"/>
            </a:avLst>
          </a:prstGeom>
          <a:solidFill>
            <a:srgbClr val="E3EE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F5FAF"/>
                </a:solidFill>
                <a:latin typeface="Segoe UI Semibold"/>
                <a:cs typeface="Segoe UI Semibold"/>
              </a:rPr>
              <a:t>Recommend</a:t>
            </a:r>
          </a:p>
        </p:txBody>
      </p:sp>
      <p:sp>
        <p:nvSpPr>
          <p:cNvPr id="44" name="TextBox 43"/>
          <p:cNvSpPr txBox="1"/>
          <p:nvPr/>
        </p:nvSpPr>
        <p:spPr>
          <a:xfrm>
            <a:off x="9281160" y="5458968"/>
            <a:ext cx="2313432" cy="566928"/>
          </a:xfrm>
          <a:prstGeom prst="rect">
            <a:avLst/>
          </a:prstGeom>
          <a:noFill/>
        </p:spPr>
        <p:txBody>
          <a:bodyPr wrap="square" lIns="0" rIns="0" tIns="0" bIns="0" anchor="ctr">
            <a:spAutoFit/>
          </a:bodyPr>
          <a:lstStyle/>
          <a:p>
            <a:pPr algn="l">
              <a:lnSpc>
                <a:spcPct val="100000"/>
              </a:lnSpc>
              <a:spcAft>
                <a:spcPts val="600"/>
              </a:spcAft>
            </a:pPr>
            <a:r>
              <a:rPr sz="1200" b="0">
                <a:solidFill>
                  <a:srgbClr val="4A4F66"/>
                </a:solidFill>
                <a:latin typeface="Segoe UI"/>
                <a:cs typeface="Segoe UI"/>
              </a:rPr>
              <a:t>—</a:t>
            </a:r>
          </a:p>
        </p:txBody>
      </p:sp>
      <p:sp>
        <p:nvSpPr>
          <p:cNvPr id="45" name="TextBox 44"/>
          <p:cNvSpPr txBox="1"/>
          <p:nvPr/>
        </p:nvSpPr>
        <p:spPr>
          <a:xfrm>
            <a:off x="548640" y="6108192"/>
            <a:ext cx="1106424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a:cs typeface="Segoe UI"/>
              </a:rPr>
              <a:t>Built = running in n8n today. Scenario values assume volume holds; they are not forecasts.</a:t>
            </a:r>
          </a:p>
        </p:txBody>
      </p:sp>
      <p:sp>
        <p:nvSpPr>
          <p:cNvPr id="46" name="Source"/>
          <p:cNvSpPr txBox="1"/>
          <p:nvPr/>
        </p:nvSpPr>
        <p:spPr>
          <a:xfrm>
            <a:off x="548640" y="6419088"/>
            <a:ext cx="9601200" cy="228600"/>
          </a:xfrm>
          <a:prstGeom prst="rect">
            <a:avLst/>
          </a:prstGeom>
          <a:noFill/>
        </p:spPr>
        <p:txBody>
          <a:bodyPr wrap="square" lIns="0" rIns="0" tIns="0" bIns="0" anchor="t">
            <a:spAutoFit/>
          </a:bodyPr>
          <a:lstStyle/>
          <a:p>
            <a:pPr algn="l">
              <a:lnSpc>
                <a:spcPct val="110000"/>
              </a:lnSpc>
              <a:spcAft>
                <a:spcPts val="600"/>
              </a:spcAft>
            </a:pPr>
            <a:r>
              <a:rPr sz="1000" b="0">
                <a:solidFill>
                  <a:srgbClr val="7D8297"/>
                </a:solidFill>
                <a:latin typeface="Segoe UI"/>
                <a:cs typeface="Segoe UI"/>
              </a:rPr>
              <a:t>Source: Cottonil sales extract, 19 Oct 2018 – 18 Oct 2026 · net before tax · EGP</a:t>
            </a:r>
          </a:p>
        </p:txBody>
      </p:sp>
      <p:sp>
        <p:nvSpPr>
          <p:cNvPr id="47" name="Slide number"/>
          <p:cNvSpPr txBox="1"/>
          <p:nvPr/>
        </p:nvSpPr>
        <p:spPr>
          <a:xfrm>
            <a:off x="10881360" y="6419088"/>
            <a:ext cx="758952" cy="228600"/>
          </a:xfrm>
          <a:prstGeom prst="rect">
            <a:avLst/>
          </a:prstGeom>
          <a:noFill/>
        </p:spPr>
        <p:txBody>
          <a:bodyPr wrap="square" lIns="0" rIns="0" tIns="0" bIns="0" anchor="t">
            <a:spAutoFit/>
          </a:bodyPr>
          <a:lstStyle/>
          <a:p>
            <a:pPr algn="r">
              <a:lnSpc>
                <a:spcPct val="110000"/>
              </a:lnSpc>
              <a:spcAft>
                <a:spcPts val="600"/>
              </a:spcAft>
            </a:pPr>
            <a:r>
              <a:rPr sz="1000" b="0">
                <a:solidFill>
                  <a:srgbClr val="7D8297"/>
                </a:solidFill>
                <a:latin typeface="Segoe UI"/>
                <a:cs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HOW THE SOLUTIONS RUN</a:t>
            </a:r>
          </a:p>
        </p:txBody>
      </p:sp>
      <p:sp>
        <p:nvSpPr>
          <p:cNvPr id="3" name="Title"/>
          <p:cNvSpPr txBox="1"/>
          <p:nvPr/>
        </p:nvSpPr>
        <p:spPr>
          <a:xfrm>
            <a:off x="548640" y="658368"/>
            <a:ext cx="11064240" cy="914400"/>
          </a:xfrm>
          <a:prstGeom prst="rect">
            <a:avLst/>
          </a:prstGeom>
          <a:noFill/>
        </p:spPr>
        <p:txBody>
          <a:bodyPr wrap="square" lIns="0" rIns="0" tIns="0" bIns="0" anchor="t">
            <a:spAutoFit/>
          </a:bodyPr>
          <a:lstStyle/>
          <a:p>
            <a:pPr algn="l">
              <a:lnSpc>
                <a:spcPct val="100000"/>
              </a:lnSpc>
              <a:spcAft>
                <a:spcPts val="600"/>
              </a:spcAft>
            </a:pPr>
            <a:r>
              <a:rPr sz="3000" b="0">
                <a:solidFill>
                  <a:srgbClr val="161A33"/>
                </a:solidFill>
                <a:latin typeface="Segoe UI Semibold"/>
                <a:cs typeface="Segoe UI Semibold"/>
              </a:rPr>
              <a:t>Numbers come from SQL, n8n runs the routine, people decide</a:t>
            </a:r>
          </a:p>
        </p:txBody>
      </p:sp>
      <p:sp>
        <p:nvSpPr>
          <p:cNvPr id="4" name="Stage card"/>
          <p:cNvSpPr/>
          <p:nvPr/>
        </p:nvSpPr>
        <p:spPr>
          <a:xfrm>
            <a:off x="548640" y="1691640"/>
            <a:ext cx="2240280" cy="3063240"/>
          </a:xfrm>
          <a:prstGeom prst="roundRect">
            <a:avLst>
              <a:gd name="adj" fmla="val 5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python.png"/>
          <p:cNvPicPr>
            <a:picLocks noChangeAspect="1"/>
          </p:cNvPicPr>
          <p:nvPr/>
        </p:nvPicPr>
        <p:blipFill>
          <a:blip r:embed="rId2"/>
          <a:stretch>
            <a:fillRect/>
          </a:stretch>
        </p:blipFill>
        <p:spPr>
          <a:xfrm>
            <a:off x="804672" y="1929384"/>
            <a:ext cx="420624" cy="420624"/>
          </a:xfrm>
          <a:prstGeom prst="rect">
            <a:avLst/>
          </a:prstGeom>
        </p:spPr>
      </p:pic>
      <p:sp>
        <p:nvSpPr>
          <p:cNvPr id="6" name="TextBox 5"/>
          <p:cNvSpPr txBox="1"/>
          <p:nvPr/>
        </p:nvSpPr>
        <p:spPr>
          <a:xfrm>
            <a:off x="804672" y="2478024"/>
            <a:ext cx="1828800" cy="384048"/>
          </a:xfrm>
          <a:prstGeom prst="rect">
            <a:avLst/>
          </a:prstGeom>
          <a:noFill/>
        </p:spPr>
        <p:txBody>
          <a:bodyPr wrap="square" lIns="0" rIns="0" tIns="0" bIns="0" anchor="t">
            <a:spAutoFit/>
          </a:bodyPr>
          <a:lstStyle/>
          <a:p>
            <a:pPr algn="l">
              <a:lnSpc>
                <a:spcPct val="110000"/>
              </a:lnSpc>
              <a:spcAft>
                <a:spcPts val="600"/>
              </a:spcAft>
            </a:pPr>
            <a:r>
              <a:rPr sz="2000" b="0">
                <a:solidFill>
                  <a:srgbClr val="26337A"/>
                </a:solidFill>
                <a:latin typeface="Segoe UI Semibold"/>
                <a:cs typeface="Segoe UI Semibold"/>
              </a:rPr>
              <a:t>Raw extract</a:t>
            </a:r>
          </a:p>
        </p:txBody>
      </p:sp>
      <p:sp>
        <p:nvSpPr>
          <p:cNvPr id="7" name="TextBox 6"/>
          <p:cNvSpPr txBox="1"/>
          <p:nvPr/>
        </p:nvSpPr>
        <p:spPr>
          <a:xfrm>
            <a:off x="804672" y="2862072"/>
            <a:ext cx="182880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a:cs typeface="Segoe UI"/>
              </a:rPr>
              <a:t>Cleaned once</a:t>
            </a:r>
          </a:p>
        </p:txBody>
      </p:sp>
      <p:sp>
        <p:nvSpPr>
          <p:cNvPr id="8" name="TextBox 7"/>
          <p:cNvSpPr txBox="1"/>
          <p:nvPr/>
        </p:nvSpPr>
        <p:spPr>
          <a:xfrm>
            <a:off x="804672" y="3227832"/>
            <a:ext cx="1874520" cy="1463040"/>
          </a:xfrm>
          <a:prstGeom prst="rect">
            <a:avLst/>
          </a:prstGeom>
          <a:noFill/>
        </p:spPr>
        <p:txBody>
          <a:bodyPr wrap="square" lIns="0" rIns="0" tIns="0" bIns="0" anchor="t">
            <a:spAutoFit/>
          </a:bodyPr>
          <a:lstStyle/>
          <a:p>
            <a:pPr algn="l">
              <a:lnSpc>
                <a:spcPct val="105000"/>
              </a:lnSpc>
              <a:spcAft>
                <a:spcPts val="700"/>
              </a:spcAft>
            </a:pPr>
            <a:r>
              <a:rPr sz="1250" b="0">
                <a:solidFill>
                  <a:srgbClr val="161A33"/>
                </a:solidFill>
                <a:latin typeface="Segoe UI"/>
                <a:cs typeface="Segoe UI"/>
              </a:rPr>
              <a:t>23 CSV tables, read-only</a:t>
            </a:r>
          </a:p>
          <a:p>
            <a:pPr algn="l">
              <a:lnSpc>
                <a:spcPct val="105000"/>
              </a:lnSpc>
              <a:spcAft>
                <a:spcPts val="700"/>
              </a:spcAft>
            </a:pPr>
            <a:r>
              <a:rPr sz="1250" b="0">
                <a:solidFill>
                  <a:srgbClr val="161A33"/>
                </a:solidFill>
                <a:latin typeface="Segoe UI"/>
                <a:cs typeface="Segoe UI"/>
              </a:rPr>
              <a:t>Python builds 13 clean files</a:t>
            </a:r>
          </a:p>
          <a:p>
            <a:pPr algn="l">
              <a:lnSpc>
                <a:spcPct val="105000"/>
              </a:lnSpc>
              <a:spcAft>
                <a:spcPts val="700"/>
              </a:spcAft>
            </a:pPr>
            <a:r>
              <a:rPr sz="1250" b="0">
                <a:solidFill>
                  <a:srgbClr val="161A33"/>
                </a:solidFill>
                <a:latin typeface="Segoe UI"/>
                <a:cs typeface="Segoe UI"/>
              </a:rPr>
              <a:t>Totals checked before load</a:t>
            </a:r>
          </a:p>
        </p:txBody>
      </p:sp>
      <p:cxnSp>
        <p:nvCxnSpPr>
          <p:cNvPr id="9" name="Connector"/>
          <p:cNvCxnSpPr/>
          <p:nvPr/>
        </p:nvCxnSpPr>
        <p:spPr>
          <a:xfrm>
            <a:off x="2825496" y="3223260"/>
            <a:ext cx="338328" cy="0"/>
          </a:xfrm>
          <a:prstGeom prst="line">
            <a:avLst/>
          </a:prstGeom>
          <a:ln w="22225">
            <a:solidFill>
              <a:srgbClr val="26337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0" name="Stage card"/>
          <p:cNvSpPr/>
          <p:nvPr/>
        </p:nvSpPr>
        <p:spPr>
          <a:xfrm>
            <a:off x="3200400" y="1691640"/>
            <a:ext cx="3017520" cy="3063240"/>
          </a:xfrm>
          <a:prstGeom prst="roundRect">
            <a:avLst>
              <a:gd name="adj" fmla="val 5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ogo_supabase.png"/>
          <p:cNvPicPr>
            <a:picLocks noChangeAspect="1"/>
          </p:cNvPicPr>
          <p:nvPr/>
        </p:nvPicPr>
        <p:blipFill>
          <a:blip r:embed="rId3"/>
          <a:stretch>
            <a:fillRect/>
          </a:stretch>
        </p:blipFill>
        <p:spPr>
          <a:xfrm>
            <a:off x="3456432" y="1929384"/>
            <a:ext cx="420624" cy="420624"/>
          </a:xfrm>
          <a:prstGeom prst="rect">
            <a:avLst/>
          </a:prstGeom>
        </p:spPr>
      </p:pic>
      <p:pic>
        <p:nvPicPr>
          <p:cNvPr id="12" name="Picture 11" descr="logo_postgresql.png"/>
          <p:cNvPicPr>
            <a:picLocks noChangeAspect="1"/>
          </p:cNvPicPr>
          <p:nvPr/>
        </p:nvPicPr>
        <p:blipFill>
          <a:blip r:embed="rId4"/>
          <a:stretch>
            <a:fillRect/>
          </a:stretch>
        </p:blipFill>
        <p:spPr>
          <a:xfrm>
            <a:off x="3986784" y="1929384"/>
            <a:ext cx="420624" cy="420624"/>
          </a:xfrm>
          <a:prstGeom prst="rect">
            <a:avLst/>
          </a:prstGeom>
        </p:spPr>
      </p:pic>
      <p:sp>
        <p:nvSpPr>
          <p:cNvPr id="13" name="TextBox 12"/>
          <p:cNvSpPr txBox="1"/>
          <p:nvPr/>
        </p:nvSpPr>
        <p:spPr>
          <a:xfrm>
            <a:off x="3456432" y="2478024"/>
            <a:ext cx="2606039" cy="384048"/>
          </a:xfrm>
          <a:prstGeom prst="rect">
            <a:avLst/>
          </a:prstGeom>
          <a:noFill/>
        </p:spPr>
        <p:txBody>
          <a:bodyPr wrap="square" lIns="0" rIns="0" tIns="0" bIns="0" anchor="t">
            <a:spAutoFit/>
          </a:bodyPr>
          <a:lstStyle/>
          <a:p>
            <a:pPr algn="l">
              <a:lnSpc>
                <a:spcPct val="110000"/>
              </a:lnSpc>
              <a:spcAft>
                <a:spcPts val="600"/>
              </a:spcAft>
            </a:pPr>
            <a:r>
              <a:rPr sz="2000" b="0">
                <a:solidFill>
                  <a:srgbClr val="26337A"/>
                </a:solidFill>
                <a:latin typeface="Segoe UI Semibold"/>
                <a:cs typeface="Segoe UI Semibold"/>
              </a:rPr>
              <a:t>Supabase</a:t>
            </a:r>
          </a:p>
        </p:txBody>
      </p:sp>
      <p:sp>
        <p:nvSpPr>
          <p:cNvPr id="14" name="TextBox 13"/>
          <p:cNvSpPr txBox="1"/>
          <p:nvPr/>
        </p:nvSpPr>
        <p:spPr>
          <a:xfrm>
            <a:off x="3456432" y="2862072"/>
            <a:ext cx="2606039"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a:cs typeface="Segoe UI"/>
              </a:rPr>
              <a:t>Postgres 17 + pgvector</a:t>
            </a:r>
          </a:p>
        </p:txBody>
      </p:sp>
      <p:sp>
        <p:nvSpPr>
          <p:cNvPr id="15" name="TextBox 14"/>
          <p:cNvSpPr txBox="1"/>
          <p:nvPr/>
        </p:nvSpPr>
        <p:spPr>
          <a:xfrm>
            <a:off x="3456432" y="3227832"/>
            <a:ext cx="2651760" cy="1463040"/>
          </a:xfrm>
          <a:prstGeom prst="rect">
            <a:avLst/>
          </a:prstGeom>
          <a:noFill/>
        </p:spPr>
        <p:txBody>
          <a:bodyPr wrap="square" lIns="0" rIns="0" tIns="0" bIns="0" anchor="t">
            <a:spAutoFit/>
          </a:bodyPr>
          <a:lstStyle/>
          <a:p>
            <a:pPr algn="l">
              <a:lnSpc>
                <a:spcPct val="105000"/>
              </a:lnSpc>
              <a:spcAft>
                <a:spcPts val="700"/>
              </a:spcAft>
            </a:pPr>
            <a:r>
              <a:rPr sz="1250" b="0">
                <a:solidFill>
                  <a:srgbClr val="161A33"/>
                </a:solidFill>
                <a:latin typeface="Segoe UI"/>
                <a:cs typeface="Segoe UI"/>
              </a:rPr>
              <a:t>1.95M rows in 11 tables</a:t>
            </a:r>
          </a:p>
          <a:p>
            <a:pPr algn="l">
              <a:lnSpc>
                <a:spcPct val="105000"/>
              </a:lnSpc>
              <a:spcAft>
                <a:spcPts val="700"/>
              </a:spcAft>
            </a:pPr>
            <a:r>
              <a:rPr sz="1250" b="0">
                <a:solidFill>
                  <a:srgbClr val="161A33"/>
                </a:solidFill>
                <a:latin typeface="Segoe UI"/>
                <a:cs typeface="Segoe UI"/>
              </a:rPr>
              <a:t>9 certified views</a:t>
            </a:r>
          </a:p>
          <a:p>
            <a:pPr algn="l">
              <a:lnSpc>
                <a:spcPct val="105000"/>
              </a:lnSpc>
              <a:spcAft>
                <a:spcPts val="700"/>
              </a:spcAft>
            </a:pPr>
            <a:r>
              <a:rPr sz="1250" b="0">
                <a:solidFill>
                  <a:srgbClr val="161A33"/>
                </a:solidFill>
                <a:latin typeface="Segoe UI"/>
                <a:cs typeface="Segoe UI"/>
              </a:rPr>
              <a:t>46-entry knowledge base</a:t>
            </a:r>
          </a:p>
          <a:p>
            <a:pPr algn="l">
              <a:lnSpc>
                <a:spcPct val="105000"/>
              </a:lnSpc>
              <a:spcAft>
                <a:spcPts val="700"/>
              </a:spcAft>
            </a:pPr>
            <a:r>
              <a:rPr sz="1250" b="0">
                <a:solidFill>
                  <a:srgbClr val="161A33"/>
                </a:solidFill>
                <a:latin typeface="Segoe UI"/>
                <a:cs typeface="Segoe UI"/>
              </a:rPr>
              <a:t>Every run and question logged</a:t>
            </a:r>
          </a:p>
        </p:txBody>
      </p:sp>
      <p:cxnSp>
        <p:nvCxnSpPr>
          <p:cNvPr id="16" name="Connector"/>
          <p:cNvCxnSpPr/>
          <p:nvPr/>
        </p:nvCxnSpPr>
        <p:spPr>
          <a:xfrm>
            <a:off x="6254496" y="3223260"/>
            <a:ext cx="338328" cy="0"/>
          </a:xfrm>
          <a:prstGeom prst="line">
            <a:avLst/>
          </a:prstGeom>
          <a:ln w="22225">
            <a:solidFill>
              <a:srgbClr val="26337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7" name="Stage card"/>
          <p:cNvSpPr/>
          <p:nvPr/>
        </p:nvSpPr>
        <p:spPr>
          <a:xfrm>
            <a:off x="6629400" y="1691640"/>
            <a:ext cx="2743200" cy="3063240"/>
          </a:xfrm>
          <a:prstGeom prst="roundRect">
            <a:avLst>
              <a:gd name="adj" fmla="val 5000"/>
            </a:avLst>
          </a:prstGeom>
          <a:solidFill>
            <a:srgbClr val="E9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ogo_n8n.png"/>
          <p:cNvPicPr>
            <a:picLocks noChangeAspect="1"/>
          </p:cNvPicPr>
          <p:nvPr/>
        </p:nvPicPr>
        <p:blipFill>
          <a:blip r:embed="rId5"/>
          <a:stretch>
            <a:fillRect/>
          </a:stretch>
        </p:blipFill>
        <p:spPr>
          <a:xfrm>
            <a:off x="6885432" y="1929384"/>
            <a:ext cx="420624" cy="420624"/>
          </a:xfrm>
          <a:prstGeom prst="rect">
            <a:avLst/>
          </a:prstGeom>
        </p:spPr>
      </p:pic>
      <p:sp>
        <p:nvSpPr>
          <p:cNvPr id="19" name="TextBox 18"/>
          <p:cNvSpPr txBox="1"/>
          <p:nvPr/>
        </p:nvSpPr>
        <p:spPr>
          <a:xfrm>
            <a:off x="6885432" y="2478024"/>
            <a:ext cx="2331720" cy="384048"/>
          </a:xfrm>
          <a:prstGeom prst="rect">
            <a:avLst/>
          </a:prstGeom>
          <a:noFill/>
        </p:spPr>
        <p:txBody>
          <a:bodyPr wrap="square" lIns="0" rIns="0" tIns="0" bIns="0" anchor="t">
            <a:spAutoFit/>
          </a:bodyPr>
          <a:lstStyle/>
          <a:p>
            <a:pPr algn="l">
              <a:lnSpc>
                <a:spcPct val="110000"/>
              </a:lnSpc>
              <a:spcAft>
                <a:spcPts val="600"/>
              </a:spcAft>
            </a:pPr>
            <a:r>
              <a:rPr sz="2000" b="0">
                <a:solidFill>
                  <a:srgbClr val="26337A"/>
                </a:solidFill>
                <a:latin typeface="Segoe UI Semibold"/>
                <a:cs typeface="Segoe UI Semibold"/>
              </a:rPr>
              <a:t>n8n</a:t>
            </a:r>
          </a:p>
        </p:txBody>
      </p:sp>
      <p:sp>
        <p:nvSpPr>
          <p:cNvPr id="20" name="TextBox 19"/>
          <p:cNvSpPr txBox="1"/>
          <p:nvPr/>
        </p:nvSpPr>
        <p:spPr>
          <a:xfrm>
            <a:off x="6885432" y="2862072"/>
            <a:ext cx="233172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a:cs typeface="Segoe UI"/>
              </a:rPr>
              <a:t>Runs the routine</a:t>
            </a:r>
          </a:p>
        </p:txBody>
      </p:sp>
      <p:sp>
        <p:nvSpPr>
          <p:cNvPr id="21" name="TextBox 20"/>
          <p:cNvSpPr txBox="1"/>
          <p:nvPr/>
        </p:nvSpPr>
        <p:spPr>
          <a:xfrm>
            <a:off x="6885432" y="3227832"/>
            <a:ext cx="2377440" cy="1463040"/>
          </a:xfrm>
          <a:prstGeom prst="rect">
            <a:avLst/>
          </a:prstGeom>
          <a:noFill/>
        </p:spPr>
        <p:txBody>
          <a:bodyPr wrap="square" lIns="0" rIns="0" tIns="0" bIns="0" anchor="t">
            <a:spAutoFit/>
          </a:bodyPr>
          <a:lstStyle/>
          <a:p>
            <a:pPr algn="l">
              <a:lnSpc>
                <a:spcPct val="105000"/>
              </a:lnSpc>
              <a:spcAft>
                <a:spcPts val="700"/>
              </a:spcAft>
            </a:pPr>
            <a:r>
              <a:rPr sz="1250" b="0">
                <a:solidFill>
                  <a:srgbClr val="161A33"/>
                </a:solidFill>
                <a:latin typeface="Segoe UI"/>
                <a:cs typeface="Segoe UI"/>
              </a:rPr>
              <a:t>Guardrail · daily 08:00</a:t>
            </a:r>
          </a:p>
          <a:p>
            <a:pPr algn="l">
              <a:lnSpc>
                <a:spcPct val="105000"/>
              </a:lnSpc>
              <a:spcAft>
                <a:spcPts val="700"/>
              </a:spcAft>
            </a:pPr>
            <a:r>
              <a:rPr sz="1250" b="0">
                <a:solidFill>
                  <a:srgbClr val="161A33"/>
                </a:solidFill>
                <a:latin typeface="Segoe UI"/>
                <a:cs typeface="Segoe UI"/>
              </a:rPr>
              <a:t>Reactivation · 1st of month</a:t>
            </a:r>
          </a:p>
          <a:p>
            <a:pPr algn="l">
              <a:lnSpc>
                <a:spcPct val="105000"/>
              </a:lnSpc>
              <a:spcAft>
                <a:spcPts val="700"/>
              </a:spcAft>
            </a:pPr>
            <a:r>
              <a:rPr sz="1250" b="0">
                <a:solidFill>
                  <a:srgbClr val="161A33"/>
                </a:solidFill>
                <a:latin typeface="Segoe UI"/>
                <a:cs typeface="Segoe UI"/>
              </a:rPr>
              <a:t>Weekly digest · Monday</a:t>
            </a:r>
          </a:p>
          <a:p>
            <a:pPr algn="l">
              <a:lnSpc>
                <a:spcPct val="105000"/>
              </a:lnSpc>
              <a:spcAft>
                <a:spcPts val="700"/>
              </a:spcAft>
            </a:pPr>
            <a:r>
              <a:rPr sz="1250" b="0">
                <a:solidFill>
                  <a:srgbClr val="161A33"/>
                </a:solidFill>
                <a:latin typeface="Segoe UI"/>
                <a:cs typeface="Segoe UI"/>
              </a:rPr>
              <a:t>Data assistant · on demand</a:t>
            </a:r>
          </a:p>
        </p:txBody>
      </p:sp>
      <p:cxnSp>
        <p:nvCxnSpPr>
          <p:cNvPr id="22" name="Connector"/>
          <p:cNvCxnSpPr/>
          <p:nvPr/>
        </p:nvCxnSpPr>
        <p:spPr>
          <a:xfrm>
            <a:off x="9409176" y="3223260"/>
            <a:ext cx="338328" cy="0"/>
          </a:xfrm>
          <a:prstGeom prst="line">
            <a:avLst/>
          </a:prstGeom>
          <a:ln w="22225">
            <a:solidFill>
              <a:srgbClr val="26337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3" name="Stage card"/>
          <p:cNvSpPr/>
          <p:nvPr/>
        </p:nvSpPr>
        <p:spPr>
          <a:xfrm>
            <a:off x="9784080" y="1691640"/>
            <a:ext cx="1856231" cy="3063240"/>
          </a:xfrm>
          <a:prstGeom prst="roundRect">
            <a:avLst>
              <a:gd name="adj" fmla="val 5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logo_telegram.png"/>
          <p:cNvPicPr>
            <a:picLocks noChangeAspect="1"/>
          </p:cNvPicPr>
          <p:nvPr/>
        </p:nvPicPr>
        <p:blipFill>
          <a:blip r:embed="rId6"/>
          <a:stretch>
            <a:fillRect/>
          </a:stretch>
        </p:blipFill>
        <p:spPr>
          <a:xfrm>
            <a:off x="10040111" y="1929384"/>
            <a:ext cx="420624" cy="420624"/>
          </a:xfrm>
          <a:prstGeom prst="rect">
            <a:avLst/>
          </a:prstGeom>
        </p:spPr>
      </p:pic>
      <p:sp>
        <p:nvSpPr>
          <p:cNvPr id="25" name="TextBox 24"/>
          <p:cNvSpPr txBox="1"/>
          <p:nvPr/>
        </p:nvSpPr>
        <p:spPr>
          <a:xfrm>
            <a:off x="10040111" y="2478024"/>
            <a:ext cx="1444751" cy="384048"/>
          </a:xfrm>
          <a:prstGeom prst="rect">
            <a:avLst/>
          </a:prstGeom>
          <a:noFill/>
        </p:spPr>
        <p:txBody>
          <a:bodyPr wrap="square" lIns="0" rIns="0" tIns="0" bIns="0" anchor="t">
            <a:spAutoFit/>
          </a:bodyPr>
          <a:lstStyle/>
          <a:p>
            <a:pPr algn="l">
              <a:lnSpc>
                <a:spcPct val="110000"/>
              </a:lnSpc>
              <a:spcAft>
                <a:spcPts val="600"/>
              </a:spcAft>
            </a:pPr>
            <a:r>
              <a:rPr sz="2000" b="0">
                <a:solidFill>
                  <a:srgbClr val="26337A"/>
                </a:solidFill>
                <a:latin typeface="Segoe UI Semibold"/>
                <a:cs typeface="Segoe UI Semibold"/>
              </a:rPr>
              <a:t>People</a:t>
            </a:r>
          </a:p>
        </p:txBody>
      </p:sp>
      <p:sp>
        <p:nvSpPr>
          <p:cNvPr id="26" name="TextBox 25"/>
          <p:cNvSpPr txBox="1"/>
          <p:nvPr/>
        </p:nvSpPr>
        <p:spPr>
          <a:xfrm>
            <a:off x="10040111" y="2862072"/>
            <a:ext cx="1444751"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a:cs typeface="Segoe UI"/>
              </a:rPr>
              <a:t>Decide and act</a:t>
            </a:r>
          </a:p>
        </p:txBody>
      </p:sp>
      <p:sp>
        <p:nvSpPr>
          <p:cNvPr id="27" name="TextBox 26"/>
          <p:cNvSpPr txBox="1"/>
          <p:nvPr/>
        </p:nvSpPr>
        <p:spPr>
          <a:xfrm>
            <a:off x="10040111" y="3227832"/>
            <a:ext cx="1490472" cy="1463040"/>
          </a:xfrm>
          <a:prstGeom prst="rect">
            <a:avLst/>
          </a:prstGeom>
          <a:noFill/>
        </p:spPr>
        <p:txBody>
          <a:bodyPr wrap="square" lIns="0" rIns="0" tIns="0" bIns="0" anchor="t">
            <a:spAutoFit/>
          </a:bodyPr>
          <a:lstStyle/>
          <a:p>
            <a:pPr algn="l">
              <a:lnSpc>
                <a:spcPct val="105000"/>
              </a:lnSpc>
              <a:spcAft>
                <a:spcPts val="700"/>
              </a:spcAft>
            </a:pPr>
            <a:r>
              <a:rPr sz="1250" b="0">
                <a:solidFill>
                  <a:srgbClr val="161A33"/>
                </a:solidFill>
                <a:latin typeface="Segoe UI"/>
                <a:cs typeface="Segoe UI"/>
              </a:rPr>
              <a:t>Telegram alerts and approvals</a:t>
            </a:r>
          </a:p>
          <a:p>
            <a:pPr algn="l">
              <a:lnSpc>
                <a:spcPct val="105000"/>
              </a:lnSpc>
              <a:spcAft>
                <a:spcPts val="700"/>
              </a:spcAft>
            </a:pPr>
            <a:r>
              <a:rPr sz="1250" b="0">
                <a:solidFill>
                  <a:srgbClr val="161A33"/>
                </a:solidFill>
                <a:latin typeface="Segoe UI"/>
                <a:cs typeface="Segoe UI"/>
              </a:rPr>
              <a:t>Dashboard and chat</a:t>
            </a:r>
          </a:p>
        </p:txBody>
      </p:sp>
      <p:sp>
        <p:nvSpPr>
          <p:cNvPr id="28" name="Rule card"/>
          <p:cNvSpPr/>
          <p:nvPr/>
        </p:nvSpPr>
        <p:spPr>
          <a:xfrm>
            <a:off x="548640" y="4983480"/>
            <a:ext cx="3383280" cy="1143000"/>
          </a:xfrm>
          <a:prstGeom prst="roundRect">
            <a:avLst>
              <a:gd name="adj" fmla="val 6000"/>
            </a:avLst>
          </a:prstGeom>
          <a:solidFill>
            <a:srgbClr val="FFFFFF"/>
          </a:solidFill>
          <a:ln w="12700">
            <a:solidFill>
              <a:srgbClr val="E1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59" y="5138928"/>
            <a:ext cx="2880360" cy="320040"/>
          </a:xfrm>
          <a:prstGeom prst="rect">
            <a:avLst/>
          </a:prstGeom>
          <a:noFill/>
        </p:spPr>
        <p:txBody>
          <a:bodyPr wrap="square" lIns="0" rIns="0" tIns="0" bIns="0" anchor="t">
            <a:spAutoFit/>
          </a:bodyPr>
          <a:lstStyle/>
          <a:p>
            <a:pPr algn="l">
              <a:lnSpc>
                <a:spcPct val="110000"/>
              </a:lnSpc>
              <a:spcAft>
                <a:spcPts val="600"/>
              </a:spcAft>
            </a:pPr>
            <a:r>
              <a:rPr sz="1500" b="0">
                <a:solidFill>
                  <a:srgbClr val="26337A"/>
                </a:solidFill>
                <a:latin typeface="Segoe UI Semibold"/>
                <a:cs typeface="Segoe UI Semibold"/>
              </a:rPr>
              <a:t>No number from memory</a:t>
            </a:r>
          </a:p>
        </p:txBody>
      </p:sp>
      <p:sp>
        <p:nvSpPr>
          <p:cNvPr id="30" name="TextBox 29"/>
          <p:cNvSpPr txBox="1"/>
          <p:nvPr/>
        </p:nvSpPr>
        <p:spPr>
          <a:xfrm>
            <a:off x="822959" y="5468112"/>
            <a:ext cx="2880360" cy="594360"/>
          </a:xfrm>
          <a:prstGeom prst="rect">
            <a:avLst/>
          </a:prstGeom>
          <a:noFill/>
        </p:spPr>
        <p:txBody>
          <a:bodyPr wrap="square" lIns="0" rIns="0" tIns="0" bIns="0" anchor="t">
            <a:spAutoFit/>
          </a:bodyPr>
          <a:lstStyle/>
          <a:p>
            <a:pPr algn="l">
              <a:lnSpc>
                <a:spcPct val="105000"/>
              </a:lnSpc>
              <a:spcAft>
                <a:spcPts val="600"/>
              </a:spcAft>
            </a:pPr>
            <a:r>
              <a:rPr sz="1300" b="0">
                <a:solidFill>
                  <a:srgbClr val="4A4F66"/>
                </a:solidFill>
                <a:latin typeface="Segoe UI"/>
                <a:cs typeface="Segoe UI"/>
              </a:rPr>
              <a:t>The AI model (via OpenRouter) writes text only; every figure is a SQL result.</a:t>
            </a:r>
          </a:p>
        </p:txBody>
      </p:sp>
      <p:sp>
        <p:nvSpPr>
          <p:cNvPr id="31" name="Rule card"/>
          <p:cNvSpPr/>
          <p:nvPr/>
        </p:nvSpPr>
        <p:spPr>
          <a:xfrm>
            <a:off x="4389120" y="4983480"/>
            <a:ext cx="3383280" cy="1143000"/>
          </a:xfrm>
          <a:prstGeom prst="roundRect">
            <a:avLst>
              <a:gd name="adj" fmla="val 6000"/>
            </a:avLst>
          </a:prstGeom>
          <a:solidFill>
            <a:srgbClr val="FFFFFF"/>
          </a:solidFill>
          <a:ln w="12700">
            <a:solidFill>
              <a:srgbClr val="E1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63440" y="5138928"/>
            <a:ext cx="2880360" cy="320040"/>
          </a:xfrm>
          <a:prstGeom prst="rect">
            <a:avLst/>
          </a:prstGeom>
          <a:noFill/>
        </p:spPr>
        <p:txBody>
          <a:bodyPr wrap="square" lIns="0" rIns="0" tIns="0" bIns="0" anchor="t">
            <a:spAutoFit/>
          </a:bodyPr>
          <a:lstStyle/>
          <a:p>
            <a:pPr algn="l">
              <a:lnSpc>
                <a:spcPct val="110000"/>
              </a:lnSpc>
              <a:spcAft>
                <a:spcPts val="600"/>
              </a:spcAft>
            </a:pPr>
            <a:r>
              <a:rPr sz="1500" b="0">
                <a:solidFill>
                  <a:srgbClr val="26337A"/>
                </a:solidFill>
                <a:latin typeface="Segoe UI Semibold"/>
                <a:cs typeface="Segoe UI Semibold"/>
              </a:rPr>
              <a:t>A human says yes</a:t>
            </a:r>
          </a:p>
        </p:txBody>
      </p:sp>
      <p:sp>
        <p:nvSpPr>
          <p:cNvPr id="33" name="TextBox 32"/>
          <p:cNvSpPr txBox="1"/>
          <p:nvPr/>
        </p:nvSpPr>
        <p:spPr>
          <a:xfrm>
            <a:off x="4663440" y="5468112"/>
            <a:ext cx="2880360" cy="594360"/>
          </a:xfrm>
          <a:prstGeom prst="rect">
            <a:avLst/>
          </a:prstGeom>
          <a:noFill/>
        </p:spPr>
        <p:txBody>
          <a:bodyPr wrap="square" lIns="0" rIns="0" tIns="0" bIns="0" anchor="t">
            <a:spAutoFit/>
          </a:bodyPr>
          <a:lstStyle/>
          <a:p>
            <a:pPr algn="l">
              <a:lnSpc>
                <a:spcPct val="105000"/>
              </a:lnSpc>
              <a:spcAft>
                <a:spcPts val="600"/>
              </a:spcAft>
            </a:pPr>
            <a:r>
              <a:rPr sz="1300" b="0">
                <a:solidFill>
                  <a:srgbClr val="4A4F66"/>
                </a:solidFill>
                <a:latin typeface="Segoe UI"/>
                <a:cs typeface="Segoe UI"/>
              </a:rPr>
              <a:t>Nothing reaches customers without the CRM manager.</a:t>
            </a:r>
          </a:p>
        </p:txBody>
      </p:sp>
      <p:sp>
        <p:nvSpPr>
          <p:cNvPr id="34" name="Rule card"/>
          <p:cNvSpPr/>
          <p:nvPr/>
        </p:nvSpPr>
        <p:spPr>
          <a:xfrm>
            <a:off x="8229600" y="4983480"/>
            <a:ext cx="3383280" cy="1143000"/>
          </a:xfrm>
          <a:prstGeom prst="roundRect">
            <a:avLst>
              <a:gd name="adj" fmla="val 6000"/>
            </a:avLst>
          </a:prstGeom>
          <a:solidFill>
            <a:srgbClr val="FFFFFF"/>
          </a:solidFill>
          <a:ln w="12700">
            <a:solidFill>
              <a:srgbClr val="E1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03920" y="5138928"/>
            <a:ext cx="2880360" cy="320040"/>
          </a:xfrm>
          <a:prstGeom prst="rect">
            <a:avLst/>
          </a:prstGeom>
          <a:noFill/>
        </p:spPr>
        <p:txBody>
          <a:bodyPr wrap="square" lIns="0" rIns="0" tIns="0" bIns="0" anchor="t">
            <a:spAutoFit/>
          </a:bodyPr>
          <a:lstStyle/>
          <a:p>
            <a:pPr algn="l">
              <a:lnSpc>
                <a:spcPct val="110000"/>
              </a:lnSpc>
              <a:spcAft>
                <a:spcPts val="600"/>
              </a:spcAft>
            </a:pPr>
            <a:r>
              <a:rPr sz="1500" b="0">
                <a:solidFill>
                  <a:srgbClr val="26337A"/>
                </a:solidFill>
                <a:latin typeface="Segoe UI Semibold"/>
                <a:cs typeface="Segoe UI Semibold"/>
              </a:rPr>
              <a:t>Measured, not assumed</a:t>
            </a:r>
          </a:p>
        </p:txBody>
      </p:sp>
      <p:sp>
        <p:nvSpPr>
          <p:cNvPr id="36" name="TextBox 35"/>
          <p:cNvSpPr txBox="1"/>
          <p:nvPr/>
        </p:nvSpPr>
        <p:spPr>
          <a:xfrm>
            <a:off x="8503920" y="5468112"/>
            <a:ext cx="2880360" cy="594360"/>
          </a:xfrm>
          <a:prstGeom prst="rect">
            <a:avLst/>
          </a:prstGeom>
          <a:noFill/>
        </p:spPr>
        <p:txBody>
          <a:bodyPr wrap="square" lIns="0" rIns="0" tIns="0" bIns="0" anchor="t">
            <a:spAutoFit/>
          </a:bodyPr>
          <a:lstStyle/>
          <a:p>
            <a:pPr algn="l">
              <a:lnSpc>
                <a:spcPct val="105000"/>
              </a:lnSpc>
              <a:spcAft>
                <a:spcPts val="600"/>
              </a:spcAft>
            </a:pPr>
            <a:r>
              <a:rPr sz="1300" b="0">
                <a:solidFill>
                  <a:srgbClr val="4A4F66"/>
                </a:solidFill>
                <a:latin typeface="Segoe UI"/>
                <a:cs typeface="Segoe UI"/>
              </a:rPr>
              <a:t>A 10% holdout shows what a campaign really added.</a:t>
            </a:r>
          </a:p>
        </p:txBody>
      </p:sp>
      <p:sp>
        <p:nvSpPr>
          <p:cNvPr id="37" name="Source"/>
          <p:cNvSpPr txBox="1"/>
          <p:nvPr/>
        </p:nvSpPr>
        <p:spPr>
          <a:xfrm>
            <a:off x="548640" y="6419088"/>
            <a:ext cx="9601200" cy="228600"/>
          </a:xfrm>
          <a:prstGeom prst="rect">
            <a:avLst/>
          </a:prstGeom>
          <a:noFill/>
        </p:spPr>
        <p:txBody>
          <a:bodyPr wrap="square" lIns="0" rIns="0" tIns="0" bIns="0" anchor="t">
            <a:spAutoFit/>
          </a:bodyPr>
          <a:lstStyle/>
          <a:p>
            <a:pPr algn="l">
              <a:lnSpc>
                <a:spcPct val="110000"/>
              </a:lnSpc>
              <a:spcAft>
                <a:spcPts val="600"/>
              </a:spcAft>
            </a:pPr>
            <a:r>
              <a:rPr sz="1000" b="0">
                <a:solidFill>
                  <a:srgbClr val="7D8297"/>
                </a:solidFill>
                <a:latin typeface="Segoe UI"/>
                <a:cs typeface="Segoe UI"/>
              </a:rPr>
              <a:t>Source: n8n workflows and Supabase functions built for this case, October 2026</a:t>
            </a:r>
          </a:p>
        </p:txBody>
      </p:sp>
      <p:sp>
        <p:nvSpPr>
          <p:cNvPr id="38" name="Slide number"/>
          <p:cNvSpPr txBox="1"/>
          <p:nvPr/>
        </p:nvSpPr>
        <p:spPr>
          <a:xfrm>
            <a:off x="10881360" y="6419088"/>
            <a:ext cx="758952" cy="228600"/>
          </a:xfrm>
          <a:prstGeom prst="rect">
            <a:avLst/>
          </a:prstGeom>
          <a:noFill/>
        </p:spPr>
        <p:txBody>
          <a:bodyPr wrap="square" lIns="0" rIns="0" tIns="0" bIns="0" anchor="t">
            <a:spAutoFit/>
          </a:bodyPr>
          <a:lstStyle/>
          <a:p>
            <a:pPr algn="r">
              <a:lnSpc>
                <a:spcPct val="110000"/>
              </a:lnSpc>
              <a:spcAft>
                <a:spcPts val="600"/>
              </a:spcAft>
            </a:pPr>
            <a:r>
              <a:rPr sz="1000" b="0">
                <a:solidFill>
                  <a:srgbClr val="7D8297"/>
                </a:solidFill>
                <a:latin typeface="Segoe UI"/>
                <a:cs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THE DASHBOARD</a:t>
            </a:r>
          </a:p>
        </p:txBody>
      </p:sp>
      <p:sp>
        <p:nvSpPr>
          <p:cNvPr id="3" name="Title"/>
          <p:cNvSpPr txBox="1"/>
          <p:nvPr/>
        </p:nvSpPr>
        <p:spPr>
          <a:xfrm>
            <a:off x="548640" y="658368"/>
            <a:ext cx="11064240" cy="914400"/>
          </a:xfrm>
          <a:prstGeom prst="rect">
            <a:avLst/>
          </a:prstGeom>
          <a:noFill/>
        </p:spPr>
        <p:txBody>
          <a:bodyPr wrap="square" lIns="0" rIns="0" tIns="0" bIns="0" anchor="t">
            <a:spAutoFit/>
          </a:bodyPr>
          <a:lstStyle/>
          <a:p>
            <a:pPr algn="l">
              <a:lnSpc>
                <a:spcPct val="100000"/>
              </a:lnSpc>
              <a:spcAft>
                <a:spcPts val="600"/>
              </a:spcAft>
            </a:pPr>
            <a:r>
              <a:rPr sz="3000" b="0">
                <a:solidFill>
                  <a:srgbClr val="161A33"/>
                </a:solidFill>
                <a:latin typeface="Segoe UI Semibold"/>
                <a:cs typeface="Segoe UI Semibold"/>
              </a:rPr>
              <a:t>One page tells the story, and every number has a source</a:t>
            </a:r>
          </a:p>
        </p:txBody>
      </p:sp>
      <p:sp>
        <p:nvSpPr>
          <p:cNvPr id="4" name="Browser frame"/>
          <p:cNvSpPr/>
          <p:nvPr/>
        </p:nvSpPr>
        <p:spPr>
          <a:xfrm>
            <a:off x="548640" y="1691640"/>
            <a:ext cx="5422392" cy="3556544"/>
          </a:xfrm>
          <a:prstGeom prst="roundRect">
            <a:avLst>
              <a:gd name="adj" fmla="val 2000"/>
            </a:avLst>
          </a:prstGeom>
          <a:solidFill>
            <a:srgbClr val="FFFFFF"/>
          </a:solidFill>
          <a:ln w="12700">
            <a:solidFill>
              <a:srgbClr val="E1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rowser bar"/>
          <p:cNvSpPr/>
          <p:nvPr/>
        </p:nvSpPr>
        <p:spPr>
          <a:xfrm>
            <a:off x="548640" y="1691640"/>
            <a:ext cx="5422392" cy="274320"/>
          </a:xfrm>
          <a:prstGeom prst="roundRect">
            <a:avLst>
              <a:gd name="adj" fmla="val 20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indow dot"/>
          <p:cNvSpPr/>
          <p:nvPr/>
        </p:nvSpPr>
        <p:spPr>
          <a:xfrm>
            <a:off x="685800" y="1783080"/>
            <a:ext cx="91440" cy="91440"/>
          </a:xfrm>
          <a:prstGeom prst="ellipse">
            <a:avLst/>
          </a:prstGeom>
          <a:solidFill>
            <a:srgbClr val="EC8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indow dot"/>
          <p:cNvSpPr/>
          <p:nvPr/>
        </p:nvSpPr>
        <p:spPr>
          <a:xfrm>
            <a:off x="841248" y="1783080"/>
            <a:ext cx="91440" cy="91440"/>
          </a:xfrm>
          <a:prstGeom prst="ellipse">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Window dot"/>
          <p:cNvSpPr/>
          <p:nvPr/>
        </p:nvSpPr>
        <p:spPr>
          <a:xfrm>
            <a:off x="996696" y="1783080"/>
            <a:ext cx="91440" cy="9144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Dashboard screenshot" descr="dash_stack.png"/>
          <p:cNvPicPr>
            <a:picLocks noChangeAspect="1"/>
          </p:cNvPicPr>
          <p:nvPr/>
        </p:nvPicPr>
        <p:blipFill>
          <a:blip r:embed="rId2"/>
          <a:srcRect t="6500" b="11000" l="7000" r="7000"/>
          <a:stretch>
            <a:fillRect/>
          </a:stretch>
        </p:blipFill>
        <p:spPr>
          <a:xfrm>
            <a:off x="621792" y="2011680"/>
            <a:ext cx="5276088" cy="3163352"/>
          </a:xfrm>
          <a:prstGeom prst="rect">
            <a:avLst/>
          </a:prstGeom>
        </p:spPr>
      </p:pic>
      <p:sp>
        <p:nvSpPr>
          <p:cNvPr id="10" name="TextBox 9"/>
          <p:cNvSpPr txBox="1"/>
          <p:nvPr/>
        </p:nvSpPr>
        <p:spPr>
          <a:xfrm>
            <a:off x="548640" y="5357912"/>
            <a:ext cx="5422392" cy="292608"/>
          </a:xfrm>
          <a:prstGeom prst="rect">
            <a:avLst/>
          </a:prstGeom>
          <a:noFill/>
        </p:spPr>
        <p:txBody>
          <a:bodyPr wrap="square" lIns="0" rIns="0" tIns="0" bIns="0" anchor="t">
            <a:spAutoFit/>
          </a:bodyPr>
          <a:lstStyle/>
          <a:p>
            <a:pPr algn="l">
              <a:lnSpc>
                <a:spcPct val="110000"/>
              </a:lnSpc>
              <a:spcAft>
                <a:spcPts val="600"/>
              </a:spcAft>
            </a:pPr>
            <a:r>
              <a:rPr sz="1400" b="0">
                <a:solidFill>
                  <a:srgbClr val="26337A"/>
                </a:solidFill>
                <a:latin typeface="Segoe UI Semibold"/>
                <a:cs typeface="Segoe UI Semibold"/>
              </a:rPr>
              <a:t>How it's built</a:t>
            </a:r>
          </a:p>
        </p:txBody>
      </p:sp>
      <p:sp>
        <p:nvSpPr>
          <p:cNvPr id="11" name="TextBox 10"/>
          <p:cNvSpPr txBox="1"/>
          <p:nvPr/>
        </p:nvSpPr>
        <p:spPr>
          <a:xfrm>
            <a:off x="548640" y="5632232"/>
            <a:ext cx="5422392" cy="274320"/>
          </a:xfrm>
          <a:prstGeom prst="rect">
            <a:avLst/>
          </a:prstGeom>
          <a:noFill/>
        </p:spPr>
        <p:txBody>
          <a:bodyPr wrap="square" lIns="0" rIns="0" tIns="0" bIns="0" anchor="t">
            <a:spAutoFit/>
          </a:bodyPr>
          <a:lstStyle/>
          <a:p>
            <a:pPr algn="l">
              <a:lnSpc>
                <a:spcPct val="110000"/>
              </a:lnSpc>
              <a:spcAft>
                <a:spcPts val="600"/>
              </a:spcAft>
            </a:pPr>
            <a:r>
              <a:rPr sz="1150" b="0">
                <a:solidFill>
                  <a:srgbClr val="4A4F66"/>
                </a:solidFill>
                <a:latin typeface="Segoe UI"/>
                <a:cs typeface="Segoe UI"/>
              </a:rPr>
              <a:t>Hover a box to follow its lines from the raw files to Telegram</a:t>
            </a:r>
          </a:p>
        </p:txBody>
      </p:sp>
      <p:sp>
        <p:nvSpPr>
          <p:cNvPr id="12" name="Browser frame"/>
          <p:cNvSpPr/>
          <p:nvPr/>
        </p:nvSpPr>
        <p:spPr>
          <a:xfrm>
            <a:off x="6217920" y="1691640"/>
            <a:ext cx="5422392" cy="3556544"/>
          </a:xfrm>
          <a:prstGeom prst="roundRect">
            <a:avLst>
              <a:gd name="adj" fmla="val 2000"/>
            </a:avLst>
          </a:prstGeom>
          <a:solidFill>
            <a:srgbClr val="FFFFFF"/>
          </a:solidFill>
          <a:ln w="12700">
            <a:solidFill>
              <a:srgbClr val="E1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rowser bar"/>
          <p:cNvSpPr/>
          <p:nvPr/>
        </p:nvSpPr>
        <p:spPr>
          <a:xfrm>
            <a:off x="6217920" y="1691640"/>
            <a:ext cx="5422392" cy="274320"/>
          </a:xfrm>
          <a:prstGeom prst="roundRect">
            <a:avLst>
              <a:gd name="adj" fmla="val 20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indow dot"/>
          <p:cNvSpPr/>
          <p:nvPr/>
        </p:nvSpPr>
        <p:spPr>
          <a:xfrm>
            <a:off x="6355080" y="1783080"/>
            <a:ext cx="91440" cy="91440"/>
          </a:xfrm>
          <a:prstGeom prst="ellipse">
            <a:avLst/>
          </a:prstGeom>
          <a:solidFill>
            <a:srgbClr val="EC8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indow dot"/>
          <p:cNvSpPr/>
          <p:nvPr/>
        </p:nvSpPr>
        <p:spPr>
          <a:xfrm>
            <a:off x="6510528" y="1783080"/>
            <a:ext cx="91440" cy="91440"/>
          </a:xfrm>
          <a:prstGeom prst="ellipse">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indow dot"/>
          <p:cNvSpPr/>
          <p:nvPr/>
        </p:nvSpPr>
        <p:spPr>
          <a:xfrm>
            <a:off x="6665976" y="1783080"/>
            <a:ext cx="91440" cy="9144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Dashboard screenshot" descr="dash_discount.png"/>
          <p:cNvPicPr>
            <a:picLocks noChangeAspect="1"/>
          </p:cNvPicPr>
          <p:nvPr/>
        </p:nvPicPr>
        <p:blipFill>
          <a:blip r:embed="rId3"/>
          <a:srcRect t="6500" b="11000" l="7000" r="7000"/>
          <a:stretch>
            <a:fillRect/>
          </a:stretch>
        </p:blipFill>
        <p:spPr>
          <a:xfrm>
            <a:off x="6291072" y="2011680"/>
            <a:ext cx="5276088" cy="3163352"/>
          </a:xfrm>
          <a:prstGeom prst="rect">
            <a:avLst/>
          </a:prstGeom>
        </p:spPr>
      </p:pic>
      <p:sp>
        <p:nvSpPr>
          <p:cNvPr id="18" name="TextBox 17"/>
          <p:cNvSpPr txBox="1"/>
          <p:nvPr/>
        </p:nvSpPr>
        <p:spPr>
          <a:xfrm>
            <a:off x="6217920" y="5357912"/>
            <a:ext cx="5422392" cy="292608"/>
          </a:xfrm>
          <a:prstGeom prst="rect">
            <a:avLst/>
          </a:prstGeom>
          <a:noFill/>
        </p:spPr>
        <p:txBody>
          <a:bodyPr wrap="square" lIns="0" rIns="0" tIns="0" bIns="0" anchor="t">
            <a:spAutoFit/>
          </a:bodyPr>
          <a:lstStyle/>
          <a:p>
            <a:pPr algn="l">
              <a:lnSpc>
                <a:spcPct val="110000"/>
              </a:lnSpc>
              <a:spcAft>
                <a:spcPts val="600"/>
              </a:spcAft>
            </a:pPr>
            <a:r>
              <a:rPr sz="1400" b="0">
                <a:solidFill>
                  <a:srgbClr val="26337A"/>
                </a:solidFill>
                <a:latin typeface="Segoe UI Semibold"/>
                <a:cs typeface="Segoe UI Semibold"/>
              </a:rPr>
              <a:t>Discount cap simulator</a:t>
            </a:r>
          </a:p>
        </p:txBody>
      </p:sp>
      <p:sp>
        <p:nvSpPr>
          <p:cNvPr id="19" name="TextBox 18"/>
          <p:cNvSpPr txBox="1"/>
          <p:nvPr/>
        </p:nvSpPr>
        <p:spPr>
          <a:xfrm>
            <a:off x="6217920" y="5632232"/>
            <a:ext cx="5422392" cy="274320"/>
          </a:xfrm>
          <a:prstGeom prst="rect">
            <a:avLst/>
          </a:prstGeom>
          <a:noFill/>
        </p:spPr>
        <p:txBody>
          <a:bodyPr wrap="square" lIns="0" rIns="0" tIns="0" bIns="0" anchor="t">
            <a:spAutoFit/>
          </a:bodyPr>
          <a:lstStyle/>
          <a:p>
            <a:pPr algn="l">
              <a:lnSpc>
                <a:spcPct val="110000"/>
              </a:lnSpc>
              <a:spcAft>
                <a:spcPts val="600"/>
              </a:spcAft>
            </a:pPr>
            <a:r>
              <a:rPr sz="1150" b="0">
                <a:solidFill>
                  <a:srgbClr val="4A4F66"/>
                </a:solidFill>
                <a:latin typeface="Segoe UI"/>
                <a:cs typeface="Segoe UI"/>
              </a:rPr>
              <a:t>Pick a cap, see the EGP it would have kept (scenario)</a:t>
            </a:r>
          </a:p>
        </p:txBody>
      </p:sp>
      <p:sp>
        <p:nvSpPr>
          <p:cNvPr id="20" name="Source"/>
          <p:cNvSpPr txBox="1"/>
          <p:nvPr/>
        </p:nvSpPr>
        <p:spPr>
          <a:xfrm>
            <a:off x="548640" y="6419088"/>
            <a:ext cx="9601200" cy="228600"/>
          </a:xfrm>
          <a:prstGeom prst="rect">
            <a:avLst/>
          </a:prstGeom>
          <a:noFill/>
        </p:spPr>
        <p:txBody>
          <a:bodyPr wrap="square" lIns="0" rIns="0" tIns="0" bIns="0" anchor="t">
            <a:spAutoFit/>
          </a:bodyPr>
          <a:lstStyle/>
          <a:p>
            <a:pPr algn="l">
              <a:lnSpc>
                <a:spcPct val="110000"/>
              </a:lnSpc>
              <a:spcAft>
                <a:spcPts val="600"/>
              </a:spcAft>
            </a:pPr>
            <a:r>
              <a:rPr sz="1000" b="0">
                <a:solidFill>
                  <a:srgbClr val="7D8297"/>
                </a:solidFill>
                <a:latin typeface="Segoe UI"/>
                <a:cs typeface="Segoe UI"/>
              </a:rPr>
              <a:t>Source: dashboard/index.html, 9 tabs, data snapshot from Supabase (scripts/38_dashboard_snapshot.sql)</a:t>
            </a:r>
          </a:p>
        </p:txBody>
      </p:sp>
      <p:sp>
        <p:nvSpPr>
          <p:cNvPr id="21" name="Slide number"/>
          <p:cNvSpPr txBox="1"/>
          <p:nvPr/>
        </p:nvSpPr>
        <p:spPr>
          <a:xfrm>
            <a:off x="10881360" y="6419088"/>
            <a:ext cx="758952" cy="228600"/>
          </a:xfrm>
          <a:prstGeom prst="rect">
            <a:avLst/>
          </a:prstGeom>
          <a:noFill/>
        </p:spPr>
        <p:txBody>
          <a:bodyPr wrap="square" lIns="0" rIns="0" tIns="0" bIns="0" anchor="t">
            <a:spAutoFit/>
          </a:bodyPr>
          <a:lstStyle/>
          <a:p>
            <a:pPr algn="r">
              <a:lnSpc>
                <a:spcPct val="110000"/>
              </a:lnSpc>
              <a:spcAft>
                <a:spcPts val="600"/>
              </a:spcAft>
            </a:pPr>
            <a:r>
              <a:rPr sz="1000" b="0">
                <a:solidFill>
                  <a:srgbClr val="7D8297"/>
                </a:solidFill>
                <a:latin typeface="Segoe UI"/>
                <a:cs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IT RUNS TODAY</a:t>
            </a:r>
          </a:p>
        </p:txBody>
      </p:sp>
      <p:sp>
        <p:nvSpPr>
          <p:cNvPr id="3" name="Title"/>
          <p:cNvSpPr txBox="1"/>
          <p:nvPr/>
        </p:nvSpPr>
        <p:spPr>
          <a:xfrm>
            <a:off x="548640" y="658368"/>
            <a:ext cx="11064240" cy="914400"/>
          </a:xfrm>
          <a:prstGeom prst="rect">
            <a:avLst/>
          </a:prstGeom>
          <a:noFill/>
        </p:spPr>
        <p:txBody>
          <a:bodyPr wrap="square" lIns="0" rIns="0" tIns="0" bIns="0" anchor="t">
            <a:spAutoFit/>
          </a:bodyPr>
          <a:lstStyle/>
          <a:p>
            <a:pPr algn="l">
              <a:lnSpc>
                <a:spcPct val="100000"/>
              </a:lnSpc>
              <a:spcAft>
                <a:spcPts val="600"/>
              </a:spcAft>
            </a:pPr>
            <a:r>
              <a:rPr sz="3000" b="0">
                <a:solidFill>
                  <a:srgbClr val="161A33"/>
                </a:solidFill>
                <a:latin typeface="Segoe UI Semibold"/>
                <a:cs typeface="Segoe UI Semibold"/>
              </a:rPr>
              <a:t>A real alert, a real approval, and an answer with its source</a:t>
            </a:r>
          </a:p>
        </p:txBody>
      </p:sp>
      <p:sp>
        <p:nvSpPr>
          <p:cNvPr id="4" name="Demo card"/>
          <p:cNvSpPr/>
          <p:nvPr/>
        </p:nvSpPr>
        <p:spPr>
          <a:xfrm>
            <a:off x="548640" y="1783080"/>
            <a:ext cx="3456432" cy="3840480"/>
          </a:xfrm>
          <a:prstGeom prst="roundRect">
            <a:avLst>
              <a:gd name="adj" fmla="val 4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telegram.png"/>
          <p:cNvPicPr>
            <a:picLocks noChangeAspect="1"/>
          </p:cNvPicPr>
          <p:nvPr/>
        </p:nvPicPr>
        <p:blipFill>
          <a:blip r:embed="rId2"/>
          <a:stretch>
            <a:fillRect/>
          </a:stretch>
        </p:blipFill>
        <p:spPr>
          <a:xfrm>
            <a:off x="822959" y="1984248"/>
            <a:ext cx="384048" cy="384048"/>
          </a:xfrm>
          <a:prstGeom prst="rect">
            <a:avLst/>
          </a:prstGeom>
        </p:spPr>
      </p:pic>
      <p:sp>
        <p:nvSpPr>
          <p:cNvPr id="6" name="TextBox 5"/>
          <p:cNvSpPr txBox="1"/>
          <p:nvPr/>
        </p:nvSpPr>
        <p:spPr>
          <a:xfrm>
            <a:off x="1325880" y="1965960"/>
            <a:ext cx="2560320" cy="320040"/>
          </a:xfrm>
          <a:prstGeom prst="rect">
            <a:avLst/>
          </a:prstGeom>
          <a:noFill/>
        </p:spPr>
        <p:txBody>
          <a:bodyPr wrap="square" lIns="0" rIns="0" tIns="0" bIns="0" anchor="t">
            <a:spAutoFit/>
          </a:bodyPr>
          <a:lstStyle/>
          <a:p>
            <a:pPr algn="l">
              <a:lnSpc>
                <a:spcPct val="110000"/>
              </a:lnSpc>
              <a:spcAft>
                <a:spcPts val="600"/>
              </a:spcAft>
            </a:pPr>
            <a:r>
              <a:rPr sz="1400" b="0">
                <a:solidFill>
                  <a:srgbClr val="26337A"/>
                </a:solidFill>
                <a:latin typeface="Segoe UI Semibold"/>
                <a:cs typeface="Segoe UI Semibold"/>
              </a:rPr>
              <a:t>Discount guardrail · Telegram</a:t>
            </a:r>
          </a:p>
        </p:txBody>
      </p:sp>
      <p:sp>
        <p:nvSpPr>
          <p:cNvPr id="7" name="TextBox 6"/>
          <p:cNvSpPr txBox="1"/>
          <p:nvPr/>
        </p:nvSpPr>
        <p:spPr>
          <a:xfrm>
            <a:off x="1325880" y="2286000"/>
            <a:ext cx="256032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a:cs typeface="Segoe UI"/>
              </a:rPr>
              <a:t>Replay of 12 Aug 2026 · status ALERT</a:t>
            </a:r>
          </a:p>
        </p:txBody>
      </p:sp>
      <p:sp>
        <p:nvSpPr>
          <p:cNvPr id="8" name="Message"/>
          <p:cNvSpPr/>
          <p:nvPr/>
        </p:nvSpPr>
        <p:spPr>
          <a:xfrm>
            <a:off x="822959" y="2724912"/>
            <a:ext cx="2907792" cy="2697480"/>
          </a:xfrm>
          <a:prstGeom prst="roundRect">
            <a:avLst>
              <a:gd name="adj" fmla="val 5000"/>
            </a:avLst>
          </a:prstGeom>
          <a:solidFill>
            <a:srgbClr val="FFFFFF"/>
          </a:solidFill>
          <a:ln w="12700">
            <a:solidFill>
              <a:srgbClr val="E1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880360"/>
            <a:ext cx="2542032" cy="2468880"/>
          </a:xfrm>
          <a:prstGeom prst="rect">
            <a:avLst/>
          </a:prstGeom>
          <a:noFill/>
        </p:spPr>
        <p:txBody>
          <a:bodyPr wrap="square" lIns="0" rIns="0" tIns="0" bIns="0" anchor="t">
            <a:spAutoFit/>
          </a:bodyPr>
          <a:lstStyle/>
          <a:p>
            <a:pPr algn="r" rtl="1">
              <a:lnSpc>
                <a:spcPct val="112000"/>
              </a:lnSpc>
              <a:spcAft>
                <a:spcPts val="400"/>
              </a:spcAft>
            </a:pPr>
            <a:r>
              <a:rPr sz="1300" b="0" lang="ar-EG">
                <a:solidFill>
                  <a:srgbClr val="161A33"/>
                </a:solidFill>
                <a:latin typeface="Segoe UI"/>
                <a:cs typeface="Segoe UI"/>
              </a:rPr>
              <a:t>⚠️ تنبيه خصومات — 2026-08-12</a:t>
            </a:r>
          </a:p>
          <a:p>
            <a:pPr algn="r" rtl="1">
              <a:lnSpc>
                <a:spcPct val="112000"/>
              </a:lnSpc>
              <a:spcAft>
                <a:spcPts val="400"/>
              </a:spcAft>
            </a:pPr>
            <a:r>
              <a:rPr sz="1300" b="0" lang="ar-EG">
                <a:solidFill>
                  <a:srgbClr val="161A33"/>
                </a:solidFill>
                <a:latin typeface="Segoe UI"/>
                <a:cs typeface="Segoe UI"/>
              </a:rPr>
              <a:t>30 سطر فاتورة بخصم أكتر من 15%.</a:t>
            </a:r>
          </a:p>
          <a:p>
            <a:pPr algn="r" rtl="1">
              <a:lnSpc>
                <a:spcPct val="112000"/>
              </a:lnSpc>
              <a:spcAft>
                <a:spcPts val="400"/>
              </a:spcAft>
            </a:pPr>
            <a:r>
              <a:rPr sz="1300" b="0" lang="ar-EG">
                <a:solidFill>
                  <a:srgbClr val="161A33"/>
                </a:solidFill>
                <a:latin typeface="Segoe UI"/>
                <a:cs typeface="Segoe UI"/>
              </a:rPr>
              <a:t>الخصم اللي اتدى فوق سقف 10%: 9,489 جنيه (4.12× متوسط آخر 28 يوم).</a:t>
            </a:r>
          </a:p>
          <a:p>
            <a:pPr algn="r" rtl="1">
              <a:lnSpc>
                <a:spcPct val="112000"/>
              </a:lnSpc>
              <a:spcAft>
                <a:spcPts val="400"/>
              </a:spcAft>
            </a:pPr>
            <a:r>
              <a:rPr sz="1300" b="0" lang="ar-EG">
                <a:solidFill>
                  <a:srgbClr val="161A33"/>
                </a:solidFill>
                <a:latin typeface="Segoe UI"/>
                <a:cs typeface="Segoe UI"/>
              </a:rPr>
              <a:t>أكتر قناة: Wholesale / reseller (7,290 جنيه)</a:t>
            </a:r>
          </a:p>
          <a:p>
            <a:pPr algn="r" rtl="1">
              <a:lnSpc>
                <a:spcPct val="112000"/>
              </a:lnSpc>
              <a:spcAft>
                <a:spcPts val="400"/>
              </a:spcAft>
            </a:pPr>
            <a:r>
              <a:rPr sz="1300" b="0" lang="ar-EG">
                <a:solidFill>
                  <a:srgbClr val="161A33"/>
                </a:solidFill>
                <a:latin typeface="Segoe UI"/>
                <a:cs typeface="Segoe UI"/>
              </a:rPr>
              <a:t>المطلوب: راجع موافقات خصم الجملة النهارده.</a:t>
            </a:r>
          </a:p>
        </p:txBody>
      </p:sp>
      <p:sp>
        <p:nvSpPr>
          <p:cNvPr id="10" name="Demo card"/>
          <p:cNvSpPr/>
          <p:nvPr/>
        </p:nvSpPr>
        <p:spPr>
          <a:xfrm>
            <a:off x="4366259" y="1783080"/>
            <a:ext cx="3456432" cy="3840480"/>
          </a:xfrm>
          <a:prstGeom prst="roundRect">
            <a:avLst>
              <a:gd name="adj" fmla="val 4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ogo_telegram.png"/>
          <p:cNvPicPr>
            <a:picLocks noChangeAspect="1"/>
          </p:cNvPicPr>
          <p:nvPr/>
        </p:nvPicPr>
        <p:blipFill>
          <a:blip r:embed="rId2"/>
          <a:stretch>
            <a:fillRect/>
          </a:stretch>
        </p:blipFill>
        <p:spPr>
          <a:xfrm>
            <a:off x="4640579" y="1984248"/>
            <a:ext cx="384048" cy="384048"/>
          </a:xfrm>
          <a:prstGeom prst="rect">
            <a:avLst/>
          </a:prstGeom>
        </p:spPr>
      </p:pic>
      <p:sp>
        <p:nvSpPr>
          <p:cNvPr id="12" name="TextBox 11"/>
          <p:cNvSpPr txBox="1"/>
          <p:nvPr/>
        </p:nvSpPr>
        <p:spPr>
          <a:xfrm>
            <a:off x="5143499" y="1965960"/>
            <a:ext cx="2560320" cy="320040"/>
          </a:xfrm>
          <a:prstGeom prst="rect">
            <a:avLst/>
          </a:prstGeom>
          <a:noFill/>
        </p:spPr>
        <p:txBody>
          <a:bodyPr wrap="square" lIns="0" rIns="0" tIns="0" bIns="0" anchor="t">
            <a:spAutoFit/>
          </a:bodyPr>
          <a:lstStyle/>
          <a:p>
            <a:pPr algn="l">
              <a:lnSpc>
                <a:spcPct val="110000"/>
              </a:lnSpc>
              <a:spcAft>
                <a:spcPts val="600"/>
              </a:spcAft>
            </a:pPr>
            <a:r>
              <a:rPr sz="1400" b="0">
                <a:solidFill>
                  <a:srgbClr val="26337A"/>
                </a:solidFill>
                <a:latin typeface="Segoe UI Semibold"/>
                <a:cs typeface="Segoe UI Semibold"/>
              </a:rPr>
              <a:t>Reactivation · Telegram</a:t>
            </a:r>
          </a:p>
        </p:txBody>
      </p:sp>
      <p:sp>
        <p:nvSpPr>
          <p:cNvPr id="13" name="TextBox 12"/>
          <p:cNvSpPr txBox="1"/>
          <p:nvPr/>
        </p:nvSpPr>
        <p:spPr>
          <a:xfrm>
            <a:off x="5143499" y="2286000"/>
            <a:ext cx="256032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a:cs typeface="Segoe UI"/>
              </a:rPr>
              <a:t>Run #10 · approved by the CRM manager</a:t>
            </a:r>
          </a:p>
        </p:txBody>
      </p:sp>
      <p:sp>
        <p:nvSpPr>
          <p:cNvPr id="14" name="Message"/>
          <p:cNvSpPr/>
          <p:nvPr/>
        </p:nvSpPr>
        <p:spPr>
          <a:xfrm>
            <a:off x="4640579" y="2724912"/>
            <a:ext cx="2907792" cy="2697480"/>
          </a:xfrm>
          <a:prstGeom prst="roundRect">
            <a:avLst>
              <a:gd name="adj" fmla="val 5000"/>
            </a:avLst>
          </a:prstGeom>
          <a:solidFill>
            <a:srgbClr val="FFFFFF"/>
          </a:solidFill>
          <a:ln w="12700">
            <a:solidFill>
              <a:srgbClr val="E1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23459" y="2880360"/>
            <a:ext cx="2542032" cy="2468880"/>
          </a:xfrm>
          <a:prstGeom prst="rect">
            <a:avLst/>
          </a:prstGeom>
          <a:noFill/>
        </p:spPr>
        <p:txBody>
          <a:bodyPr wrap="square" lIns="0" rIns="0" tIns="0" bIns="0" anchor="t">
            <a:spAutoFit/>
          </a:bodyPr>
          <a:lstStyle/>
          <a:p>
            <a:pPr algn="r" rtl="1">
              <a:lnSpc>
                <a:spcPct val="112000"/>
              </a:lnSpc>
              <a:spcAft>
                <a:spcPts val="400"/>
              </a:spcAft>
            </a:pPr>
            <a:r>
              <a:rPr sz="1300" b="0" lang="ar-EG">
                <a:solidFill>
                  <a:srgbClr val="161A33"/>
                </a:solidFill>
                <a:latin typeface="Segoe UI"/>
                <a:cs typeface="Segoe UI"/>
              </a:rPr>
              <a:t>حملة استرجاع العملاء #10</a:t>
            </a:r>
          </a:p>
          <a:p>
            <a:pPr algn="r" rtl="1">
              <a:lnSpc>
                <a:spcPct val="112000"/>
              </a:lnSpc>
              <a:spcAft>
                <a:spcPts val="400"/>
              </a:spcAft>
            </a:pPr>
            <a:r>
              <a:rPr sz="1300" b="0" lang="ar-EG">
                <a:solidFill>
                  <a:srgbClr val="161A33"/>
                </a:solidFill>
                <a:latin typeface="Segoe UI"/>
                <a:cs typeface="Segoe UI"/>
              </a:rPr>
              <a:t>العملاء: 2,374 هيتبعتلهم، و271 holdout للقياس.</a:t>
            </a:r>
          </a:p>
          <a:p>
            <a:pPr algn="r" rtl="1">
              <a:lnSpc>
                <a:spcPct val="112000"/>
              </a:lnSpc>
              <a:spcAft>
                <a:spcPts val="400"/>
              </a:spcAft>
            </a:pPr>
            <a:r>
              <a:rPr sz="1300" b="0" lang="ar-EG">
                <a:solidFill>
                  <a:srgbClr val="161A33"/>
                </a:solidFill>
                <a:latin typeface="Segoe UI"/>
                <a:cs typeface="Segoe UI"/>
              </a:rPr>
              <a:t>مشترياتهم السابقة: 58,158,124 جنيه.</a:t>
            </a:r>
          </a:p>
          <a:p>
            <a:pPr algn="r" rtl="1">
              <a:lnSpc>
                <a:spcPct val="112000"/>
              </a:lnSpc>
              <a:spcAft>
                <a:spcPts val="400"/>
              </a:spcAft>
            </a:pPr>
            <a:r>
              <a:rPr sz="1300" b="0" lang="ar-EG">
                <a:solidFill>
                  <a:srgbClr val="161A33"/>
                </a:solidFill>
                <a:latin typeface="Segoe UI"/>
                <a:cs typeface="Segoe UI"/>
              </a:rPr>
              <a:t>من غير خصومات. توافق؟</a:t>
            </a:r>
          </a:p>
          <a:p>
            <a:pPr algn="r" rtl="1">
              <a:lnSpc>
                <a:spcPct val="112000"/>
              </a:lnSpc>
              <a:spcAft>
                <a:spcPts val="400"/>
              </a:spcAft>
            </a:pPr>
            <a:r>
              <a:rPr sz="1300" b="0" lang="ar-EG">
                <a:solidFill>
                  <a:srgbClr val="161A33"/>
                </a:solidFill>
                <a:latin typeface="Segoe UI"/>
                <a:cs typeface="Segoe UI"/>
              </a:rPr>
              <a:t>✅ موافق   ❌ رفض</a:t>
            </a:r>
          </a:p>
        </p:txBody>
      </p:sp>
      <p:sp>
        <p:nvSpPr>
          <p:cNvPr id="16" name="Demo card"/>
          <p:cNvSpPr/>
          <p:nvPr/>
        </p:nvSpPr>
        <p:spPr>
          <a:xfrm>
            <a:off x="8183879" y="1783080"/>
            <a:ext cx="3456432" cy="3840480"/>
          </a:xfrm>
          <a:prstGeom prst="roundRect">
            <a:avLst>
              <a:gd name="adj" fmla="val 4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dge"/>
          <p:cNvSpPr/>
          <p:nvPr/>
        </p:nvSpPr>
        <p:spPr>
          <a:xfrm>
            <a:off x="8458200" y="1984248"/>
            <a:ext cx="384048" cy="384048"/>
          </a:xfrm>
          <a:prstGeom prst="ellipse">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egoe UI Semibold"/>
                <a:cs typeface="Segoe UI Semibold"/>
              </a:rPr>
              <a:t>?</a:t>
            </a:r>
          </a:p>
        </p:txBody>
      </p:sp>
      <p:sp>
        <p:nvSpPr>
          <p:cNvPr id="18" name="TextBox 17"/>
          <p:cNvSpPr txBox="1"/>
          <p:nvPr/>
        </p:nvSpPr>
        <p:spPr>
          <a:xfrm>
            <a:off x="8961119" y="1965960"/>
            <a:ext cx="2560320" cy="320040"/>
          </a:xfrm>
          <a:prstGeom prst="rect">
            <a:avLst/>
          </a:prstGeom>
          <a:noFill/>
        </p:spPr>
        <p:txBody>
          <a:bodyPr wrap="square" lIns="0" rIns="0" tIns="0" bIns="0" anchor="t">
            <a:spAutoFit/>
          </a:bodyPr>
          <a:lstStyle/>
          <a:p>
            <a:pPr algn="l">
              <a:lnSpc>
                <a:spcPct val="110000"/>
              </a:lnSpc>
              <a:spcAft>
                <a:spcPts val="600"/>
              </a:spcAft>
            </a:pPr>
            <a:r>
              <a:rPr sz="1400" b="0">
                <a:solidFill>
                  <a:srgbClr val="26337A"/>
                </a:solidFill>
                <a:latin typeface="Segoe UI Semibold"/>
                <a:cs typeface="Segoe UI Semibold"/>
              </a:rPr>
              <a:t>Ask the data · dashboard</a:t>
            </a:r>
          </a:p>
        </p:txBody>
      </p:sp>
      <p:sp>
        <p:nvSpPr>
          <p:cNvPr id="19" name="TextBox 18"/>
          <p:cNvSpPr txBox="1"/>
          <p:nvPr/>
        </p:nvSpPr>
        <p:spPr>
          <a:xfrm>
            <a:off x="8961119" y="2286000"/>
            <a:ext cx="256032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a:cs typeface="Segoe UI"/>
              </a:rPr>
              <a:t>Answer with number, period and source</a:t>
            </a:r>
          </a:p>
        </p:txBody>
      </p:sp>
      <p:sp>
        <p:nvSpPr>
          <p:cNvPr id="20" name="Message"/>
          <p:cNvSpPr/>
          <p:nvPr/>
        </p:nvSpPr>
        <p:spPr>
          <a:xfrm>
            <a:off x="8458200" y="2724912"/>
            <a:ext cx="2907792" cy="2697480"/>
          </a:xfrm>
          <a:prstGeom prst="roundRect">
            <a:avLst>
              <a:gd name="adj" fmla="val 5000"/>
            </a:avLst>
          </a:prstGeom>
          <a:solidFill>
            <a:srgbClr val="FFFFFF"/>
          </a:solidFill>
          <a:ln w="12700">
            <a:solidFill>
              <a:srgbClr val="E1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41080" y="2880360"/>
            <a:ext cx="2542032" cy="2468880"/>
          </a:xfrm>
          <a:prstGeom prst="rect">
            <a:avLst/>
          </a:prstGeom>
          <a:noFill/>
        </p:spPr>
        <p:txBody>
          <a:bodyPr wrap="square" lIns="0" rIns="0" tIns="0" bIns="0" anchor="t">
            <a:spAutoFit/>
          </a:bodyPr>
          <a:lstStyle/>
          <a:p>
            <a:pPr algn="l">
              <a:lnSpc>
                <a:spcPct val="112000"/>
              </a:lnSpc>
              <a:spcAft>
                <a:spcPts val="400"/>
              </a:spcAft>
            </a:pPr>
            <a:r>
              <a:rPr sz="1300" b="0">
                <a:solidFill>
                  <a:srgbClr val="161A33"/>
                </a:solidFill>
                <a:latin typeface="Segoe UI"/>
                <a:cs typeface="Segoe UI"/>
              </a:rPr>
              <a:t>Ask in Arabic or English.</a:t>
            </a:r>
          </a:p>
          <a:p>
            <a:pPr algn="l">
              <a:lnSpc>
                <a:spcPct val="112000"/>
              </a:lnSpc>
              <a:spcAft>
                <a:spcPts val="400"/>
              </a:spcAft>
            </a:pPr>
            <a:r>
              <a:rPr sz="1300" b="0">
                <a:solidFill>
                  <a:srgbClr val="161A33"/>
                </a:solidFill>
                <a:latin typeface="Segoe UI"/>
                <a:cs typeface="Segoe UI"/>
              </a:rPr>
              <a:t>Every answer shows the number, the period, the view it came from and the SQL behind it.</a:t>
            </a:r>
          </a:p>
          <a:p>
            <a:pPr algn="l">
              <a:lnSpc>
                <a:spcPct val="112000"/>
              </a:lnSpc>
              <a:spcAft>
                <a:spcPts val="400"/>
              </a:spcAft>
            </a:pPr>
            <a:r>
              <a:rPr sz="1300" b="0">
                <a:solidFill>
                  <a:srgbClr val="161A33"/>
                </a:solidFill>
                <a:latin typeface="Segoe UI"/>
                <a:cs typeface="Segoe UI"/>
              </a:rPr>
              <a:t>Questions the data cannot answer, or that ask for a customer's personal details, are refused with the reason.</a:t>
            </a:r>
          </a:p>
        </p:txBody>
      </p:sp>
      <p:sp>
        <p:nvSpPr>
          <p:cNvPr id="22" name="TextBox 21"/>
          <p:cNvSpPr txBox="1"/>
          <p:nvPr/>
        </p:nvSpPr>
        <p:spPr>
          <a:xfrm>
            <a:off x="548640" y="5833872"/>
            <a:ext cx="11064240" cy="320040"/>
          </a:xfrm>
          <a:prstGeom prst="rect">
            <a:avLst/>
          </a:prstGeom>
          <a:noFill/>
        </p:spPr>
        <p:txBody>
          <a:bodyPr wrap="square" lIns="0" rIns="0" tIns="0" bIns="0" anchor="t">
            <a:spAutoFit/>
          </a:bodyPr>
          <a:lstStyle/>
          <a:p>
            <a:pPr algn="l">
              <a:lnSpc>
                <a:spcPct val="110000"/>
              </a:lnSpc>
              <a:spcAft>
                <a:spcPts val="600"/>
              </a:spcAft>
            </a:pPr>
            <a:r>
              <a:rPr sz="1300" b="0">
                <a:solidFill>
                  <a:srgbClr val="4A4F66"/>
                </a:solidFill>
                <a:latin typeface="Segoe UI Semibold"/>
                <a:cs typeface="Segoe UI Semibold"/>
              </a:rPr>
              <a:t>Live demo: run the guardrail from the dashboard, then ask the assistant a question.</a:t>
            </a:r>
          </a:p>
        </p:txBody>
      </p:sp>
      <p:sp>
        <p:nvSpPr>
          <p:cNvPr id="23" name="Source"/>
          <p:cNvSpPr txBox="1"/>
          <p:nvPr/>
        </p:nvSpPr>
        <p:spPr>
          <a:xfrm>
            <a:off x="548640" y="6419088"/>
            <a:ext cx="9601200" cy="228600"/>
          </a:xfrm>
          <a:prstGeom prst="rect">
            <a:avLst/>
          </a:prstGeom>
          <a:noFill/>
        </p:spPr>
        <p:txBody>
          <a:bodyPr wrap="square" lIns="0" rIns="0" tIns="0" bIns="0" anchor="t">
            <a:spAutoFit/>
          </a:bodyPr>
          <a:lstStyle/>
          <a:p>
            <a:pPr algn="l">
              <a:lnSpc>
                <a:spcPct val="110000"/>
              </a:lnSpc>
              <a:spcAft>
                <a:spcPts val="600"/>
              </a:spcAft>
            </a:pPr>
            <a:r>
              <a:rPr sz="1000" b="0">
                <a:solidFill>
                  <a:srgbClr val="7D8297"/>
                </a:solidFill>
                <a:latin typeface="Segoe UI"/>
                <a:cs typeface="Segoe UI"/>
              </a:rPr>
              <a:t>Source: messages produced by the live n8n workflows on 25 Oct 2026; the guardrail replays a past day</a:t>
            </a:r>
          </a:p>
        </p:txBody>
      </p:sp>
      <p:sp>
        <p:nvSpPr>
          <p:cNvPr id="24" name="Slide number"/>
          <p:cNvSpPr txBox="1"/>
          <p:nvPr/>
        </p:nvSpPr>
        <p:spPr>
          <a:xfrm>
            <a:off x="10881360" y="6419088"/>
            <a:ext cx="758952" cy="228600"/>
          </a:xfrm>
          <a:prstGeom prst="rect">
            <a:avLst/>
          </a:prstGeom>
          <a:noFill/>
        </p:spPr>
        <p:txBody>
          <a:bodyPr wrap="square" lIns="0" rIns="0" tIns="0" bIns="0" anchor="t">
            <a:spAutoFit/>
          </a:bodyPr>
          <a:lstStyle/>
          <a:p>
            <a:pPr algn="r">
              <a:lnSpc>
                <a:spcPct val="110000"/>
              </a:lnSpc>
              <a:spcAft>
                <a:spcPts val="600"/>
              </a:spcAft>
            </a:pPr>
            <a:r>
              <a:rPr sz="1000" b="0">
                <a:solidFill>
                  <a:srgbClr val="7D8297"/>
                </a:solidFill>
                <a:latin typeface="Segoe UI"/>
                <a:cs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THE NEXT 90 DAYS</a:t>
            </a:r>
          </a:p>
        </p:txBody>
      </p:sp>
      <p:sp>
        <p:nvSpPr>
          <p:cNvPr id="3" name="Title"/>
          <p:cNvSpPr txBox="1"/>
          <p:nvPr/>
        </p:nvSpPr>
        <p:spPr>
          <a:xfrm>
            <a:off x="548640" y="658368"/>
            <a:ext cx="11064240" cy="914400"/>
          </a:xfrm>
          <a:prstGeom prst="rect">
            <a:avLst/>
          </a:prstGeom>
          <a:noFill/>
        </p:spPr>
        <p:txBody>
          <a:bodyPr wrap="square" lIns="0" rIns="0" tIns="0" bIns="0" anchor="t">
            <a:spAutoFit/>
          </a:bodyPr>
          <a:lstStyle/>
          <a:p>
            <a:pPr algn="l">
              <a:lnSpc>
                <a:spcPct val="100000"/>
              </a:lnSpc>
              <a:spcAft>
                <a:spcPts val="600"/>
              </a:spcAft>
            </a:pPr>
            <a:r>
              <a:rPr sz="3000" b="0">
                <a:solidFill>
                  <a:srgbClr val="161A33"/>
                </a:solidFill>
                <a:latin typeface="Segoe UI Semibold"/>
                <a:cs typeface="Segoe UI Semibold"/>
              </a:rPr>
              <a:t>Switch on what is built, measure it, then decide the policy</a:t>
            </a:r>
          </a:p>
        </p:txBody>
      </p:sp>
      <p:sp>
        <p:nvSpPr>
          <p:cNvPr id="4" name="Phase card"/>
          <p:cNvSpPr/>
          <p:nvPr/>
        </p:nvSpPr>
        <p:spPr>
          <a:xfrm>
            <a:off x="548640" y="1783080"/>
            <a:ext cx="3456432" cy="3886200"/>
          </a:xfrm>
          <a:prstGeom prst="roundRect">
            <a:avLst>
              <a:gd name="adj" fmla="val 4000"/>
            </a:avLst>
          </a:prstGeom>
          <a:solidFill>
            <a:srgbClr val="E9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hase number"/>
          <p:cNvSpPr/>
          <p:nvPr/>
        </p:nvSpPr>
        <p:spPr>
          <a:xfrm>
            <a:off x="822959" y="2011680"/>
            <a:ext cx="457200" cy="457200"/>
          </a:xfrm>
          <a:prstGeom prst="ellipse">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Segoe UI Semibold"/>
                <a:cs typeface="Segoe UI Semibold"/>
              </a:rPr>
              <a:t>1</a:t>
            </a:r>
          </a:p>
        </p:txBody>
      </p:sp>
      <p:sp>
        <p:nvSpPr>
          <p:cNvPr id="6" name="TextBox 5"/>
          <p:cNvSpPr txBox="1"/>
          <p:nvPr/>
        </p:nvSpPr>
        <p:spPr>
          <a:xfrm>
            <a:off x="1417319" y="1993392"/>
            <a:ext cx="246888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DAYS 1–30</a:t>
            </a:r>
          </a:p>
        </p:txBody>
      </p:sp>
      <p:sp>
        <p:nvSpPr>
          <p:cNvPr id="7" name="TextBox 6"/>
          <p:cNvSpPr txBox="1"/>
          <p:nvPr/>
        </p:nvSpPr>
        <p:spPr>
          <a:xfrm>
            <a:off x="1417319" y="2221992"/>
            <a:ext cx="2468880" cy="411480"/>
          </a:xfrm>
          <a:prstGeom prst="rect">
            <a:avLst/>
          </a:prstGeom>
          <a:noFill/>
        </p:spPr>
        <p:txBody>
          <a:bodyPr wrap="square" lIns="0" rIns="0" tIns="0" bIns="0" anchor="t">
            <a:spAutoFit/>
          </a:bodyPr>
          <a:lstStyle/>
          <a:p>
            <a:pPr algn="l">
              <a:lnSpc>
                <a:spcPct val="110000"/>
              </a:lnSpc>
              <a:spcAft>
                <a:spcPts val="600"/>
              </a:spcAft>
            </a:pPr>
            <a:r>
              <a:rPr sz="2000" b="0">
                <a:solidFill>
                  <a:srgbClr val="26337A"/>
                </a:solidFill>
                <a:latin typeface="Segoe UI Semibold"/>
                <a:cs typeface="Segoe UI Semibold"/>
              </a:rPr>
              <a:t>Switch on</a:t>
            </a:r>
          </a:p>
        </p:txBody>
      </p:sp>
      <p:sp>
        <p:nvSpPr>
          <p:cNvPr id="8" name="TextBox 7"/>
          <p:cNvSpPr txBox="1"/>
          <p:nvPr/>
        </p:nvSpPr>
        <p:spPr>
          <a:xfrm>
            <a:off x="822959" y="2880360"/>
            <a:ext cx="3063240" cy="2926080"/>
          </a:xfrm>
          <a:prstGeom prst="rect">
            <a:avLst/>
          </a:prstGeom>
          <a:noFill/>
        </p:spPr>
        <p:txBody>
          <a:bodyPr wrap="square" lIns="0" rIns="0" tIns="0" bIns="0" anchor="t">
            <a:spAutoFit/>
          </a:bodyPr>
          <a:lstStyle/>
          <a:p>
            <a:pPr algn="l">
              <a:lnSpc>
                <a:spcPct val="108000"/>
              </a:lnSpc>
              <a:spcAft>
                <a:spcPts val="1200"/>
              </a:spcAft>
            </a:pPr>
            <a:r>
              <a:rPr sz="1400" b="0">
                <a:solidFill>
                  <a:srgbClr val="161A33"/>
                </a:solidFill>
                <a:latin typeface="Segoe UI"/>
                <a:cs typeface="Segoe UI"/>
              </a:rPr>
              <a:t>Guardrail alerts go to the commercial director</a:t>
            </a:r>
          </a:p>
          <a:p>
            <a:pPr algn="l">
              <a:lnSpc>
                <a:spcPct val="108000"/>
              </a:lnSpc>
              <a:spcAft>
                <a:spcPts val="1200"/>
              </a:spcAft>
            </a:pPr>
            <a:r>
              <a:rPr sz="1400" b="0">
                <a:solidFill>
                  <a:srgbClr val="161A33"/>
                </a:solidFill>
                <a:latin typeface="Segoe UI"/>
                <a:cs typeface="Segoe UI"/>
              </a:rPr>
              <a:t>Rule: discounts above 15% need approval</a:t>
            </a:r>
          </a:p>
          <a:p>
            <a:pPr algn="l">
              <a:lnSpc>
                <a:spcPct val="108000"/>
              </a:lnSpc>
              <a:spcAft>
                <a:spcPts val="1200"/>
              </a:spcAft>
            </a:pPr>
            <a:r>
              <a:rPr sz="1400" b="0">
                <a:solidFill>
                  <a:srgbClr val="161A33"/>
                </a:solidFill>
                <a:latin typeface="Segoe UI"/>
                <a:cs typeface="Segoe UI"/>
              </a:rPr>
              <a:t>Hand reactivation run #10 to CRM</a:t>
            </a:r>
          </a:p>
          <a:p>
            <a:pPr algn="l">
              <a:lnSpc>
                <a:spcPct val="108000"/>
              </a:lnSpc>
              <a:spcAft>
                <a:spcPts val="1200"/>
              </a:spcAft>
            </a:pPr>
            <a:r>
              <a:rPr sz="1400" b="0">
                <a:solidFill>
                  <a:srgbClr val="161A33"/>
                </a:solidFill>
                <a:latin typeface="Segoe UI"/>
                <a:cs typeface="Segoe UI"/>
              </a:rPr>
              <a:t>Start phone capture at the till</a:t>
            </a:r>
          </a:p>
        </p:txBody>
      </p:sp>
      <p:sp>
        <p:nvSpPr>
          <p:cNvPr id="9" name="Phase card"/>
          <p:cNvSpPr/>
          <p:nvPr/>
        </p:nvSpPr>
        <p:spPr>
          <a:xfrm>
            <a:off x="4366259" y="1783080"/>
            <a:ext cx="3456432" cy="3886200"/>
          </a:xfrm>
          <a:prstGeom prst="roundRect">
            <a:avLst>
              <a:gd name="adj" fmla="val 4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hase number"/>
          <p:cNvSpPr/>
          <p:nvPr/>
        </p:nvSpPr>
        <p:spPr>
          <a:xfrm>
            <a:off x="4640579" y="2011680"/>
            <a:ext cx="457200" cy="457200"/>
          </a:xfrm>
          <a:prstGeom prst="ellipse">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Segoe UI Semibold"/>
                <a:cs typeface="Segoe UI Semibold"/>
              </a:rPr>
              <a:t>2</a:t>
            </a:r>
          </a:p>
        </p:txBody>
      </p:sp>
      <p:sp>
        <p:nvSpPr>
          <p:cNvPr id="11" name="TextBox 10"/>
          <p:cNvSpPr txBox="1"/>
          <p:nvPr/>
        </p:nvSpPr>
        <p:spPr>
          <a:xfrm>
            <a:off x="5234940" y="1993392"/>
            <a:ext cx="246888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DAYS 31–60</a:t>
            </a:r>
          </a:p>
        </p:txBody>
      </p:sp>
      <p:sp>
        <p:nvSpPr>
          <p:cNvPr id="12" name="TextBox 11"/>
          <p:cNvSpPr txBox="1"/>
          <p:nvPr/>
        </p:nvSpPr>
        <p:spPr>
          <a:xfrm>
            <a:off x="5234940" y="2221992"/>
            <a:ext cx="2468880" cy="411480"/>
          </a:xfrm>
          <a:prstGeom prst="rect">
            <a:avLst/>
          </a:prstGeom>
          <a:noFill/>
        </p:spPr>
        <p:txBody>
          <a:bodyPr wrap="square" lIns="0" rIns="0" tIns="0" bIns="0" anchor="t">
            <a:spAutoFit/>
          </a:bodyPr>
          <a:lstStyle/>
          <a:p>
            <a:pPr algn="l">
              <a:lnSpc>
                <a:spcPct val="110000"/>
              </a:lnSpc>
              <a:spcAft>
                <a:spcPts val="600"/>
              </a:spcAft>
            </a:pPr>
            <a:r>
              <a:rPr sz="2000" b="0">
                <a:solidFill>
                  <a:srgbClr val="26337A"/>
                </a:solidFill>
                <a:latin typeface="Segoe UI Semibold"/>
                <a:cs typeface="Segoe UI Semibold"/>
              </a:rPr>
              <a:t>Measure</a:t>
            </a:r>
          </a:p>
        </p:txBody>
      </p:sp>
      <p:sp>
        <p:nvSpPr>
          <p:cNvPr id="13" name="TextBox 12"/>
          <p:cNvSpPr txBox="1"/>
          <p:nvPr/>
        </p:nvSpPr>
        <p:spPr>
          <a:xfrm>
            <a:off x="4640579" y="2880360"/>
            <a:ext cx="3063240" cy="2926080"/>
          </a:xfrm>
          <a:prstGeom prst="rect">
            <a:avLst/>
          </a:prstGeom>
          <a:noFill/>
        </p:spPr>
        <p:txBody>
          <a:bodyPr wrap="square" lIns="0" rIns="0" tIns="0" bIns="0" anchor="t">
            <a:spAutoFit/>
          </a:bodyPr>
          <a:lstStyle/>
          <a:p>
            <a:pPr algn="l">
              <a:lnSpc>
                <a:spcPct val="108000"/>
              </a:lnSpc>
              <a:spcAft>
                <a:spcPts val="1200"/>
              </a:spcAft>
            </a:pPr>
            <a:r>
              <a:rPr sz="1400" b="0">
                <a:solidFill>
                  <a:srgbClr val="161A33"/>
                </a:solidFill>
                <a:latin typeface="Segoe UI"/>
                <a:cs typeface="Segoe UI"/>
              </a:rPr>
              <a:t>Compare buying in contacted vs holdout customers</a:t>
            </a:r>
          </a:p>
          <a:p>
            <a:pPr algn="l">
              <a:lnSpc>
                <a:spcPct val="108000"/>
              </a:lnSpc>
              <a:spcAft>
                <a:spcPts val="1200"/>
              </a:spcAft>
            </a:pPr>
            <a:r>
              <a:rPr sz="1400" b="0">
                <a:solidFill>
                  <a:srgbClr val="161A33"/>
                </a:solidFill>
                <a:latin typeface="Segoe UI"/>
                <a:cs typeface="Segoe UI"/>
              </a:rPr>
              <a:t>Review guardrail alerts weekly with Finance</a:t>
            </a:r>
          </a:p>
          <a:p>
            <a:pPr algn="l">
              <a:lnSpc>
                <a:spcPct val="108000"/>
              </a:lnSpc>
              <a:spcAft>
                <a:spcPts val="1200"/>
              </a:spcAft>
            </a:pPr>
            <a:r>
              <a:rPr sz="1400" b="0">
                <a:solidFill>
                  <a:srgbClr val="161A33"/>
                </a:solidFill>
                <a:latin typeface="Segoe UI"/>
                <a:cs typeface="Segoe UI"/>
              </a:rPr>
              <a:t>Add price vs volume to the weekly digest</a:t>
            </a:r>
          </a:p>
        </p:txBody>
      </p:sp>
      <p:sp>
        <p:nvSpPr>
          <p:cNvPr id="14" name="Phase card"/>
          <p:cNvSpPr/>
          <p:nvPr/>
        </p:nvSpPr>
        <p:spPr>
          <a:xfrm>
            <a:off x="8183879" y="1783080"/>
            <a:ext cx="3456432" cy="3886200"/>
          </a:xfrm>
          <a:prstGeom prst="roundRect">
            <a:avLst>
              <a:gd name="adj" fmla="val 4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hase number"/>
          <p:cNvSpPr/>
          <p:nvPr/>
        </p:nvSpPr>
        <p:spPr>
          <a:xfrm>
            <a:off x="8458200" y="2011680"/>
            <a:ext cx="457200" cy="457200"/>
          </a:xfrm>
          <a:prstGeom prst="ellipse">
            <a:avLst/>
          </a:prstGeom>
          <a:solidFill>
            <a:srgbClr val="2633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Segoe UI Semibold"/>
                <a:cs typeface="Segoe UI Semibold"/>
              </a:rPr>
              <a:t>3</a:t>
            </a:r>
          </a:p>
        </p:txBody>
      </p:sp>
      <p:sp>
        <p:nvSpPr>
          <p:cNvPr id="16" name="TextBox 15"/>
          <p:cNvSpPr txBox="1"/>
          <p:nvPr/>
        </p:nvSpPr>
        <p:spPr>
          <a:xfrm>
            <a:off x="9052559" y="1993392"/>
            <a:ext cx="2468880" cy="274320"/>
          </a:xfrm>
          <a:prstGeom prst="rect">
            <a:avLst/>
          </a:prstGeom>
          <a:noFill/>
        </p:spPr>
        <p:txBody>
          <a:bodyPr wrap="square" lIns="0" rIns="0" tIns="0" bIns="0" anchor="t">
            <a:spAutoFit/>
          </a:bodyPr>
          <a:lstStyle/>
          <a:p>
            <a:pPr algn="l">
              <a:lnSpc>
                <a:spcPct val="110000"/>
              </a:lnSpc>
              <a:spcAft>
                <a:spcPts val="600"/>
              </a:spcAft>
            </a:pPr>
            <a:r>
              <a:rPr sz="1100" b="0">
                <a:solidFill>
                  <a:srgbClr val="7D8297"/>
                </a:solidFill>
                <a:latin typeface="Segoe UI Semibold"/>
                <a:cs typeface="Segoe UI Semibold"/>
              </a:rPr>
              <a:t>DAYS 61–90</a:t>
            </a:r>
          </a:p>
        </p:txBody>
      </p:sp>
      <p:sp>
        <p:nvSpPr>
          <p:cNvPr id="17" name="TextBox 16"/>
          <p:cNvSpPr txBox="1"/>
          <p:nvPr/>
        </p:nvSpPr>
        <p:spPr>
          <a:xfrm>
            <a:off x="9052559" y="2221992"/>
            <a:ext cx="2468880" cy="411480"/>
          </a:xfrm>
          <a:prstGeom prst="rect">
            <a:avLst/>
          </a:prstGeom>
          <a:noFill/>
        </p:spPr>
        <p:txBody>
          <a:bodyPr wrap="square" lIns="0" rIns="0" tIns="0" bIns="0" anchor="t">
            <a:spAutoFit/>
          </a:bodyPr>
          <a:lstStyle/>
          <a:p>
            <a:pPr algn="l">
              <a:lnSpc>
                <a:spcPct val="110000"/>
              </a:lnSpc>
              <a:spcAft>
                <a:spcPts val="600"/>
              </a:spcAft>
            </a:pPr>
            <a:r>
              <a:rPr sz="2000" b="0">
                <a:solidFill>
                  <a:srgbClr val="26337A"/>
                </a:solidFill>
                <a:latin typeface="Segoe UI Semibold"/>
                <a:cs typeface="Segoe UI Semibold"/>
              </a:rPr>
              <a:t>Decide</a:t>
            </a:r>
          </a:p>
        </p:txBody>
      </p:sp>
      <p:sp>
        <p:nvSpPr>
          <p:cNvPr id="18" name="TextBox 17"/>
          <p:cNvSpPr txBox="1"/>
          <p:nvPr/>
        </p:nvSpPr>
        <p:spPr>
          <a:xfrm>
            <a:off x="8458200" y="2880360"/>
            <a:ext cx="3063240" cy="2926080"/>
          </a:xfrm>
          <a:prstGeom prst="rect">
            <a:avLst/>
          </a:prstGeom>
          <a:noFill/>
        </p:spPr>
        <p:txBody>
          <a:bodyPr wrap="square" lIns="0" rIns="0" tIns="0" bIns="0" anchor="t">
            <a:spAutoFit/>
          </a:bodyPr>
          <a:lstStyle/>
          <a:p>
            <a:pPr algn="l">
              <a:lnSpc>
                <a:spcPct val="108000"/>
              </a:lnSpc>
              <a:spcAft>
                <a:spcPts val="1200"/>
              </a:spcAft>
            </a:pPr>
            <a:r>
              <a:rPr sz="1400" b="0">
                <a:solidFill>
                  <a:srgbClr val="161A33"/>
                </a:solidFill>
                <a:latin typeface="Segoe UI"/>
                <a:cs typeface="Segoe UI"/>
              </a:rPr>
              <a:t>Set the discount cap from what the alerts show</a:t>
            </a:r>
          </a:p>
          <a:p>
            <a:pPr algn="l">
              <a:lnSpc>
                <a:spcPct val="108000"/>
              </a:lnSpc>
              <a:spcAft>
                <a:spcPts val="1200"/>
              </a:spcAft>
            </a:pPr>
            <a:r>
              <a:rPr sz="1400" b="0">
                <a:solidFill>
                  <a:srgbClr val="161A33"/>
                </a:solidFill>
                <a:latin typeface="Segoe UI"/>
                <a:cs typeface="Segoe UI"/>
              </a:rPr>
              <a:t>Test the next price rise in a few branches</a:t>
            </a:r>
          </a:p>
          <a:p>
            <a:pPr algn="l">
              <a:lnSpc>
                <a:spcPct val="108000"/>
              </a:lnSpc>
              <a:spcAft>
                <a:spcPts val="1200"/>
              </a:spcAft>
            </a:pPr>
            <a:r>
              <a:rPr sz="1400" b="0">
                <a:solidFill>
                  <a:srgbClr val="161A33"/>
                </a:solidFill>
                <a:latin typeface="Segoe UI"/>
                <a:cs typeface="Segoe UI"/>
              </a:rPr>
              <a:t>Connect the real stock ledger, behind a data check</a:t>
            </a:r>
          </a:p>
        </p:txBody>
      </p:sp>
      <p:sp>
        <p:nvSpPr>
          <p:cNvPr id="19" name="TextBox 18"/>
          <p:cNvSpPr txBox="1"/>
          <p:nvPr/>
        </p:nvSpPr>
        <p:spPr>
          <a:xfrm>
            <a:off x="548640" y="5897880"/>
            <a:ext cx="11064240" cy="274320"/>
          </a:xfrm>
          <a:prstGeom prst="rect">
            <a:avLst/>
          </a:prstGeom>
          <a:noFill/>
        </p:spPr>
        <p:txBody>
          <a:bodyPr wrap="square" lIns="0" rIns="0" tIns="0" bIns="0" anchor="t">
            <a:spAutoFit/>
          </a:bodyPr>
          <a:lstStyle/>
          <a:p>
            <a:pPr algn="l">
              <a:lnSpc>
                <a:spcPct val="110000"/>
              </a:lnSpc>
              <a:spcAft>
                <a:spcPts val="600"/>
              </a:spcAft>
            </a:pPr>
            <a:r>
              <a:rPr sz="1200" b="0">
                <a:solidFill>
                  <a:srgbClr val="4A4F66"/>
                </a:solidFill>
                <a:latin typeface="Segoe UI"/>
                <a:cs typeface="Segoe UI"/>
              </a:rPr>
              <a:t>What is at stake: up to 1.84M EGP a year in discounts above 10%, and 58.2M EGP of past spend from quiet high-value buyers (scenario).</a:t>
            </a:r>
          </a:p>
        </p:txBody>
      </p:sp>
      <p:sp>
        <p:nvSpPr>
          <p:cNvPr id="20" name="Source"/>
          <p:cNvSpPr txBox="1"/>
          <p:nvPr/>
        </p:nvSpPr>
        <p:spPr>
          <a:xfrm>
            <a:off x="548640" y="6419088"/>
            <a:ext cx="9601200" cy="228600"/>
          </a:xfrm>
          <a:prstGeom prst="rect">
            <a:avLst/>
          </a:prstGeom>
          <a:noFill/>
        </p:spPr>
        <p:txBody>
          <a:bodyPr wrap="square" lIns="0" rIns="0" tIns="0" bIns="0" anchor="t">
            <a:spAutoFit/>
          </a:bodyPr>
          <a:lstStyle/>
          <a:p>
            <a:pPr algn="l">
              <a:lnSpc>
                <a:spcPct val="110000"/>
              </a:lnSpc>
              <a:spcAft>
                <a:spcPts val="600"/>
              </a:spcAft>
            </a:pPr>
            <a:r>
              <a:rPr sz="1000" b="0">
                <a:solidFill>
                  <a:srgbClr val="7D8297"/>
                </a:solidFill>
                <a:latin typeface="Segoe UI"/>
                <a:cs typeface="Segoe UI"/>
              </a:rPr>
              <a:t>Source: Cottonil sales extract, 19 Oct 2018 – 18 Oct 2026 · net before tax · EGP</a:t>
            </a:r>
          </a:p>
        </p:txBody>
      </p:sp>
      <p:sp>
        <p:nvSpPr>
          <p:cNvPr id="21" name="Slide number"/>
          <p:cNvSpPr txBox="1"/>
          <p:nvPr/>
        </p:nvSpPr>
        <p:spPr>
          <a:xfrm>
            <a:off x="10881360" y="6419088"/>
            <a:ext cx="758952" cy="228600"/>
          </a:xfrm>
          <a:prstGeom prst="rect">
            <a:avLst/>
          </a:prstGeom>
          <a:noFill/>
        </p:spPr>
        <p:txBody>
          <a:bodyPr wrap="square" lIns="0" rIns="0" tIns="0" bIns="0" anchor="t">
            <a:spAutoFit/>
          </a:bodyPr>
          <a:lstStyle/>
          <a:p>
            <a:pPr algn="r">
              <a:lnSpc>
                <a:spcPct val="110000"/>
              </a:lnSpc>
              <a:spcAft>
                <a:spcPts val="600"/>
              </a:spcAft>
            </a:pPr>
            <a:r>
              <a:rPr sz="1000" b="0">
                <a:solidFill>
                  <a:srgbClr val="7D8297"/>
                </a:solidFill>
                <a:latin typeface="Segoe UI"/>
                <a:cs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6337A"/>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lnSpc>
                <a:spcPct val="110000"/>
              </a:lnSpc>
              <a:spcAft>
                <a:spcPts val="600"/>
              </a:spcAft>
            </a:pPr>
            <a:r>
              <a:rPr sz="1100" b="0">
                <a:solidFill>
                  <a:srgbClr val="C9D0F5"/>
                </a:solidFill>
                <a:latin typeface="Segoe UI Semibold"/>
                <a:cs typeface="Segoe UI Semibold"/>
              </a:rPr>
              <a:t>ONE IDEA YOU DID NOT ASK FOR</a:t>
            </a:r>
          </a:p>
        </p:txBody>
      </p:sp>
      <p:sp>
        <p:nvSpPr>
          <p:cNvPr id="3" name="TextBox 2"/>
          <p:cNvSpPr txBox="1"/>
          <p:nvPr/>
        </p:nvSpPr>
        <p:spPr>
          <a:xfrm>
            <a:off x="548640" y="658368"/>
            <a:ext cx="6400800" cy="914400"/>
          </a:xfrm>
          <a:prstGeom prst="rect">
            <a:avLst/>
          </a:prstGeom>
          <a:noFill/>
        </p:spPr>
        <p:txBody>
          <a:bodyPr wrap="square" lIns="0" rIns="0" tIns="0" bIns="0" anchor="t">
            <a:spAutoFit/>
          </a:bodyPr>
          <a:lstStyle/>
          <a:p>
            <a:pPr algn="l">
              <a:lnSpc>
                <a:spcPct val="100000"/>
              </a:lnSpc>
              <a:spcAft>
                <a:spcPts val="600"/>
              </a:spcAft>
            </a:pPr>
            <a:r>
              <a:rPr sz="3000" b="0">
                <a:solidFill>
                  <a:srgbClr val="FFFFFF"/>
                </a:solidFill>
                <a:latin typeface="Segoe UI Semibold"/>
                <a:cs typeface="Segoe UI Semibold"/>
              </a:rPr>
              <a:t>A data-trust guard before any number goes out</a:t>
            </a:r>
          </a:p>
        </p:txBody>
      </p:sp>
      <p:sp>
        <p:nvSpPr>
          <p:cNvPr id="4" name="TextBox 3"/>
          <p:cNvSpPr txBox="1"/>
          <p:nvPr/>
        </p:nvSpPr>
        <p:spPr>
          <a:xfrm>
            <a:off x="548640" y="1783080"/>
            <a:ext cx="6035040" cy="2194560"/>
          </a:xfrm>
          <a:prstGeom prst="rect">
            <a:avLst/>
          </a:prstGeom>
          <a:noFill/>
        </p:spPr>
        <p:txBody>
          <a:bodyPr wrap="square" lIns="0" rIns="0" tIns="0" bIns="0" anchor="t">
            <a:spAutoFit/>
          </a:bodyPr>
          <a:lstStyle/>
          <a:p>
            <a:pPr algn="l">
              <a:lnSpc>
                <a:spcPct val="115000"/>
              </a:lnSpc>
              <a:spcAft>
                <a:spcPts val="1000"/>
              </a:spcAft>
            </a:pPr>
            <a:r>
              <a:rPr sz="1500" b="0">
                <a:solidFill>
                  <a:srgbClr val="C9D0F5"/>
                </a:solidFill>
                <a:latin typeface="Segoe UI"/>
                <a:cs typeface="Segoe UI"/>
              </a:rPr>
              <a:t>Every morning, before the dashboard, the alerts or the assistant use a number, one check confirms each source still makes sense: totals reconcile, and stock and purchases move with sales.</a:t>
            </a:r>
          </a:p>
          <a:p>
            <a:pPr algn="l">
              <a:lnSpc>
                <a:spcPct val="115000"/>
              </a:lnSpc>
              <a:spcAft>
                <a:spcPts val="1000"/>
              </a:spcAft>
            </a:pPr>
            <a:r>
              <a:rPr sz="1500" b="0">
                <a:solidFill>
                  <a:srgbClr val="C9D0F5"/>
                </a:solidFill>
                <a:latin typeface="Segoe UI"/>
                <a:cs typeface="Segoe UI"/>
              </a:rPr>
              <a:t>If a source breaks, the number is held back and the team is told why. When Cottonil connects its real stock and purchasing data, the guard is what makes those numbers safe to use.</a:t>
            </a:r>
          </a:p>
        </p:txBody>
      </p:sp>
      <p:sp>
        <p:nvSpPr>
          <p:cNvPr id="5" name="Questions card"/>
          <p:cNvSpPr/>
          <p:nvPr/>
        </p:nvSpPr>
        <p:spPr>
          <a:xfrm>
            <a:off x="7086600" y="685800"/>
            <a:ext cx="4553712" cy="5440680"/>
          </a:xfrm>
          <a:prstGeom prst="roundRect">
            <a:avLst>
              <a:gd name="adj" fmla="val 4000"/>
            </a:avLst>
          </a:prstGeom>
          <a:solidFill>
            <a:srgbClr val="303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0920" y="914400"/>
            <a:ext cx="4023360" cy="320040"/>
          </a:xfrm>
          <a:prstGeom prst="rect">
            <a:avLst/>
          </a:prstGeom>
          <a:noFill/>
        </p:spPr>
        <p:txBody>
          <a:bodyPr wrap="square" lIns="0" rIns="0" tIns="0" bIns="0" anchor="t">
            <a:spAutoFit/>
          </a:bodyPr>
          <a:lstStyle/>
          <a:p>
            <a:pPr algn="l">
              <a:lnSpc>
                <a:spcPct val="110000"/>
              </a:lnSpc>
              <a:spcAft>
                <a:spcPts val="600"/>
              </a:spcAft>
            </a:pPr>
            <a:r>
              <a:rPr sz="1800" b="0">
                <a:solidFill>
                  <a:srgbClr val="FFFFFF"/>
                </a:solidFill>
                <a:latin typeface="Segoe UI Semibold"/>
                <a:cs typeface="Segoe UI Semibold"/>
              </a:rPr>
              <a:t>Three questions for Cottonil</a:t>
            </a:r>
          </a:p>
        </p:txBody>
      </p:sp>
      <p:sp>
        <p:nvSpPr>
          <p:cNvPr id="7" name="Question number"/>
          <p:cNvSpPr/>
          <p:nvPr/>
        </p:nvSpPr>
        <p:spPr>
          <a:xfrm>
            <a:off x="7360920" y="1463040"/>
            <a:ext cx="384048" cy="384048"/>
          </a:xfrm>
          <a:prstGeom prst="ellipse">
            <a:avLst/>
          </a:prstGeom>
          <a:solidFill>
            <a:srgbClr val="C9D0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6337A"/>
                </a:solidFill>
                <a:latin typeface="Segoe UI Semibold"/>
                <a:cs typeface="Segoe UI Semibold"/>
              </a:rPr>
              <a:t>1</a:t>
            </a:r>
          </a:p>
        </p:txBody>
      </p:sp>
      <p:sp>
        <p:nvSpPr>
          <p:cNvPr id="8" name="TextBox 7"/>
          <p:cNvSpPr txBox="1"/>
          <p:nvPr/>
        </p:nvSpPr>
        <p:spPr>
          <a:xfrm>
            <a:off x="7909560" y="1444752"/>
            <a:ext cx="3520440" cy="292608"/>
          </a:xfrm>
          <a:prstGeom prst="rect">
            <a:avLst/>
          </a:prstGeom>
          <a:noFill/>
        </p:spPr>
        <p:txBody>
          <a:bodyPr wrap="square" lIns="0" rIns="0" tIns="0" bIns="0" anchor="t">
            <a:spAutoFit/>
          </a:bodyPr>
          <a:lstStyle/>
          <a:p>
            <a:pPr algn="l">
              <a:lnSpc>
                <a:spcPct val="110000"/>
              </a:lnSpc>
              <a:spcAft>
                <a:spcPts val="600"/>
              </a:spcAft>
            </a:pPr>
            <a:r>
              <a:rPr sz="1400" b="0">
                <a:solidFill>
                  <a:srgbClr val="FFFFFF"/>
                </a:solidFill>
                <a:latin typeface="Segoe UI Semibold"/>
                <a:cs typeface="Segoe UI Semibold"/>
              </a:rPr>
              <a:t>Returns</a:t>
            </a:r>
          </a:p>
        </p:txBody>
      </p:sp>
      <p:sp>
        <p:nvSpPr>
          <p:cNvPr id="9" name="TextBox 8"/>
          <p:cNvSpPr txBox="1"/>
          <p:nvPr/>
        </p:nvSpPr>
        <p:spPr>
          <a:xfrm>
            <a:off x="7909560" y="1764792"/>
            <a:ext cx="3520440" cy="1051560"/>
          </a:xfrm>
          <a:prstGeom prst="rect">
            <a:avLst/>
          </a:prstGeom>
          <a:noFill/>
        </p:spPr>
        <p:txBody>
          <a:bodyPr wrap="square" lIns="0" rIns="0" tIns="0" bIns="0" anchor="t">
            <a:spAutoFit/>
          </a:bodyPr>
          <a:lstStyle/>
          <a:p>
            <a:pPr algn="l">
              <a:lnSpc>
                <a:spcPct val="110000"/>
              </a:lnSpc>
              <a:spcAft>
                <a:spcPts val="600"/>
              </a:spcAft>
            </a:pPr>
            <a:r>
              <a:rPr sz="1300" b="0">
                <a:solidFill>
                  <a:srgbClr val="C9D0F5"/>
                </a:solidFill>
                <a:latin typeface="Segoe UI"/>
                <a:cs typeface="Segoe UI"/>
              </a:rPr>
              <a:t>27,940 returned orders are marked Completed or Delivered. Which status is right?</a:t>
            </a:r>
          </a:p>
        </p:txBody>
      </p:sp>
      <p:sp>
        <p:nvSpPr>
          <p:cNvPr id="10" name="Question number"/>
          <p:cNvSpPr/>
          <p:nvPr/>
        </p:nvSpPr>
        <p:spPr>
          <a:xfrm>
            <a:off x="7360920" y="2926080"/>
            <a:ext cx="384048" cy="384048"/>
          </a:xfrm>
          <a:prstGeom prst="ellipse">
            <a:avLst/>
          </a:prstGeom>
          <a:solidFill>
            <a:srgbClr val="C9D0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6337A"/>
                </a:solidFill>
                <a:latin typeface="Segoe UI Semibold"/>
                <a:cs typeface="Segoe UI Semibold"/>
              </a:rPr>
              <a:t>2</a:t>
            </a:r>
          </a:p>
        </p:txBody>
      </p:sp>
      <p:sp>
        <p:nvSpPr>
          <p:cNvPr id="11" name="TextBox 10"/>
          <p:cNvSpPr txBox="1"/>
          <p:nvPr/>
        </p:nvSpPr>
        <p:spPr>
          <a:xfrm>
            <a:off x="7909560" y="2907792"/>
            <a:ext cx="3520440" cy="292608"/>
          </a:xfrm>
          <a:prstGeom prst="rect">
            <a:avLst/>
          </a:prstGeom>
          <a:noFill/>
        </p:spPr>
        <p:txBody>
          <a:bodyPr wrap="square" lIns="0" rIns="0" tIns="0" bIns="0" anchor="t">
            <a:spAutoFit/>
          </a:bodyPr>
          <a:lstStyle/>
          <a:p>
            <a:pPr algn="l">
              <a:lnSpc>
                <a:spcPct val="110000"/>
              </a:lnSpc>
              <a:spcAft>
                <a:spcPts val="600"/>
              </a:spcAft>
            </a:pPr>
            <a:r>
              <a:rPr sz="1400" b="0">
                <a:solidFill>
                  <a:srgbClr val="FFFFFF"/>
                </a:solidFill>
                <a:latin typeface="Segoe UI Semibold"/>
                <a:cs typeface="Segoe UI Semibold"/>
              </a:rPr>
              <a:t>Customer type</a:t>
            </a:r>
          </a:p>
        </p:txBody>
      </p:sp>
      <p:sp>
        <p:nvSpPr>
          <p:cNvPr id="12" name="TextBox 11"/>
          <p:cNvSpPr txBox="1"/>
          <p:nvPr/>
        </p:nvSpPr>
        <p:spPr>
          <a:xfrm>
            <a:off x="7909560" y="3227832"/>
            <a:ext cx="3520440" cy="1051560"/>
          </a:xfrm>
          <a:prstGeom prst="rect">
            <a:avLst/>
          </a:prstGeom>
          <a:noFill/>
        </p:spPr>
        <p:txBody>
          <a:bodyPr wrap="square" lIns="0" rIns="0" tIns="0" bIns="0" anchor="t">
            <a:spAutoFit/>
          </a:bodyPr>
          <a:lstStyle/>
          <a:p>
            <a:pPr algn="l">
              <a:lnSpc>
                <a:spcPct val="110000"/>
              </a:lnSpc>
              <a:spcAft>
                <a:spcPts val="600"/>
              </a:spcAft>
            </a:pPr>
            <a:r>
              <a:rPr sz="1300" b="0">
                <a:solidFill>
                  <a:srgbClr val="C9D0F5"/>
                </a:solidFill>
                <a:latin typeface="Segoe UI"/>
                <a:cs typeface="Segoe UI"/>
              </a:rPr>
              <a:t>98.1% of wholesale orders come from customers tagged Retail. Which tag drives pricing?</a:t>
            </a:r>
          </a:p>
        </p:txBody>
      </p:sp>
      <p:sp>
        <p:nvSpPr>
          <p:cNvPr id="13" name="Question number"/>
          <p:cNvSpPr/>
          <p:nvPr/>
        </p:nvSpPr>
        <p:spPr>
          <a:xfrm>
            <a:off x="7360920" y="4389120"/>
            <a:ext cx="384048" cy="384048"/>
          </a:xfrm>
          <a:prstGeom prst="ellipse">
            <a:avLst/>
          </a:prstGeom>
          <a:solidFill>
            <a:srgbClr val="C9D0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6337A"/>
                </a:solidFill>
                <a:latin typeface="Segoe UI Semibold"/>
                <a:cs typeface="Segoe UI Semibold"/>
              </a:rPr>
              <a:t>3</a:t>
            </a:r>
          </a:p>
        </p:txBody>
      </p:sp>
      <p:sp>
        <p:nvSpPr>
          <p:cNvPr id="14" name="TextBox 13"/>
          <p:cNvSpPr txBox="1"/>
          <p:nvPr/>
        </p:nvSpPr>
        <p:spPr>
          <a:xfrm>
            <a:off x="7909560" y="4370832"/>
            <a:ext cx="3520440" cy="292608"/>
          </a:xfrm>
          <a:prstGeom prst="rect">
            <a:avLst/>
          </a:prstGeom>
          <a:noFill/>
        </p:spPr>
        <p:txBody>
          <a:bodyPr wrap="square" lIns="0" rIns="0" tIns="0" bIns="0" anchor="t">
            <a:spAutoFit/>
          </a:bodyPr>
          <a:lstStyle/>
          <a:p>
            <a:pPr algn="l">
              <a:lnSpc>
                <a:spcPct val="110000"/>
              </a:lnSpc>
              <a:spcAft>
                <a:spcPts val="600"/>
              </a:spcAft>
            </a:pPr>
            <a:r>
              <a:rPr sz="1400" b="0">
                <a:solidFill>
                  <a:srgbClr val="FFFFFF"/>
                </a:solidFill>
                <a:latin typeface="Segoe UI Semibold"/>
                <a:cs typeface="Segoe UI Semibold"/>
              </a:rPr>
              <a:t>Branch dates</a:t>
            </a:r>
          </a:p>
        </p:txBody>
      </p:sp>
      <p:sp>
        <p:nvSpPr>
          <p:cNvPr id="15" name="TextBox 14"/>
          <p:cNvSpPr txBox="1"/>
          <p:nvPr/>
        </p:nvSpPr>
        <p:spPr>
          <a:xfrm>
            <a:off x="7909560" y="4690872"/>
            <a:ext cx="3520440" cy="1051560"/>
          </a:xfrm>
          <a:prstGeom prst="rect">
            <a:avLst/>
          </a:prstGeom>
          <a:noFill/>
        </p:spPr>
        <p:txBody>
          <a:bodyPr wrap="square" lIns="0" rIns="0" tIns="0" bIns="0" anchor="t">
            <a:spAutoFit/>
          </a:bodyPr>
          <a:lstStyle/>
          <a:p>
            <a:pPr algn="l">
              <a:lnSpc>
                <a:spcPct val="110000"/>
              </a:lnSpc>
              <a:spcAft>
                <a:spcPts val="600"/>
              </a:spcAft>
            </a:pPr>
            <a:r>
              <a:rPr sz="1300" b="0">
                <a:solidFill>
                  <a:srgbClr val="C9D0F5"/>
                </a:solidFill>
                <a:latin typeface="Segoe UI"/>
                <a:cs typeface="Segoe UI"/>
              </a:rPr>
              <a:t>38,040 orders are dated before their branch opened. Is opening_date a re-opening?</a:t>
            </a:r>
          </a:p>
        </p:txBody>
      </p:sp>
      <p:sp>
        <p:nvSpPr>
          <p:cNvPr id="16" name="TextBox 15"/>
          <p:cNvSpPr txBox="1"/>
          <p:nvPr/>
        </p:nvSpPr>
        <p:spPr>
          <a:xfrm>
            <a:off x="548640" y="4572000"/>
            <a:ext cx="6035040" cy="457200"/>
          </a:xfrm>
          <a:prstGeom prst="rect">
            <a:avLst/>
          </a:prstGeom>
          <a:noFill/>
        </p:spPr>
        <p:txBody>
          <a:bodyPr wrap="square" lIns="0" rIns="0" tIns="0" bIns="0" anchor="t">
            <a:spAutoFit/>
          </a:bodyPr>
          <a:lstStyle/>
          <a:p>
            <a:pPr algn="l">
              <a:lnSpc>
                <a:spcPct val="110000"/>
              </a:lnSpc>
              <a:spcAft>
                <a:spcPts val="600"/>
              </a:spcAft>
            </a:pPr>
            <a:r>
              <a:rPr sz="2600" b="0">
                <a:solidFill>
                  <a:srgbClr val="FFFFFF"/>
                </a:solidFill>
                <a:latin typeface="Segoe UI Semibold"/>
                <a:cs typeface="Segoe UI Semibold"/>
              </a:rPr>
              <a:t>Thank you</a:t>
            </a:r>
          </a:p>
        </p:txBody>
      </p:sp>
      <p:sp>
        <p:nvSpPr>
          <p:cNvPr id="17" name="TextBox 16"/>
          <p:cNvSpPr txBox="1"/>
          <p:nvPr/>
        </p:nvSpPr>
        <p:spPr>
          <a:xfrm>
            <a:off x="548640" y="5074920"/>
            <a:ext cx="6035040" cy="548640"/>
          </a:xfrm>
          <a:prstGeom prst="rect">
            <a:avLst/>
          </a:prstGeom>
          <a:noFill/>
        </p:spPr>
        <p:txBody>
          <a:bodyPr wrap="square" lIns="0" rIns="0" tIns="0" bIns="0" anchor="t">
            <a:spAutoFit/>
          </a:bodyPr>
          <a:lstStyle/>
          <a:p>
            <a:pPr algn="l">
              <a:lnSpc>
                <a:spcPct val="110000"/>
              </a:lnSpc>
              <a:spcAft>
                <a:spcPts val="600"/>
              </a:spcAft>
            </a:pPr>
            <a:r>
              <a:rPr sz="1300" b="0">
                <a:solidFill>
                  <a:srgbClr val="C9D0F5"/>
                </a:solidFill>
                <a:latin typeface="Segoe UI"/>
                <a:cs typeface="Segoe UI"/>
              </a:rPr>
              <a:t>Dashboard, workflows and the full method are available for review.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